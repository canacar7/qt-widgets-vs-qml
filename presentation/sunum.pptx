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media13.mp4" ContentType="video/mp4"/>
  <Override PartName="/ppt/media/image14.jpeg" ContentType="image/jpeg"/>
  <Override PartName="/ppt/media/image3.png" ContentType="image/png"/>
  <Override PartName="/ppt/media/image2.png" ContentType="image/png"/>
  <Override PartName="/ppt/media/image4.png" ContentType="image/png"/>
  <Override PartName="/ppt/media/image5.png" ContentType="image/png"/>
  <Override PartName="/ppt/media/image6.png" ContentType="image/png"/>
  <Override PartName="/ppt/media/image10.png" ContentType="image/png"/>
  <Override PartName="/ppt/media/image1.png" ContentType="image/png"/>
  <Override PartName="/ppt/media/image7.png" ContentType="image/png"/>
  <Override PartName="/ppt/media/image12.jpeg" ContentType="image/jpeg"/>
  <Override PartName="/ppt/media/image8.png" ContentType="image/png"/>
  <Override PartName="/ppt/media/image9.png" ContentType="image/png"/>
  <Override PartName="/ppt/media/media11.mp4" ContentType="video/mp4"/>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B22B4A7-E309-46D3-A9A2-1ACC760B03B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1143000" y="685800"/>
            <a:ext cx="4571280" cy="3428280"/>
          </a:xfrm>
          <a:prstGeom prst="rect">
            <a:avLst/>
          </a:prstGeom>
          <a:ln w="0">
            <a:noFill/>
          </a:ln>
        </p:spPr>
      </p:sp>
      <p:sp>
        <p:nvSpPr>
          <p:cNvPr id="14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 will compare QtWidgets and Qtquick in other words qml using different cases. </a:t>
            </a:r>
            <a:endParaRPr b="0" lang="en-US" sz="2000" spc="-1" strike="noStrike">
              <a:solidFill>
                <a:srgbClr val="000000"/>
              </a:solidFill>
              <a:latin typeface="Arial"/>
            </a:endParaRPr>
          </a:p>
        </p:txBody>
      </p:sp>
      <p:sp>
        <p:nvSpPr>
          <p:cNvPr id="150" name="PlaceHolder 3"/>
          <p:cNvSpPr>
            <a:spLocks noGrp="1"/>
          </p:cNvSpPr>
          <p:nvPr>
            <p:ph type="sldNum" idx="37"/>
          </p:nvPr>
        </p:nvSpPr>
        <p:spPr>
          <a:xfrm>
            <a:off x="3884760" y="8685360"/>
            <a:ext cx="297108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51E18B3E-52A2-41EF-9679-2171D45C254A}"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360" y="812160"/>
            <a:ext cx="720" cy="720"/>
          </a:xfrm>
          <a:prstGeom prst="rect">
            <a:avLst/>
          </a:prstGeom>
          <a:ln w="0">
            <a:noFill/>
          </a:ln>
        </p:spPr>
      </p:sp>
      <p:sp>
        <p:nvSpPr>
          <p:cNvPr id="15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I will make this comparison under three topics.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First, we will look at custom-shaped components.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Then, we will compare the rendering performance of Widgets and QML.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Finally, we will look at the learning curve and development speed.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At the end, I will sum up which one to choose, and when.</a:t>
            </a:r>
            <a:endParaRPr b="0" lang="en-US" sz="2000" spc="-1" strike="noStrike">
              <a:solidFill>
                <a:srgbClr val="000000"/>
              </a:solidFill>
              <a:latin typeface="Arial"/>
            </a:endParaRPr>
          </a:p>
        </p:txBody>
      </p:sp>
      <p:sp>
        <p:nvSpPr>
          <p:cNvPr id="153" name="PlaceHolder 3"/>
          <p:cNvSpPr>
            <a:spLocks noGrp="1"/>
          </p:cNvSpPr>
          <p:nvPr>
            <p:ph type="sldNum" idx="3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1A5E7E1C-F9A5-4DC0-89F9-E8C53141195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360" y="812160"/>
            <a:ext cx="720" cy="720"/>
          </a:xfrm>
          <a:prstGeom prst="rect">
            <a:avLst/>
          </a:prstGeom>
          <a:ln w="0">
            <a:noFill/>
          </a:ln>
        </p:spPr>
      </p:sp>
      <p:sp>
        <p:nvSpPr>
          <p:cNvPr id="15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Let us start with custom shape.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button is most used component in widget and qml. It is very easy to use both side.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But if the changed, what happened ?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As you can see clearly on the screen one side is curved.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widget and qml side let us drawing this shape. Lets compare how the draw the shape on each side. </a:t>
            </a:r>
            <a:endParaRPr b="0" lang="en-US" sz="2000" spc="-1" strike="noStrike">
              <a:solidFill>
                <a:srgbClr val="000000"/>
              </a:solidFill>
              <a:latin typeface="Arial"/>
            </a:endParaRPr>
          </a:p>
        </p:txBody>
      </p:sp>
      <p:sp>
        <p:nvSpPr>
          <p:cNvPr id="156" name="PlaceHolder 3"/>
          <p:cNvSpPr>
            <a:spLocks noGrp="1"/>
          </p:cNvSpPr>
          <p:nvPr>
            <p:ph type="sldNum" idx="3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FEDFB499-4FD4-41FD-98C0-D1870CA3F7D4}"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360" y="812160"/>
            <a:ext cx="720" cy="720"/>
          </a:xfrm>
          <a:prstGeom prst="rect">
            <a:avLst/>
          </a:prstGeom>
          <a:ln w="0">
            <a:noFill/>
          </a:ln>
        </p:spPr>
      </p:sp>
      <p:sp>
        <p:nvSpPr>
          <p:cNvPr id="15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spcBef>
                <a:spcPts val="1191"/>
              </a:spcBef>
              <a:spcAft>
                <a:spcPts val="992"/>
              </a:spcAft>
              <a:buNone/>
            </a:pPr>
            <a:r>
              <a:rPr b="0" lang="en-US" sz="2000" spc="-1" strike="noStrike">
                <a:solidFill>
                  <a:srgbClr val="000000"/>
                </a:solidFill>
                <a:latin typeface="Calibri"/>
                <a:ea typeface="Calibri"/>
              </a:rPr>
              <a:t>Before comparing, if you need a custom shape, we generally use an SVG file, because the SVG file has a path variable which is used for drawing.</a:t>
            </a:r>
            <a:endParaRPr b="0" lang="en-US" sz="2000" spc="-1" strike="noStrike">
              <a:solidFill>
                <a:srgbClr val="000000"/>
              </a:solidFill>
              <a:latin typeface="Arial"/>
            </a:endParaRPr>
          </a:p>
          <a:p>
            <a:pPr marL="216000" indent="0">
              <a:lnSpc>
                <a:spcPct val="100000"/>
              </a:lnSpc>
              <a:spcBef>
                <a:spcPts val="1191"/>
              </a:spcBef>
              <a:spcAft>
                <a:spcPts val="992"/>
              </a:spcAft>
              <a:buNone/>
            </a:pPr>
            <a:r>
              <a:rPr b="0" lang="en-US" sz="2000" spc="-1" strike="noStrike">
                <a:solidFill>
                  <a:srgbClr val="000000"/>
                </a:solidFill>
                <a:latin typeface="Calibri"/>
                <a:ea typeface="Calibri"/>
              </a:rPr>
              <a:t>The first method is Promote. A class which inherits QPushButton is created, and the class overrides the paintEvent method of QPushButton. The paintEvent method does the drawing process. And you can clearly see a QPainterPath, which is implemented using the path taken from the SVG file.</a:t>
            </a:r>
            <a:endParaRPr b="0" lang="en-US" sz="2000" spc="-1" strike="noStrike">
              <a:solidFill>
                <a:srgbClr val="000000"/>
              </a:solidFill>
              <a:latin typeface="Arial"/>
            </a:endParaRPr>
          </a:p>
          <a:p>
            <a:pPr marL="216000" indent="0">
              <a:lnSpc>
                <a:spcPct val="100000"/>
              </a:lnSpc>
              <a:spcBef>
                <a:spcPts val="1191"/>
              </a:spcBef>
              <a:spcAft>
                <a:spcPts val="992"/>
              </a:spcAft>
              <a:buNone/>
            </a:pPr>
            <a:r>
              <a:rPr b="0" lang="en-US" sz="2000" spc="-1" strike="noStrike">
                <a:solidFill>
                  <a:srgbClr val="000000"/>
                </a:solidFill>
                <a:latin typeface="Calibri"/>
                <a:ea typeface="Calibri"/>
              </a:rPr>
              <a:t>After doing this, we pass to Qt Designer, add a push button with drag and drop, and promote the button. Promote means linking a component to a C++ class. We don't see any changes on the Designer screen. But when we run the app, we can see our button is here.</a:t>
            </a:r>
            <a:endParaRPr b="0" lang="en-US" sz="2000" spc="-1" strike="noStrike">
              <a:solidFill>
                <a:srgbClr val="000000"/>
              </a:solidFill>
              <a:latin typeface="Arial"/>
            </a:endParaRPr>
          </a:p>
          <a:p>
            <a:pPr marL="216000" indent="0">
              <a:lnSpc>
                <a:spcPct val="100000"/>
              </a:lnSpc>
              <a:spcBef>
                <a:spcPts val="1191"/>
              </a:spcBef>
              <a:spcAft>
                <a:spcPts val="992"/>
              </a:spcAft>
              <a:buNone/>
            </a:pPr>
            <a:r>
              <a:rPr b="0" lang="en-US" sz="2000" spc="-1" strike="noStrike">
                <a:solidFill>
                  <a:srgbClr val="000000"/>
                </a:solidFill>
                <a:latin typeface="Calibri"/>
                <a:ea typeface="Calibri"/>
              </a:rPr>
              <a:t>If a developer uses the Designer screen, the developer wants to see the shape on the screen. This is an issue. How do we solve this problem? We use the plugin method.</a:t>
            </a:r>
            <a:endParaRPr b="0" lang="en-US" sz="2000" spc="-1" strike="noStrike">
              <a:solidFill>
                <a:srgbClr val="000000"/>
              </a:solidFill>
              <a:latin typeface="Arial"/>
            </a:endParaRPr>
          </a:p>
          <a:p>
            <a:pPr marL="216000" indent="0">
              <a:lnSpc>
                <a:spcPct val="100000"/>
              </a:lnSpc>
              <a:spcBef>
                <a:spcPts val="1191"/>
              </a:spcBef>
              <a:spcAft>
                <a:spcPts val="992"/>
              </a:spcAft>
              <a:buNone/>
            </a:pP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159" name="PlaceHolder 3"/>
          <p:cNvSpPr>
            <a:spLocks noGrp="1"/>
          </p:cNvSpPr>
          <p:nvPr>
            <p:ph type="sldNum" idx="4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24EFEFC4-6DA9-46B4-8E06-FB85FA1F2DF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360" y="812160"/>
            <a:ext cx="720" cy="720"/>
          </a:xfrm>
          <a:prstGeom prst="rect">
            <a:avLst/>
          </a:prstGeom>
          <a:ln w="0">
            <a:noFill/>
          </a:ln>
        </p:spPr>
      </p:sp>
      <p:sp>
        <p:nvSpPr>
          <p:cNvPr id="16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cccccc"/>
                </a:solidFill>
                <a:highlight>
                  <a:srgbClr val="222222"/>
                </a:highlight>
                <a:latin typeface="Arial"/>
              </a:rPr>
              <a:t>Drawing is quite easy on the QML side. QML gives us the Shape component, and inside the Shape component we use PathSvg. We just paste the path text from the SVG file into PathSvg. Then we run the app, and you can clearly see our button is here. To sum up: on the Widgets side, this took about 150 lines of code and two projects. In QML, the same button is only about 40 lines. So if you need complex custom shapes, you should definitely use QML.</a:t>
            </a:r>
            <a:endParaRPr b="0" lang="en-US" sz="2000" spc="-1" strike="noStrike">
              <a:solidFill>
                <a:srgbClr val="000000"/>
              </a:solidFill>
              <a:latin typeface="Arial"/>
            </a:endParaRPr>
          </a:p>
        </p:txBody>
      </p:sp>
      <p:sp>
        <p:nvSpPr>
          <p:cNvPr id="162" name="PlaceHolder 3"/>
          <p:cNvSpPr>
            <a:spLocks noGrp="1"/>
          </p:cNvSpPr>
          <p:nvPr>
            <p:ph type="sldNum" idx="4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5A184638-995D-45F3-AF40-4D2EB5C51FA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360" y="812160"/>
            <a:ext cx="720" cy="720"/>
          </a:xfrm>
          <a:prstGeom prst="rect">
            <a:avLst/>
          </a:prstGeom>
          <a:ln w="0">
            <a:noFill/>
          </a:ln>
        </p:spPr>
      </p:sp>
      <p:sp>
        <p:nvSpPr>
          <p:cNvPr id="16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table taken qt offical website. Three row is related our topic.</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First row hardware acceleration, The qt quick is running on GPU wihle Qt widget render in software which menans runnign on CPU.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Second row is animation. Qml is designed for animated and moder UIs. Widget can do animations but don’t designed for this. As you incerease load on cpu, fps drop. We will see fps drop in a example.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Third row is effects. Efecet like blurring, shadow is running on GPU for Qt quick. Qt widget have basic CPU effects. We have also a simple blur test.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result from the table. Widget draw on CPU, QML Draw on GPU. Not lets see our exmaple.</a:t>
            </a:r>
            <a:endParaRPr b="0" lang="en-US" sz="2000" spc="-1" strike="noStrike">
              <a:solidFill>
                <a:srgbClr val="000000"/>
              </a:solidFill>
              <a:latin typeface="Arial"/>
            </a:endParaRPr>
          </a:p>
        </p:txBody>
      </p:sp>
      <p:sp>
        <p:nvSpPr>
          <p:cNvPr id="165" name="PlaceHolder 3"/>
          <p:cNvSpPr>
            <a:spLocks noGrp="1"/>
          </p:cNvSpPr>
          <p:nvPr>
            <p:ph type="sldNum" idx="4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80B709E3-83D2-46D5-A5C1-68DCED318F6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360" y="812520"/>
            <a:ext cx="720" cy="720"/>
          </a:xfrm>
          <a:prstGeom prst="rect">
            <a:avLst/>
          </a:prstGeom>
          <a:ln w="0">
            <a:noFill/>
          </a:ln>
        </p:spPr>
      </p:sp>
      <p:sp>
        <p:nvSpPr>
          <p:cNvPr id="16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7. slayt **Under Load** için son halini aşağıya koydum. Senin metnin, düzeltmeler ve "by itself" ile: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 The example is related to animations. On the left side is Qt Widgets: with 3000 buttons, we get nearly twenty FPS, and the CPU usage is 100 percent.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 Calculating the positions and painting the pixels both run on the CPU.</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 But on the QML side, the example is perfectly stable: we get 60 FPS, and the CPU usage is about 30 percent.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 QML splits the work into two big parts by itself: calculating the positions runs on the CPU, and painting the pixels runs on the GPU.</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&gt; The example shows that if the UI has animations, the developer should prefer QML.</a:t>
            </a:r>
            <a:endParaRPr b="0" lang="en-US" sz="2000" spc="-1" strike="noStrike">
              <a:solidFill>
                <a:srgbClr val="000000"/>
              </a:solidFill>
              <a:latin typeface="Arial"/>
            </a:endParaRPr>
          </a:p>
        </p:txBody>
      </p:sp>
      <p:sp>
        <p:nvSpPr>
          <p:cNvPr id="168" name="PlaceHolder 3"/>
          <p:cNvSpPr>
            <a:spLocks noGrp="1"/>
          </p:cNvSpPr>
          <p:nvPr>
            <p:ph type="sldNum" idx="4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B48DE300-8B3A-417B-8BFA-CD6440A76E2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360" y="812520"/>
            <a:ext cx="720" cy="720"/>
          </a:xfrm>
          <a:prstGeom prst="rect">
            <a:avLst/>
          </a:prstGeom>
          <a:ln w="0">
            <a:noFill/>
          </a:ln>
        </p:spPr>
      </p:sp>
      <p:sp>
        <p:nvSpPr>
          <p:cNvPr id="17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For complex UIs, using Qt Widgets on embedded targets is not recommended, because Qt Widgets use a software backend. Software backend means that the CPU handles all the drawing.</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With the blur effect, we are getting nearly 30 FPS in the Widgets application, but we are getting 60 FPS in the QML application. Actually, the screen recorder is not fast enough for 120 Hz, so I changed my phone's screen rate to 60 Hz. Normally, the QML side gives 120 FPS.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If you are using an embedded system, QML gives better performance.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171" name="PlaceHolder 3"/>
          <p:cNvSpPr>
            <a:spLocks noGrp="1"/>
          </p:cNvSpPr>
          <p:nvPr>
            <p:ph type="sldNum" idx="4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3EC0D346-7852-4FDF-9923-D06CECC425C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360" y="812160"/>
            <a:ext cx="720" cy="720"/>
          </a:xfrm>
          <a:prstGeom prst="rect">
            <a:avLst/>
          </a:prstGeom>
          <a:ln w="0">
            <a:noFill/>
          </a:ln>
        </p:spPr>
      </p:sp>
      <p:sp>
        <p:nvSpPr>
          <p:cNvPr id="17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Let's move on to the last topic: the learning curve.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Think about a developer who doesn't know anything about QML or Widgets.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But the developer must make an app which parses USART data and shows the data on the screen, and there is a short deadline.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developer can make the app easily on the Widgets side, because drag and drop and the layout mechanism are very clear. And generating the signal connection is automated: right-click, Go to slot.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But on the QML side, the developer must know QML layouts, how to connect the signal and slot mechanism between QML and C++, and the Q_INVOKABLE and Q_PROPERTY keywords. Therefore, QML is more complex than Widgets for this app.</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174" name="PlaceHolder 3"/>
          <p:cNvSpPr>
            <a:spLocks noGrp="1"/>
          </p:cNvSpPr>
          <p:nvPr>
            <p:ph type="sldNum" idx="4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A2618830-4344-4B76-9236-6EA5F7FE942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360" y="812160"/>
            <a:ext cx="720" cy="720"/>
          </a:xfrm>
          <a:prstGeom prst="rect">
            <a:avLst/>
          </a:prstGeom>
          <a:ln w="0">
            <a:noFill/>
          </a:ln>
        </p:spPr>
      </p:sp>
      <p:sp>
        <p:nvSpPr>
          <p:cNvPr id="17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To sum up: if your app has animations, custom shapes or effects, or runs on an embedded device, choose QML. If your app is a classic desktop app with tables and standard controls, or a simple tool with a short deadline, choose Widgets. Thank you for listening. Any questions?</a:t>
            </a:r>
            <a:endParaRPr b="0" lang="en-US" sz="2000" spc="-1" strike="noStrike">
              <a:solidFill>
                <a:srgbClr val="000000"/>
              </a:solidFill>
              <a:latin typeface="Arial"/>
            </a:endParaRPr>
          </a:p>
        </p:txBody>
      </p:sp>
      <p:sp>
        <p:nvSpPr>
          <p:cNvPr id="177" name="PlaceHolder 3"/>
          <p:cNvSpPr>
            <a:spLocks noGrp="1"/>
          </p:cNvSpPr>
          <p:nvPr>
            <p:ph type="sldNum" idx="4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35F622A4-6980-419E-A2B8-5D147EE08E2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51441E9-7A00-4E8B-B530-D9526728E75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B900E24-C346-464B-88F5-2D21D41248AE}"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3F053631-FF56-40CF-B2DA-646B3C13BCFF}"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2BAAD7E-56BF-4C3B-ACFB-308CA025CEAF}"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19ED2BC0-7F49-48D9-AE7B-9B5946B6642E}"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24D32EDA-BC0C-490F-BD00-77EFDC7A46B0}"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045B2FB2-3D26-4A9B-8EDE-927F614FDE8F}"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C0C4BBB8-CF57-4E76-BB4B-D68E0051C675}"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CF5B0812-9120-4D5F-85AC-8858131E0C8F}"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C8FFACA-43F1-4B9C-8AAA-5086E06B87C3}"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5D647191-FBCB-4E12-803E-FF86C4612C5E}"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a:t>
            </a:r>
            <a:r>
              <a:rPr b="0" lang="en-US" sz="4400" spc="-1" strike="noStrike">
                <a:solidFill>
                  <a:schemeClr val="dk1"/>
                </a:solidFill>
                <a:latin typeface="Calibri"/>
              </a:rPr>
              <a:t>the title text </a:t>
            </a:r>
            <a:r>
              <a:rPr b="0" lang="en-US" sz="4400" spc="-1" strike="noStrike">
                <a:solidFill>
                  <a:schemeClr val="dk1"/>
                </a:solidFill>
                <a:latin typeface="Calibri"/>
              </a:rPr>
              <a:t>format</a:t>
            </a:r>
            <a:endParaRPr b="0" lang="en-US" sz="4400" spc="-1" strike="noStrike">
              <a:solidFill>
                <a:schemeClr val="dk1"/>
              </a:solidFill>
              <a:latin typeface="Calibri"/>
            </a:endParaRPr>
          </a:p>
        </p:txBody>
      </p:sp>
      <p:sp>
        <p:nvSpPr>
          <p:cNvPr id="1" name="PlaceHolder 2"/>
          <p:cNvSpPr>
            <a:spLocks noGrp="1"/>
          </p:cNvSpPr>
          <p:nvPr>
            <p:ph type="ftr" idx="1"/>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1DF9D5E-E935-41AF-82C2-D5175E301D5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B134D3E-D915-4FD5-86C3-F14D44684C8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F4ACDC1-968C-47D0-A09E-D8556353ED2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3" name="PlaceHolder 2"/>
          <p:cNvSpPr>
            <a:spLocks noGrp="1"/>
          </p:cNvSpPr>
          <p:nvPr>
            <p:ph type="body"/>
          </p:nvPr>
        </p:nvSpPr>
        <p:spPr>
          <a:xfrm>
            <a:off x="609480" y="1604520"/>
            <a:ext cx="1097172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14" name="PlaceHolder 3"/>
          <p:cNvSpPr>
            <a:spLocks noGrp="1"/>
          </p:cNvSpPr>
          <p:nvPr>
            <p:ph type="ftr" idx="10"/>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90E25C7-40AC-4796-B9B9-F3CD1AC2A55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0361A2A-7E16-4556-AFB7-DF3DBB6E754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5" name="PlaceHolder 4"/>
          <p:cNvSpPr>
            <a:spLocks noGrp="1"/>
          </p:cNvSpPr>
          <p:nvPr>
            <p:ph type="ftr" idx="16"/>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2ECC809-BB1C-4408-B2FD-CB613FEE65E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266CE53-A5F2-49E1-9A21-E36998A41BE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35" name="PlaceHolder 2"/>
          <p:cNvSpPr>
            <a:spLocks noGrp="1"/>
          </p:cNvSpPr>
          <p:nvPr>
            <p:ph type="ftr" idx="22"/>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9790624-A0E3-4E93-A531-5BA6ECDD54A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F2A96BC-F322-43BE-BE35-C25D88518EC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BC32F15-8B97-4E31-9B7C-F3B912E3C4C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76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80BB191-7EA7-4452-83C9-63D3ECE048D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Layout" Target="../slideLayouts/slideLayout9.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2.jpeg"/><Relationship Id="rId4" Type="http://schemas.openxmlformats.org/officeDocument/2006/relationships/slideLayout" Target="../slideLayouts/slideLayout9.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video" Target="../media/media13.mp4"/><Relationship Id="rId2" Type="http://schemas.microsoft.com/office/2007/relationships/media" Target="../media/media13.mp4"/><Relationship Id="rId3" Type="http://schemas.openxmlformats.org/officeDocument/2006/relationships/image" Target="../media/image14.jpeg"/><Relationship Id="rId4" Type="http://schemas.openxmlformats.org/officeDocument/2006/relationships/slideLayout" Target="../slideLayouts/slideLayout9.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56" name="Title"/>
          <p:cNvSpPr/>
          <p:nvPr/>
        </p:nvSpPr>
        <p:spPr>
          <a:xfrm>
            <a:off x="822960" y="2011680"/>
            <a:ext cx="7497360" cy="7315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800" spc="-1" strike="noStrike">
                <a:solidFill>
                  <a:srgbClr val="ffffff"/>
                </a:solidFill>
                <a:latin typeface="Calibri"/>
              </a:rPr>
              <a:t>Qt Widgets </a:t>
            </a:r>
            <a:r>
              <a:rPr b="1" lang="en-US" sz="4800" spc="-1" strike="noStrike">
                <a:solidFill>
                  <a:srgbClr val="b2b2b2"/>
                </a:solidFill>
                <a:latin typeface="Calibri"/>
              </a:rPr>
              <a:t>vs </a:t>
            </a:r>
            <a:r>
              <a:rPr b="1" lang="en-US" sz="4800" spc="-1" strike="noStrike">
                <a:solidFill>
                  <a:srgbClr val="5fd38d"/>
                </a:solidFill>
                <a:latin typeface="Calibri"/>
              </a:rPr>
              <a:t>Qt Quick</a:t>
            </a:r>
            <a:endParaRPr b="0" lang="en-US" sz="4800" spc="-1" strike="noStrike">
              <a:solidFill>
                <a:srgbClr val="ffffff"/>
              </a:solidFill>
              <a:latin typeface="Arial"/>
            </a:endParaRPr>
          </a:p>
        </p:txBody>
      </p:sp>
      <p:sp>
        <p:nvSpPr>
          <p:cNvPr id="57" name="Subtitle"/>
          <p:cNvSpPr/>
          <p:nvPr/>
        </p:nvSpPr>
        <p:spPr>
          <a:xfrm>
            <a:off x="914400" y="2971800"/>
            <a:ext cx="7314480" cy="3657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2400" spc="-1" strike="noStrike">
                <a:solidFill>
                  <a:srgbClr val="a9b1ba"/>
                </a:solidFill>
                <a:latin typeface="Calibri"/>
              </a:rPr>
              <a:t>UI Development &amp; Performance Scenarios</a:t>
            </a:r>
            <a:endParaRPr b="0" lang="en-US" sz="2400" spc="-1" strike="noStrike">
              <a:solidFill>
                <a:srgbClr val="ffffff"/>
              </a:solidFill>
              <a:latin typeface="Arial"/>
            </a:endParaRPr>
          </a:p>
        </p:txBody>
      </p:sp>
      <p:sp>
        <p:nvSpPr>
          <p:cNvPr id="58" name="Author"/>
          <p:cNvSpPr/>
          <p:nvPr/>
        </p:nvSpPr>
        <p:spPr>
          <a:xfrm>
            <a:off x="914400" y="3931920"/>
            <a:ext cx="731484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Calibri"/>
              </a:rPr>
              <a:t>Can Ahmet Acar</a:t>
            </a:r>
            <a:endParaRPr b="0" lang="en-US"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59" name="Title"/>
          <p:cNvSpPr/>
          <p:nvPr/>
        </p:nvSpPr>
        <p:spPr>
          <a:xfrm>
            <a:off x="548640" y="411480"/>
            <a:ext cx="8686440" cy="5482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3600" spc="-1" strike="noStrike">
                <a:solidFill>
                  <a:srgbClr val="ffffff"/>
                </a:solidFill>
                <a:latin typeface="Calibri"/>
              </a:rPr>
              <a:t>Agenda</a:t>
            </a:r>
            <a:endParaRPr b="0" lang="en-US" sz="3600" spc="-1" strike="noStrike">
              <a:solidFill>
                <a:srgbClr val="ffffff"/>
              </a:solidFill>
              <a:latin typeface="Arial"/>
            </a:endParaRPr>
          </a:p>
        </p:txBody>
      </p:sp>
      <p:sp>
        <p:nvSpPr>
          <p:cNvPr id="60" name="Topic 1 number"/>
          <p:cNvSpPr/>
          <p:nvPr/>
        </p:nvSpPr>
        <p:spPr>
          <a:xfrm>
            <a:off x="548640" y="1630080"/>
            <a:ext cx="639720" cy="30564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000" spc="-1" strike="noStrike">
                <a:solidFill>
                  <a:srgbClr val="5fd38d"/>
                </a:solidFill>
                <a:latin typeface="Consolas"/>
              </a:rPr>
              <a:t>01</a:t>
            </a:r>
            <a:endParaRPr b="0" lang="en-US" sz="2000" spc="-1" strike="noStrike">
              <a:solidFill>
                <a:srgbClr val="ffffff"/>
              </a:solidFill>
              <a:latin typeface="Arial"/>
            </a:endParaRPr>
          </a:p>
        </p:txBody>
      </p:sp>
      <p:sp>
        <p:nvSpPr>
          <p:cNvPr id="61" name="Topic 1"/>
          <p:cNvSpPr/>
          <p:nvPr/>
        </p:nvSpPr>
        <p:spPr>
          <a:xfrm>
            <a:off x="1234440" y="1614960"/>
            <a:ext cx="5760360" cy="3358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200" spc="-1" strike="noStrike">
                <a:solidFill>
                  <a:srgbClr val="ffffff"/>
                </a:solidFill>
                <a:latin typeface="Calibri"/>
              </a:rPr>
              <a:t>Shape Complexity</a:t>
            </a:r>
            <a:endParaRPr b="0" lang="en-US" sz="2200" spc="-1" strike="noStrike">
              <a:solidFill>
                <a:srgbClr val="ffffff"/>
              </a:solidFill>
              <a:latin typeface="Arial"/>
            </a:endParaRPr>
          </a:p>
        </p:txBody>
      </p:sp>
      <p:sp>
        <p:nvSpPr>
          <p:cNvPr id="62" name="Topic 1 detail"/>
          <p:cNvSpPr/>
          <p:nvPr/>
        </p:nvSpPr>
        <p:spPr>
          <a:xfrm>
            <a:off x="7132320" y="1652760"/>
            <a:ext cx="4525920" cy="25992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700" spc="-1" strike="noStrike">
                <a:solidFill>
                  <a:srgbClr val="a9b1ba"/>
                </a:solidFill>
                <a:latin typeface="Calibri"/>
              </a:rPr>
              <a:t>Custom, non-rectangular components</a:t>
            </a:r>
            <a:endParaRPr b="0" lang="en-US" sz="1700" spc="-1" strike="noStrike">
              <a:solidFill>
                <a:srgbClr val="ffffff"/>
              </a:solidFill>
              <a:latin typeface="Arial"/>
            </a:endParaRPr>
          </a:p>
        </p:txBody>
      </p:sp>
      <p:sp>
        <p:nvSpPr>
          <p:cNvPr id="63" name="Topic 2 number"/>
          <p:cNvSpPr/>
          <p:nvPr/>
        </p:nvSpPr>
        <p:spPr>
          <a:xfrm>
            <a:off x="548640" y="2498760"/>
            <a:ext cx="639720" cy="30564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000" spc="-1" strike="noStrike">
                <a:solidFill>
                  <a:srgbClr val="5fd38d"/>
                </a:solidFill>
                <a:latin typeface="Consolas"/>
              </a:rPr>
              <a:t>02</a:t>
            </a:r>
            <a:endParaRPr b="0" lang="en-US" sz="2000" spc="-1" strike="noStrike">
              <a:solidFill>
                <a:srgbClr val="ffffff"/>
              </a:solidFill>
              <a:latin typeface="Arial"/>
            </a:endParaRPr>
          </a:p>
        </p:txBody>
      </p:sp>
      <p:sp>
        <p:nvSpPr>
          <p:cNvPr id="64" name="Topic 2"/>
          <p:cNvSpPr/>
          <p:nvPr/>
        </p:nvSpPr>
        <p:spPr>
          <a:xfrm>
            <a:off x="1234440" y="2483640"/>
            <a:ext cx="5760360" cy="3358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200" spc="-1" strike="noStrike">
                <a:solidFill>
                  <a:srgbClr val="ffffff"/>
                </a:solidFill>
                <a:latin typeface="Calibri"/>
              </a:rPr>
              <a:t>Rendering Performance</a:t>
            </a:r>
            <a:endParaRPr b="0" lang="en-US" sz="2200" spc="-1" strike="noStrike">
              <a:solidFill>
                <a:srgbClr val="ffffff"/>
              </a:solidFill>
              <a:latin typeface="Arial"/>
            </a:endParaRPr>
          </a:p>
        </p:txBody>
      </p:sp>
      <p:sp>
        <p:nvSpPr>
          <p:cNvPr id="65" name="Topic 2 detail"/>
          <p:cNvSpPr/>
          <p:nvPr/>
        </p:nvSpPr>
        <p:spPr>
          <a:xfrm>
            <a:off x="7132320" y="2521440"/>
            <a:ext cx="4525920" cy="25992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700" spc="-1" strike="noStrike">
                <a:solidFill>
                  <a:srgbClr val="a9b1ba"/>
                </a:solidFill>
                <a:latin typeface="Calibri"/>
              </a:rPr>
              <a:t>CPU vs GPU, on desktop and phone</a:t>
            </a:r>
            <a:endParaRPr b="0" lang="en-US" sz="1700" spc="-1" strike="noStrike">
              <a:solidFill>
                <a:srgbClr val="ffffff"/>
              </a:solidFill>
              <a:latin typeface="Arial"/>
            </a:endParaRPr>
          </a:p>
        </p:txBody>
      </p:sp>
      <p:sp>
        <p:nvSpPr>
          <p:cNvPr id="66" name="Topic 3 number"/>
          <p:cNvSpPr/>
          <p:nvPr/>
        </p:nvSpPr>
        <p:spPr>
          <a:xfrm>
            <a:off x="548640" y="3367440"/>
            <a:ext cx="639720" cy="30564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000" spc="-1" strike="noStrike">
                <a:solidFill>
                  <a:srgbClr val="5fd38d"/>
                </a:solidFill>
                <a:latin typeface="Consolas"/>
              </a:rPr>
              <a:t>03</a:t>
            </a:r>
            <a:endParaRPr b="0" lang="en-US" sz="2000" spc="-1" strike="noStrike">
              <a:solidFill>
                <a:srgbClr val="ffffff"/>
              </a:solidFill>
              <a:latin typeface="Arial"/>
            </a:endParaRPr>
          </a:p>
        </p:txBody>
      </p:sp>
      <p:sp>
        <p:nvSpPr>
          <p:cNvPr id="67" name="Topic 3"/>
          <p:cNvSpPr/>
          <p:nvPr/>
        </p:nvSpPr>
        <p:spPr>
          <a:xfrm>
            <a:off x="1234440" y="3352320"/>
            <a:ext cx="5760360" cy="3358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200" spc="-1" strike="noStrike">
                <a:solidFill>
                  <a:srgbClr val="ffffff"/>
                </a:solidFill>
                <a:latin typeface="Calibri"/>
              </a:rPr>
              <a:t>Learning Curve &amp; Development Speed</a:t>
            </a:r>
            <a:endParaRPr b="0" lang="en-US" sz="2200" spc="-1" strike="noStrike">
              <a:solidFill>
                <a:srgbClr val="ffffff"/>
              </a:solidFill>
              <a:latin typeface="Arial"/>
            </a:endParaRPr>
          </a:p>
        </p:txBody>
      </p:sp>
      <p:sp>
        <p:nvSpPr>
          <p:cNvPr id="68" name="Topic 3 detail"/>
          <p:cNvSpPr/>
          <p:nvPr/>
        </p:nvSpPr>
        <p:spPr>
          <a:xfrm>
            <a:off x="7132320" y="3390120"/>
            <a:ext cx="4525920" cy="25992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700" spc="-1" strike="noStrike">
                <a:solidFill>
                  <a:srgbClr val="a9b1ba"/>
                </a:solidFill>
                <a:latin typeface="Calibri"/>
              </a:rPr>
              <a:t>How fast a team gets productive</a:t>
            </a:r>
            <a:endParaRPr b="0" lang="en-US" sz="1700" spc="-1" strike="noStrike">
              <a:solidFill>
                <a:srgbClr val="ffffff"/>
              </a:solidFill>
              <a:latin typeface="Arial"/>
            </a:endParaRPr>
          </a:p>
        </p:txBody>
      </p:sp>
      <p:sp>
        <p:nvSpPr>
          <p:cNvPr id="69" name="Conclusion marker"/>
          <p:cNvSpPr/>
          <p:nvPr/>
        </p:nvSpPr>
        <p:spPr>
          <a:xfrm>
            <a:off x="548640" y="4586400"/>
            <a:ext cx="639720" cy="4276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800" spc="-1" strike="noStrike">
                <a:solidFill>
                  <a:srgbClr val="f0b35a"/>
                </a:solidFill>
                <a:latin typeface="Calibri"/>
              </a:rPr>
              <a:t>→</a:t>
            </a:r>
            <a:endParaRPr b="0" lang="en-US" sz="2800" spc="-1" strike="noStrike">
              <a:solidFill>
                <a:srgbClr val="ffffff"/>
              </a:solidFill>
              <a:latin typeface="Arial"/>
            </a:endParaRPr>
          </a:p>
        </p:txBody>
      </p:sp>
      <p:sp>
        <p:nvSpPr>
          <p:cNvPr id="70" name="Conclusion"/>
          <p:cNvSpPr/>
          <p:nvPr/>
        </p:nvSpPr>
        <p:spPr>
          <a:xfrm>
            <a:off x="1234440" y="4632480"/>
            <a:ext cx="5760360" cy="3358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2200" spc="-1" strike="noStrike">
                <a:solidFill>
                  <a:srgbClr val="f0b35a"/>
                </a:solidFill>
                <a:latin typeface="Calibri"/>
              </a:rPr>
              <a:t>Conclusion</a:t>
            </a:r>
            <a:endParaRPr b="0" lang="en-US" sz="2200" spc="-1" strike="noStrike">
              <a:solidFill>
                <a:srgbClr val="ffffff"/>
              </a:solidFill>
              <a:latin typeface="Arial"/>
            </a:endParaRPr>
          </a:p>
        </p:txBody>
      </p:sp>
      <p:sp>
        <p:nvSpPr>
          <p:cNvPr id="71" name="Conclusion detail"/>
          <p:cNvSpPr/>
          <p:nvPr/>
        </p:nvSpPr>
        <p:spPr>
          <a:xfrm>
            <a:off x="7132320" y="4670280"/>
            <a:ext cx="4525920" cy="25992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700" spc="-1" strike="noStrike">
                <a:solidFill>
                  <a:srgbClr val="a9b1ba"/>
                </a:solidFill>
                <a:latin typeface="Calibri"/>
              </a:rPr>
              <a:t>When to use which?</a:t>
            </a:r>
            <a:endParaRPr b="0" lang="en-US" sz="17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72" name="Title"/>
          <p:cNvSpPr/>
          <p:nvPr/>
        </p:nvSpPr>
        <p:spPr>
          <a:xfrm>
            <a:off x="548640" y="411480"/>
            <a:ext cx="10515240" cy="5482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3600" spc="-1" strike="noStrike">
                <a:solidFill>
                  <a:srgbClr val="ffffff"/>
                </a:solidFill>
                <a:latin typeface="Calibri"/>
              </a:rPr>
              <a:t>The Button </a:t>
            </a:r>
            <a:r>
              <a:rPr b="1" lang="en-US" sz="3600" spc="-1" strike="noStrike">
                <a:solidFill>
                  <a:srgbClr val="5fd38d"/>
                </a:solidFill>
                <a:latin typeface="Calibri"/>
              </a:rPr>
              <a:t>Example</a:t>
            </a:r>
            <a:endParaRPr b="0" lang="en-US" sz="3600" spc="-1" strike="noStrike">
              <a:solidFill>
                <a:srgbClr val="ffffff"/>
              </a:solidFill>
              <a:latin typeface="Arial"/>
            </a:endParaRPr>
          </a:p>
        </p:txBody>
      </p:sp>
      <p:sp>
        <p:nvSpPr>
          <p:cNvPr id="73" name="Bullet 1 number"/>
          <p:cNvSpPr/>
          <p:nvPr/>
        </p:nvSpPr>
        <p:spPr>
          <a:xfrm>
            <a:off x="548640" y="1691640"/>
            <a:ext cx="6397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5fd38d"/>
                </a:solidFill>
                <a:latin typeface="Consolas"/>
              </a:rPr>
              <a:t>01</a:t>
            </a:r>
            <a:endParaRPr b="0" lang="en-US" sz="2000" spc="-1" strike="noStrike">
              <a:solidFill>
                <a:srgbClr val="ffffff"/>
              </a:solidFill>
              <a:latin typeface="Arial"/>
            </a:endParaRPr>
          </a:p>
        </p:txBody>
      </p:sp>
      <p:sp>
        <p:nvSpPr>
          <p:cNvPr id="74" name="Bullet 1"/>
          <p:cNvSpPr/>
          <p:nvPr/>
        </p:nvSpPr>
        <p:spPr>
          <a:xfrm>
            <a:off x="1234440" y="1673280"/>
            <a:ext cx="47545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ffffff"/>
                </a:solidFill>
                <a:latin typeface="Calibri"/>
              </a:rPr>
              <a:t>Most used control, simple in both</a:t>
            </a:r>
            <a:endParaRPr b="0" lang="en-US" sz="2000" spc="-1" strike="noStrike">
              <a:solidFill>
                <a:srgbClr val="ffffff"/>
              </a:solidFill>
              <a:latin typeface="Arial"/>
            </a:endParaRPr>
          </a:p>
        </p:txBody>
      </p:sp>
      <p:sp>
        <p:nvSpPr>
          <p:cNvPr id="75" name="Bullet 2 number"/>
          <p:cNvSpPr/>
          <p:nvPr/>
        </p:nvSpPr>
        <p:spPr>
          <a:xfrm>
            <a:off x="548640" y="2770560"/>
            <a:ext cx="6397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0b35a"/>
                </a:solidFill>
                <a:latin typeface="Consolas"/>
              </a:rPr>
              <a:t>02</a:t>
            </a:r>
            <a:endParaRPr b="0" lang="en-US" sz="2000" spc="-1" strike="noStrike">
              <a:solidFill>
                <a:srgbClr val="ffffff"/>
              </a:solidFill>
              <a:latin typeface="Arial"/>
            </a:endParaRPr>
          </a:p>
        </p:txBody>
      </p:sp>
      <p:sp>
        <p:nvSpPr>
          <p:cNvPr id="76" name="Bullet 2"/>
          <p:cNvSpPr/>
          <p:nvPr/>
        </p:nvSpPr>
        <p:spPr>
          <a:xfrm>
            <a:off x="1234440" y="2752200"/>
            <a:ext cx="47545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0b35a"/>
                </a:solidFill>
                <a:latin typeface="Calibri"/>
              </a:rPr>
              <a:t>What if the shape changes?</a:t>
            </a:r>
            <a:endParaRPr b="0" lang="en-US" sz="2000" spc="-1" strike="noStrike">
              <a:solidFill>
                <a:srgbClr val="ffffff"/>
              </a:solidFill>
              <a:latin typeface="Arial"/>
            </a:endParaRPr>
          </a:p>
        </p:txBody>
      </p:sp>
      <p:pic>
        <p:nvPicPr>
          <p:cNvPr id="77" name="Normal button" descr="image.png"/>
          <p:cNvPicPr/>
          <p:nvPr/>
        </p:nvPicPr>
        <p:blipFill>
          <a:blip r:embed="rId1"/>
          <a:stretch/>
        </p:blipFill>
        <p:spPr>
          <a:xfrm>
            <a:off x="5623560" y="3246120"/>
            <a:ext cx="2559960" cy="966960"/>
          </a:xfrm>
          <a:prstGeom prst="rect">
            <a:avLst/>
          </a:prstGeom>
          <a:ln w="0">
            <a:noFill/>
          </a:ln>
        </p:spPr>
      </p:pic>
      <p:sp>
        <p:nvSpPr>
          <p:cNvPr id="78" name="Normal caption"/>
          <p:cNvSpPr/>
          <p:nvPr/>
        </p:nvSpPr>
        <p:spPr>
          <a:xfrm>
            <a:off x="5623560" y="4343400"/>
            <a:ext cx="25599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5fd38d"/>
                </a:solidFill>
                <a:latin typeface="Consolas"/>
              </a:rPr>
              <a:t>QPushButton · Button {}</a:t>
            </a:r>
            <a:endParaRPr b="0" lang="en-US" sz="1300" spc="-1" strike="noStrike">
              <a:solidFill>
                <a:srgbClr val="ffffff"/>
              </a:solidFill>
              <a:latin typeface="Arial"/>
            </a:endParaRPr>
          </a:p>
        </p:txBody>
      </p:sp>
      <p:sp>
        <p:nvSpPr>
          <p:cNvPr id="79" name="Arrow"/>
          <p:cNvSpPr/>
          <p:nvPr/>
        </p:nvSpPr>
        <p:spPr>
          <a:xfrm>
            <a:off x="8183880" y="3291840"/>
            <a:ext cx="548280" cy="6098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4000" spc="-1" strike="noStrike">
                <a:solidFill>
                  <a:srgbClr val="f0b35a"/>
                </a:solidFill>
                <a:latin typeface="Calibri"/>
              </a:rPr>
              <a:t>→</a:t>
            </a:r>
            <a:endParaRPr b="0" lang="en-US" sz="4000" spc="-1" strike="noStrike">
              <a:solidFill>
                <a:srgbClr val="ffffff"/>
              </a:solidFill>
              <a:latin typeface="Arial"/>
            </a:endParaRPr>
          </a:p>
        </p:txBody>
      </p:sp>
      <p:pic>
        <p:nvPicPr>
          <p:cNvPr id="80" name="Shaped button" descr="image.png"/>
          <p:cNvPicPr/>
          <p:nvPr/>
        </p:nvPicPr>
        <p:blipFill>
          <a:blip r:embed="rId2"/>
          <a:stretch/>
        </p:blipFill>
        <p:spPr>
          <a:xfrm>
            <a:off x="8503920" y="2377440"/>
            <a:ext cx="2526120" cy="274284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nodeType="withEffect" fill="hold" presetClass="entr" presetID="1">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nodeType="withEffect" fill="hold" presetClass="entr" presetID="53" presetSubtype="16">
                                  <p:stCondLst>
                                    <p:cond delay="0"/>
                                  </p:stCondLst>
                                  <p:childTnLst>
                                    <p:set>
                                      <p:cBhvr>
                                        <p:cTn id="12" dur="1" fill="hold">
                                          <p:stCondLst>
                                            <p:cond delay="0"/>
                                          </p:stCondLst>
                                        </p:cTn>
                                        <p:tgtEl>
                                          <p:spTgt spid="80"/>
                                        </p:tgtEl>
                                        <p:attrNameLst>
                                          <p:attrName>style.visibility</p:attrName>
                                        </p:attrNameLst>
                                      </p:cBhvr>
                                      <p:to>
                                        <p:strVal val="visible"/>
                                      </p:to>
                                    </p:set>
                                    <p:anim calcmode="lin" valueType="num">
                                      <p:cBhvr additive="repl">
                                        <p:cTn id="13" dur="500" fill="hold"/>
                                        <p:tgtEl>
                                          <p:spTgt spid="80"/>
                                        </p:tgtEl>
                                        <p:attrNameLst>
                                          <p:attrName>ppt_w</p:attrName>
                                        </p:attrNameLst>
                                      </p:cBhvr>
                                      <p:tavLst>
                                        <p:tav tm="0">
                                          <p:val>
                                            <p:fltVal val="0"/>
                                          </p:val>
                                        </p:tav>
                                        <p:tav tm="100000">
                                          <p:val>
                                            <p:strVal val="#ppt_w"/>
                                          </p:val>
                                        </p:tav>
                                      </p:tavLst>
                                    </p:anim>
                                    <p:anim calcmode="lin" valueType="num">
                                      <p:cBhvr additive="repl">
                                        <p:cTn id="14" dur="500" fill="hold"/>
                                        <p:tgtEl>
                                          <p:spTgt spid="80"/>
                                        </p:tgtEl>
                                        <p:attrNameLst>
                                          <p:attrName>ppt_h</p:attrName>
                                        </p:attrNameLst>
                                      </p:cBhvr>
                                      <p:tavLst>
                                        <p:tav tm="0">
                                          <p:val>
                                            <p:fltVal val="0"/>
                                          </p:val>
                                        </p:tav>
                                        <p:tav tm="100000">
                                          <p:val>
                                            <p:strVal val="#ppt_h"/>
                                          </p:val>
                                        </p:tav>
                                      </p:tavLst>
                                    </p:anim>
                                    <p:animEffect filter="fade" transition="in">
                                      <p:cBhvr additive="repl">
                                        <p:cTn id="15" dur="5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81" name="Title"/>
          <p:cNvSpPr/>
          <p:nvPr/>
        </p:nvSpPr>
        <p:spPr>
          <a:xfrm>
            <a:off x="548640" y="411480"/>
            <a:ext cx="86864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Custom Component </a:t>
            </a:r>
            <a:r>
              <a:rPr b="1" lang="en-US" sz="3600" spc="-1" strike="noStrike">
                <a:solidFill>
                  <a:srgbClr val="5fd38d"/>
                </a:solidFill>
                <a:latin typeface="Calibri"/>
              </a:rPr>
              <a:t>(Widgets)</a:t>
            </a:r>
            <a:endParaRPr b="0" lang="en-US" sz="3600" spc="-1" strike="noStrike">
              <a:solidFill>
                <a:srgbClr val="ffffff"/>
              </a:solidFill>
              <a:latin typeface="Arial"/>
            </a:endParaRPr>
          </a:p>
        </p:txBody>
      </p:sp>
      <p:sp>
        <p:nvSpPr>
          <p:cNvPr id="82" name="Method 1 number"/>
          <p:cNvSpPr/>
          <p:nvPr/>
        </p:nvSpPr>
        <p:spPr>
          <a:xfrm>
            <a:off x="548640" y="1737360"/>
            <a:ext cx="639720" cy="335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5fd38d"/>
                </a:solidFill>
                <a:latin typeface="Consolas"/>
              </a:rPr>
              <a:t>01</a:t>
            </a:r>
            <a:endParaRPr b="0" lang="en-US" sz="2200" spc="-1" strike="noStrike">
              <a:solidFill>
                <a:srgbClr val="ffffff"/>
              </a:solidFill>
              <a:latin typeface="Arial"/>
            </a:endParaRPr>
          </a:p>
        </p:txBody>
      </p:sp>
      <p:sp>
        <p:nvSpPr>
          <p:cNvPr id="83" name="Method 1"/>
          <p:cNvSpPr/>
          <p:nvPr/>
        </p:nvSpPr>
        <p:spPr>
          <a:xfrm>
            <a:off x="1234440" y="1719000"/>
            <a:ext cx="475452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ffffff"/>
                </a:solidFill>
                <a:latin typeface="Calibri"/>
              </a:rPr>
              <a:t>Method 1: Promote</a:t>
            </a:r>
            <a:endParaRPr b="0" lang="en-US" sz="2400" spc="-1" strike="noStrike">
              <a:solidFill>
                <a:srgbClr val="ffffff"/>
              </a:solidFill>
              <a:latin typeface="Arial"/>
            </a:endParaRPr>
          </a:p>
        </p:txBody>
      </p:sp>
      <p:sp>
        <p:nvSpPr>
          <p:cNvPr id="84" name="Method 1 issue"/>
          <p:cNvSpPr/>
          <p:nvPr/>
        </p:nvSpPr>
        <p:spPr>
          <a:xfrm>
            <a:off x="1234440" y="2286000"/>
            <a:ext cx="475452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0b35a"/>
                </a:solidFill>
                <a:latin typeface="Calibri"/>
              </a:rPr>
              <a:t>Issue: </a:t>
            </a:r>
            <a:r>
              <a:rPr b="0" lang="en-US" sz="1800" spc="-1" strike="noStrike">
                <a:solidFill>
                  <a:srgbClr val="ffffff"/>
                </a:solidFill>
                <a:latin typeface="Calibri"/>
              </a:rPr>
              <a:t>shape not visible in Designer</a:t>
            </a:r>
            <a:endParaRPr b="0" lang="en-US" sz="1800" spc="-1" strike="noStrike">
              <a:solidFill>
                <a:srgbClr val="ffffff"/>
              </a:solidFill>
              <a:latin typeface="Arial"/>
            </a:endParaRPr>
          </a:p>
        </p:txBody>
      </p:sp>
      <p:sp>
        <p:nvSpPr>
          <p:cNvPr id="85" name="Method 2 number"/>
          <p:cNvSpPr/>
          <p:nvPr/>
        </p:nvSpPr>
        <p:spPr>
          <a:xfrm>
            <a:off x="548640" y="3200400"/>
            <a:ext cx="639720" cy="335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5fd38d"/>
                </a:solidFill>
                <a:latin typeface="Consolas"/>
              </a:rPr>
              <a:t>02</a:t>
            </a:r>
            <a:endParaRPr b="0" lang="en-US" sz="2200" spc="-1" strike="noStrike">
              <a:solidFill>
                <a:srgbClr val="ffffff"/>
              </a:solidFill>
              <a:latin typeface="Arial"/>
            </a:endParaRPr>
          </a:p>
        </p:txBody>
      </p:sp>
      <p:sp>
        <p:nvSpPr>
          <p:cNvPr id="86" name="Method 2"/>
          <p:cNvSpPr/>
          <p:nvPr/>
        </p:nvSpPr>
        <p:spPr>
          <a:xfrm>
            <a:off x="1234440" y="3182040"/>
            <a:ext cx="475452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ffffff"/>
                </a:solidFill>
                <a:latin typeface="Calibri"/>
              </a:rPr>
              <a:t>Method 2: Plugin</a:t>
            </a:r>
            <a:endParaRPr b="0" lang="en-US" sz="2400" spc="-1" strike="noStrike">
              <a:solidFill>
                <a:srgbClr val="ffffff"/>
              </a:solidFill>
              <a:latin typeface="Arial"/>
            </a:endParaRPr>
          </a:p>
        </p:txBody>
      </p:sp>
      <p:sp>
        <p:nvSpPr>
          <p:cNvPr id="87" name="Closing"/>
          <p:cNvSpPr/>
          <p:nvPr/>
        </p:nvSpPr>
        <p:spPr>
          <a:xfrm>
            <a:off x="1234440" y="5120640"/>
            <a:ext cx="475452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f0b35a"/>
                </a:solidFill>
                <a:latin typeface="Calibri"/>
              </a:rPr>
              <a:t>Possible, but a lot of effort</a:t>
            </a:r>
            <a:endParaRPr b="0" lang="en-US" sz="2400" spc="-1" strike="noStrike">
              <a:solidFill>
                <a:srgbClr val="ffffff"/>
              </a:solidFill>
              <a:latin typeface="Arial"/>
            </a:endParaRPr>
          </a:p>
        </p:txBody>
      </p:sp>
      <p:pic>
        <p:nvPicPr>
          <p:cNvPr id="88" name="M1 code" descr="image.png"/>
          <p:cNvPicPr/>
          <p:nvPr/>
        </p:nvPicPr>
        <p:blipFill>
          <a:blip r:embed="rId1"/>
          <a:stretch/>
        </p:blipFill>
        <p:spPr>
          <a:xfrm>
            <a:off x="6395760" y="1508760"/>
            <a:ext cx="5038920" cy="4663080"/>
          </a:xfrm>
          <a:prstGeom prst="rect">
            <a:avLst/>
          </a:prstGeom>
          <a:ln w="12700">
            <a:solidFill>
              <a:srgbClr val="34373d"/>
            </a:solidFill>
            <a:round/>
          </a:ln>
        </p:spPr>
      </p:pic>
      <p:pic>
        <p:nvPicPr>
          <p:cNvPr id="89" name="M1 promote" descr="image.png"/>
          <p:cNvPicPr/>
          <p:nvPr/>
        </p:nvPicPr>
        <p:blipFill>
          <a:blip r:embed="rId2"/>
          <a:stretch/>
        </p:blipFill>
        <p:spPr>
          <a:xfrm>
            <a:off x="6263640" y="1575000"/>
            <a:ext cx="5303160" cy="4530960"/>
          </a:xfrm>
          <a:prstGeom prst="rect">
            <a:avLst/>
          </a:prstGeom>
          <a:ln w="12700">
            <a:solidFill>
              <a:srgbClr val="34373d"/>
            </a:solidFill>
            <a:round/>
          </a:ln>
        </p:spPr>
      </p:pic>
      <p:pic>
        <p:nvPicPr>
          <p:cNvPr id="90" name="M1 run" descr="image.png"/>
          <p:cNvPicPr/>
          <p:nvPr/>
        </p:nvPicPr>
        <p:blipFill>
          <a:blip r:embed="rId3"/>
          <a:stretch/>
        </p:blipFill>
        <p:spPr>
          <a:xfrm>
            <a:off x="6263640" y="1718280"/>
            <a:ext cx="5303160" cy="4243680"/>
          </a:xfrm>
          <a:prstGeom prst="rect">
            <a:avLst/>
          </a:prstGeom>
          <a:ln w="12700">
            <a:solidFill>
              <a:srgbClr val="34373d"/>
            </a:solidFill>
            <a:round/>
          </a:ln>
        </p:spPr>
      </p:pic>
      <p:pic>
        <p:nvPicPr>
          <p:cNvPr id="91" name="M2 plugin code" descr="image.png"/>
          <p:cNvPicPr/>
          <p:nvPr/>
        </p:nvPicPr>
        <p:blipFill>
          <a:blip r:embed="rId4"/>
          <a:stretch/>
        </p:blipFill>
        <p:spPr>
          <a:xfrm>
            <a:off x="6656040" y="1508760"/>
            <a:ext cx="4518360" cy="4663080"/>
          </a:xfrm>
          <a:prstGeom prst="rect">
            <a:avLst/>
          </a:prstGeom>
          <a:ln w="12700">
            <a:solidFill>
              <a:srgbClr val="34373d"/>
            </a:solidFill>
            <a:round/>
          </a:ln>
        </p:spPr>
      </p:pic>
      <p:pic>
        <p:nvPicPr>
          <p:cNvPr id="92" name="M2 designer" descr="image.png"/>
          <p:cNvPicPr/>
          <p:nvPr/>
        </p:nvPicPr>
        <p:blipFill>
          <a:blip r:embed="rId5"/>
          <a:stretch/>
        </p:blipFill>
        <p:spPr>
          <a:xfrm>
            <a:off x="6420600" y="1508760"/>
            <a:ext cx="4989240" cy="4663080"/>
          </a:xfrm>
          <a:prstGeom prst="rect">
            <a:avLst/>
          </a:prstGeom>
          <a:ln w="12700">
            <a:solidFill>
              <a:srgbClr val="34373d"/>
            </a:solidFill>
            <a:round/>
          </a:ln>
        </p:spPr>
      </p:pic>
      <p:pic>
        <p:nvPicPr>
          <p:cNvPr id="93" name="M2 run" descr="image.png"/>
          <p:cNvPicPr/>
          <p:nvPr/>
        </p:nvPicPr>
        <p:blipFill>
          <a:blip r:embed="rId6"/>
          <a:stretch/>
        </p:blipFill>
        <p:spPr>
          <a:xfrm>
            <a:off x="6263640" y="1708920"/>
            <a:ext cx="5303160" cy="4262760"/>
          </a:xfrm>
          <a:prstGeom prst="rect">
            <a:avLst/>
          </a:prstGeom>
          <a:ln w="12700">
            <a:solidFill>
              <a:srgbClr val="34373d"/>
            </a:solidFill>
            <a:round/>
          </a:ln>
        </p:spPr>
      </p:pic>
      <p:sp>
        <p:nvSpPr>
          <p:cNvPr id="94" name="Method 2 issue"/>
          <p:cNvSpPr/>
          <p:nvPr/>
        </p:nvSpPr>
        <p:spPr>
          <a:xfrm>
            <a:off x="1234440" y="3749040"/>
            <a:ext cx="475452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0b35a"/>
                </a:solidFill>
                <a:latin typeface="Calibri"/>
              </a:rPr>
              <a:t>Issue: </a:t>
            </a:r>
            <a:r>
              <a:rPr b="0" lang="en-US" sz="1800" spc="-1" strike="noStrike">
                <a:solidFill>
                  <a:srgbClr val="ffffff"/>
                </a:solidFill>
                <a:latin typeface="Calibri"/>
              </a:rPr>
              <a:t>the whole bounding box is clickable</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6" dur="indefinite" restart="never" nodeType="tmRoot">
          <p:childTnLst>
            <p:seq>
              <p:cTn id="17" dur="indefinite" nodeType="mainSeq">
                <p:childTnLst>
                  <p:par>
                    <p:cTn id="18" fill="hold">
                      <p:stCondLst>
                        <p:cond delay="indefinite"/>
                      </p:stCondLst>
                      <p:childTnLst>
                        <p:par>
                          <p:cTn id="19" fill="hold">
                            <p:stCondLst>
                              <p:cond delay="0"/>
                            </p:stCondLst>
                            <p:childTnLst>
                              <p:par>
                                <p:cTn id="20" nodeType="clickEffect" fill="hold" presetClass="entr" presetID="1">
                                  <p:stCondLst>
                                    <p:cond delay="0"/>
                                  </p:stCondLst>
                                  <p:childTnLst>
                                    <p:set>
                                      <p:cBhvr>
                                        <p:cTn id="21" dur="1" fill="hold">
                                          <p:stCondLst>
                                            <p:cond delay="0"/>
                                          </p:stCondLst>
                                        </p:cTn>
                                        <p:tgtEl>
                                          <p:spTgt spid="82"/>
                                        </p:tgtEl>
                                        <p:attrNameLst>
                                          <p:attrName>style.visibility</p:attrName>
                                        </p:attrNameLst>
                                      </p:cBhvr>
                                      <p:to>
                                        <p:strVal val="visible"/>
                                      </p:to>
                                    </p:set>
                                  </p:childTnLst>
                                </p:cTn>
                              </p:par>
                              <p:par>
                                <p:cTn id="22" nodeType="withEffect" fill="hold" presetClass="entr" presetID="1">
                                  <p:stCondLst>
                                    <p:cond delay="0"/>
                                  </p:stCondLst>
                                  <p:childTnLst>
                                    <p:set>
                                      <p:cBhvr>
                                        <p:cTn id="23" dur="1" fill="hold">
                                          <p:stCondLst>
                                            <p:cond delay="0"/>
                                          </p:stCondLst>
                                        </p:cTn>
                                        <p:tgtEl>
                                          <p:spTgt spid="83"/>
                                        </p:tgtEl>
                                        <p:attrNameLst>
                                          <p:attrName>style.visibility</p:attrName>
                                        </p:attrNameLst>
                                      </p:cBhvr>
                                      <p:to>
                                        <p:strVal val="visible"/>
                                      </p:to>
                                    </p:set>
                                  </p:childTnLst>
                                </p:cTn>
                              </p:par>
                              <p:par>
                                <p:cTn id="24" nodeType="withEffect" fill="hold" presetClass="entr" presetID="53" presetSubtype="16">
                                  <p:stCondLst>
                                    <p:cond delay="0"/>
                                  </p:stCondLst>
                                  <p:childTnLst>
                                    <p:set>
                                      <p:cBhvr>
                                        <p:cTn id="25" dur="1" fill="hold">
                                          <p:stCondLst>
                                            <p:cond delay="0"/>
                                          </p:stCondLst>
                                        </p:cTn>
                                        <p:tgtEl>
                                          <p:spTgt spid="88"/>
                                        </p:tgtEl>
                                        <p:attrNameLst>
                                          <p:attrName>style.visibility</p:attrName>
                                        </p:attrNameLst>
                                      </p:cBhvr>
                                      <p:to>
                                        <p:strVal val="visible"/>
                                      </p:to>
                                    </p:set>
                                    <p:anim calcmode="lin" valueType="num">
                                      <p:cBhvr additive="repl">
                                        <p:cTn id="26" dur="450" fill="hold"/>
                                        <p:tgtEl>
                                          <p:spTgt spid="88"/>
                                        </p:tgtEl>
                                        <p:attrNameLst>
                                          <p:attrName>ppt_w</p:attrName>
                                        </p:attrNameLst>
                                      </p:cBhvr>
                                      <p:tavLst>
                                        <p:tav tm="0">
                                          <p:val>
                                            <p:fltVal val="0"/>
                                          </p:val>
                                        </p:tav>
                                        <p:tav tm="100000">
                                          <p:val>
                                            <p:strVal val="#ppt_w"/>
                                          </p:val>
                                        </p:tav>
                                      </p:tavLst>
                                    </p:anim>
                                    <p:anim calcmode="lin" valueType="num">
                                      <p:cBhvr additive="repl">
                                        <p:cTn id="27" dur="450" fill="hold"/>
                                        <p:tgtEl>
                                          <p:spTgt spid="88"/>
                                        </p:tgtEl>
                                        <p:attrNameLst>
                                          <p:attrName>ppt_h</p:attrName>
                                        </p:attrNameLst>
                                      </p:cBhvr>
                                      <p:tavLst>
                                        <p:tav tm="0">
                                          <p:val>
                                            <p:fltVal val="0"/>
                                          </p:val>
                                        </p:tav>
                                        <p:tav tm="100000">
                                          <p:val>
                                            <p:strVal val="#ppt_h"/>
                                          </p:val>
                                        </p:tav>
                                      </p:tavLst>
                                    </p:anim>
                                    <p:animEffect filter="fade" transition="in">
                                      <p:cBhvr additive="repl">
                                        <p:cTn id="28" dur="450"/>
                                        <p:tgtEl>
                                          <p:spTgt spid="88"/>
                                        </p:tgtEl>
                                      </p:cBhvr>
                                    </p:animEffect>
                                  </p:childTnLst>
                                </p:cTn>
                              </p:par>
                            </p:childTnLst>
                          </p:cTn>
                        </p:par>
                      </p:childTnLst>
                    </p:cTn>
                  </p:par>
                  <p:par>
                    <p:cTn id="29" fill="hold">
                      <p:stCondLst>
                        <p:cond delay="indefinite"/>
                      </p:stCondLst>
                      <p:childTnLst>
                        <p:par>
                          <p:cTn id="30" fill="hold">
                            <p:stCondLst>
                              <p:cond delay="0"/>
                            </p:stCondLst>
                            <p:childTnLst>
                              <p:par>
                                <p:cTn id="31" nodeType="clickEffect" fill="hold" presetClass="exit" presetID="53" presetSubtype="16">
                                  <p:stCondLst>
                                    <p:cond delay="0"/>
                                  </p:stCondLst>
                                  <p:childTnLst>
                                    <p:anim calcmode="lin" valueType="num">
                                      <p:cBhvr additive="repl">
                                        <p:cTn id="32" dur="350" fill="hold"/>
                                        <p:tgtEl>
                                          <p:spTgt spid="88"/>
                                        </p:tgtEl>
                                        <p:attrNameLst>
                                          <p:attrName>ppt_w</p:attrName>
                                        </p:attrNameLst>
                                      </p:cBhvr>
                                      <p:tavLst>
                                        <p:tav tm="0">
                                          <p:val>
                                            <p:strVal val="#ppt_w"/>
                                          </p:val>
                                        </p:tav>
                                        <p:tav tm="100000">
                                          <p:val>
                                            <p:fltVal val="0"/>
                                          </p:val>
                                        </p:tav>
                                      </p:tavLst>
                                    </p:anim>
                                    <p:anim calcmode="lin" valueType="num">
                                      <p:cBhvr additive="repl">
                                        <p:cTn id="33" dur="350" fill="hold"/>
                                        <p:tgtEl>
                                          <p:spTgt spid="88"/>
                                        </p:tgtEl>
                                        <p:attrNameLst>
                                          <p:attrName>ppt_h</p:attrName>
                                        </p:attrNameLst>
                                      </p:cBhvr>
                                      <p:tavLst>
                                        <p:tav tm="0">
                                          <p:val>
                                            <p:strVal val="#ppt_h"/>
                                          </p:val>
                                        </p:tav>
                                        <p:tav tm="100000">
                                          <p:val>
                                            <p:fltVal val="0"/>
                                          </p:val>
                                        </p:tav>
                                      </p:tavLst>
                                    </p:anim>
                                    <p:animEffect filter="fade" transition="out">
                                      <p:cBhvr additive="repl">
                                        <p:cTn id="34" dur="350"/>
                                        <p:tgtEl>
                                          <p:spTgt spid="88"/>
                                        </p:tgtEl>
                                      </p:cBhvr>
                                    </p:animEffect>
                                    <p:set>
                                      <p:cBhvr>
                                        <p:cTn id="35" dur="1" fill="hold">
                                          <p:stCondLst>
                                            <p:cond delay="349"/>
                                          </p:stCondLst>
                                        </p:cTn>
                                        <p:tgtEl>
                                          <p:spTgt spid="88"/>
                                        </p:tgtEl>
                                        <p:attrNameLst>
                                          <p:attrName>style.visibility</p:attrName>
                                        </p:attrNameLst>
                                      </p:cBhvr>
                                      <p:to>
                                        <p:strVal val="hidden"/>
                                      </p:to>
                                    </p:set>
                                  </p:childTnLst>
                                </p:cTn>
                              </p:par>
                              <p:par>
                                <p:cTn id="36" nodeType="withEffect" fill="hold" presetClass="entr" presetID="53" presetSubtype="16">
                                  <p:stCondLst>
                                    <p:cond delay="0"/>
                                  </p:stCondLst>
                                  <p:childTnLst>
                                    <p:set>
                                      <p:cBhvr>
                                        <p:cTn id="37" dur="1" fill="hold">
                                          <p:stCondLst>
                                            <p:cond delay="0"/>
                                          </p:stCondLst>
                                        </p:cTn>
                                        <p:tgtEl>
                                          <p:spTgt spid="89"/>
                                        </p:tgtEl>
                                        <p:attrNameLst>
                                          <p:attrName>style.visibility</p:attrName>
                                        </p:attrNameLst>
                                      </p:cBhvr>
                                      <p:to>
                                        <p:strVal val="visible"/>
                                      </p:to>
                                    </p:set>
                                    <p:anim calcmode="lin" valueType="num">
                                      <p:cBhvr additive="repl">
                                        <p:cTn id="38" dur="450" fill="hold"/>
                                        <p:tgtEl>
                                          <p:spTgt spid="89"/>
                                        </p:tgtEl>
                                        <p:attrNameLst>
                                          <p:attrName>ppt_w</p:attrName>
                                        </p:attrNameLst>
                                      </p:cBhvr>
                                      <p:tavLst>
                                        <p:tav tm="0">
                                          <p:val>
                                            <p:fltVal val="0"/>
                                          </p:val>
                                        </p:tav>
                                        <p:tav tm="100000">
                                          <p:val>
                                            <p:strVal val="#ppt_w"/>
                                          </p:val>
                                        </p:tav>
                                      </p:tavLst>
                                    </p:anim>
                                    <p:anim calcmode="lin" valueType="num">
                                      <p:cBhvr additive="repl">
                                        <p:cTn id="39" dur="450" fill="hold"/>
                                        <p:tgtEl>
                                          <p:spTgt spid="89"/>
                                        </p:tgtEl>
                                        <p:attrNameLst>
                                          <p:attrName>ppt_h</p:attrName>
                                        </p:attrNameLst>
                                      </p:cBhvr>
                                      <p:tavLst>
                                        <p:tav tm="0">
                                          <p:val>
                                            <p:fltVal val="0"/>
                                          </p:val>
                                        </p:tav>
                                        <p:tav tm="100000">
                                          <p:val>
                                            <p:strVal val="#ppt_h"/>
                                          </p:val>
                                        </p:tav>
                                      </p:tavLst>
                                    </p:anim>
                                    <p:animEffect filter="fade" transition="in">
                                      <p:cBhvr additive="repl">
                                        <p:cTn id="40" dur="450"/>
                                        <p:tgtEl>
                                          <p:spTgt spid="89"/>
                                        </p:tgtEl>
                                      </p:cBhvr>
                                    </p:animEffect>
                                  </p:childTnLst>
                                </p:cTn>
                              </p:par>
                            </p:childTnLst>
                          </p:cTn>
                        </p:par>
                      </p:childTnLst>
                    </p:cTn>
                  </p:par>
                  <p:par>
                    <p:cTn id="41" fill="hold">
                      <p:stCondLst>
                        <p:cond delay="indefinite"/>
                      </p:stCondLst>
                      <p:childTnLst>
                        <p:par>
                          <p:cTn id="42" fill="hold">
                            <p:stCondLst>
                              <p:cond delay="0"/>
                            </p:stCondLst>
                            <p:childTnLst>
                              <p:par>
                                <p:cTn id="43" nodeType="clickEffect" fill="hold" presetClass="exit" presetID="53" presetSubtype="16">
                                  <p:stCondLst>
                                    <p:cond delay="0"/>
                                  </p:stCondLst>
                                  <p:childTnLst>
                                    <p:anim calcmode="lin" valueType="num">
                                      <p:cBhvr additive="repl">
                                        <p:cTn id="44" dur="350" fill="hold"/>
                                        <p:tgtEl>
                                          <p:spTgt spid="89"/>
                                        </p:tgtEl>
                                        <p:attrNameLst>
                                          <p:attrName>ppt_w</p:attrName>
                                        </p:attrNameLst>
                                      </p:cBhvr>
                                      <p:tavLst>
                                        <p:tav tm="0">
                                          <p:val>
                                            <p:strVal val="#ppt_w"/>
                                          </p:val>
                                        </p:tav>
                                        <p:tav tm="100000">
                                          <p:val>
                                            <p:fltVal val="0"/>
                                          </p:val>
                                        </p:tav>
                                      </p:tavLst>
                                    </p:anim>
                                    <p:anim calcmode="lin" valueType="num">
                                      <p:cBhvr additive="repl">
                                        <p:cTn id="45" dur="350" fill="hold"/>
                                        <p:tgtEl>
                                          <p:spTgt spid="89"/>
                                        </p:tgtEl>
                                        <p:attrNameLst>
                                          <p:attrName>ppt_h</p:attrName>
                                        </p:attrNameLst>
                                      </p:cBhvr>
                                      <p:tavLst>
                                        <p:tav tm="0">
                                          <p:val>
                                            <p:strVal val="#ppt_h"/>
                                          </p:val>
                                        </p:tav>
                                        <p:tav tm="100000">
                                          <p:val>
                                            <p:fltVal val="0"/>
                                          </p:val>
                                        </p:tav>
                                      </p:tavLst>
                                    </p:anim>
                                    <p:animEffect filter="fade" transition="out">
                                      <p:cBhvr additive="repl">
                                        <p:cTn id="46" dur="350"/>
                                        <p:tgtEl>
                                          <p:spTgt spid="89"/>
                                        </p:tgtEl>
                                      </p:cBhvr>
                                    </p:animEffect>
                                    <p:set>
                                      <p:cBhvr>
                                        <p:cTn id="47" dur="1" fill="hold">
                                          <p:stCondLst>
                                            <p:cond delay="349"/>
                                          </p:stCondLst>
                                        </p:cTn>
                                        <p:tgtEl>
                                          <p:spTgt spid="89"/>
                                        </p:tgtEl>
                                        <p:attrNameLst>
                                          <p:attrName>style.visibility</p:attrName>
                                        </p:attrNameLst>
                                      </p:cBhvr>
                                      <p:to>
                                        <p:strVal val="hidden"/>
                                      </p:to>
                                    </p:set>
                                  </p:childTnLst>
                                </p:cTn>
                              </p:par>
                              <p:par>
                                <p:cTn id="48" nodeType="withEffect" fill="hold" presetClass="entr" presetID="53" presetSubtype="16">
                                  <p:stCondLst>
                                    <p:cond delay="0"/>
                                  </p:stCondLst>
                                  <p:childTnLst>
                                    <p:set>
                                      <p:cBhvr>
                                        <p:cTn id="49" dur="1" fill="hold">
                                          <p:stCondLst>
                                            <p:cond delay="0"/>
                                          </p:stCondLst>
                                        </p:cTn>
                                        <p:tgtEl>
                                          <p:spTgt spid="90"/>
                                        </p:tgtEl>
                                        <p:attrNameLst>
                                          <p:attrName>style.visibility</p:attrName>
                                        </p:attrNameLst>
                                      </p:cBhvr>
                                      <p:to>
                                        <p:strVal val="visible"/>
                                      </p:to>
                                    </p:set>
                                    <p:anim calcmode="lin" valueType="num">
                                      <p:cBhvr additive="repl">
                                        <p:cTn id="50" dur="450" fill="hold"/>
                                        <p:tgtEl>
                                          <p:spTgt spid="90"/>
                                        </p:tgtEl>
                                        <p:attrNameLst>
                                          <p:attrName>ppt_w</p:attrName>
                                        </p:attrNameLst>
                                      </p:cBhvr>
                                      <p:tavLst>
                                        <p:tav tm="0">
                                          <p:val>
                                            <p:fltVal val="0"/>
                                          </p:val>
                                        </p:tav>
                                        <p:tav tm="100000">
                                          <p:val>
                                            <p:strVal val="#ppt_w"/>
                                          </p:val>
                                        </p:tav>
                                      </p:tavLst>
                                    </p:anim>
                                    <p:anim calcmode="lin" valueType="num">
                                      <p:cBhvr additive="repl">
                                        <p:cTn id="51" dur="450" fill="hold"/>
                                        <p:tgtEl>
                                          <p:spTgt spid="90"/>
                                        </p:tgtEl>
                                        <p:attrNameLst>
                                          <p:attrName>ppt_h</p:attrName>
                                        </p:attrNameLst>
                                      </p:cBhvr>
                                      <p:tavLst>
                                        <p:tav tm="0">
                                          <p:val>
                                            <p:fltVal val="0"/>
                                          </p:val>
                                        </p:tav>
                                        <p:tav tm="100000">
                                          <p:val>
                                            <p:strVal val="#ppt_h"/>
                                          </p:val>
                                        </p:tav>
                                      </p:tavLst>
                                    </p:anim>
                                    <p:animEffect filter="fade" transition="in">
                                      <p:cBhvr additive="repl">
                                        <p:cTn id="52" dur="450"/>
                                        <p:tgtEl>
                                          <p:spTgt spid="90"/>
                                        </p:tgtEl>
                                      </p:cBhvr>
                                    </p:animEffect>
                                  </p:childTnLst>
                                </p:cTn>
                              </p:par>
                              <p:par>
                                <p:cTn id="53" nodeType="withEffect" fill="hold" presetClass="entr" presetID="1">
                                  <p:stCondLst>
                                    <p:cond delay="0"/>
                                  </p:stCondLst>
                                  <p:childTnLst>
                                    <p:set>
                                      <p:cBhvr>
                                        <p:cTn id="54" dur="1" fill="hold">
                                          <p:stCondLst>
                                            <p:cond delay="0"/>
                                          </p:stCondLst>
                                        </p:cTn>
                                        <p:tgtEl>
                                          <p:spTgt spid="8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xit" presetID="53" presetSubtype="16">
                                  <p:stCondLst>
                                    <p:cond delay="0"/>
                                  </p:stCondLst>
                                  <p:childTnLst>
                                    <p:anim calcmode="lin" valueType="num">
                                      <p:cBhvr additive="repl">
                                        <p:cTn id="58" dur="350" fill="hold"/>
                                        <p:tgtEl>
                                          <p:spTgt spid="90"/>
                                        </p:tgtEl>
                                        <p:attrNameLst>
                                          <p:attrName>ppt_w</p:attrName>
                                        </p:attrNameLst>
                                      </p:cBhvr>
                                      <p:tavLst>
                                        <p:tav tm="0">
                                          <p:val>
                                            <p:strVal val="#ppt_w"/>
                                          </p:val>
                                        </p:tav>
                                        <p:tav tm="100000">
                                          <p:val>
                                            <p:fltVal val="0"/>
                                          </p:val>
                                        </p:tav>
                                      </p:tavLst>
                                    </p:anim>
                                    <p:anim calcmode="lin" valueType="num">
                                      <p:cBhvr additive="repl">
                                        <p:cTn id="59" dur="350" fill="hold"/>
                                        <p:tgtEl>
                                          <p:spTgt spid="90"/>
                                        </p:tgtEl>
                                        <p:attrNameLst>
                                          <p:attrName>ppt_h</p:attrName>
                                        </p:attrNameLst>
                                      </p:cBhvr>
                                      <p:tavLst>
                                        <p:tav tm="0">
                                          <p:val>
                                            <p:strVal val="#ppt_h"/>
                                          </p:val>
                                        </p:tav>
                                        <p:tav tm="100000">
                                          <p:val>
                                            <p:fltVal val="0"/>
                                          </p:val>
                                        </p:tav>
                                      </p:tavLst>
                                    </p:anim>
                                    <p:animEffect filter="fade" transition="out">
                                      <p:cBhvr additive="repl">
                                        <p:cTn id="60" dur="350"/>
                                        <p:tgtEl>
                                          <p:spTgt spid="90"/>
                                        </p:tgtEl>
                                      </p:cBhvr>
                                    </p:animEffect>
                                    <p:set>
                                      <p:cBhvr>
                                        <p:cTn id="61" dur="1" fill="hold">
                                          <p:stCondLst>
                                            <p:cond delay="349"/>
                                          </p:stCondLst>
                                        </p:cTn>
                                        <p:tgtEl>
                                          <p:spTgt spid="90"/>
                                        </p:tgtEl>
                                        <p:attrNameLst>
                                          <p:attrName>style.visibility</p:attrName>
                                        </p:attrNameLst>
                                      </p:cBhvr>
                                      <p:to>
                                        <p:strVal val="hidden"/>
                                      </p:to>
                                    </p:set>
                                  </p:childTnLst>
                                </p:cTn>
                              </p:par>
                              <p:par>
                                <p:cTn id="62" nodeType="withEffect" fill="hold" presetClass="entr" presetID="1">
                                  <p:stCondLst>
                                    <p:cond delay="0"/>
                                  </p:stCondLst>
                                  <p:childTnLst>
                                    <p:set>
                                      <p:cBhvr>
                                        <p:cTn id="63" dur="1" fill="hold">
                                          <p:stCondLst>
                                            <p:cond delay="0"/>
                                          </p:stCondLst>
                                        </p:cTn>
                                        <p:tgtEl>
                                          <p:spTgt spid="85"/>
                                        </p:tgtEl>
                                        <p:attrNameLst>
                                          <p:attrName>style.visibility</p:attrName>
                                        </p:attrNameLst>
                                      </p:cBhvr>
                                      <p:to>
                                        <p:strVal val="visible"/>
                                      </p:to>
                                    </p:set>
                                  </p:childTnLst>
                                </p:cTn>
                              </p:par>
                              <p:par>
                                <p:cTn id="64" nodeType="withEffect" fill="hold" presetClass="entr" presetID="1">
                                  <p:stCondLst>
                                    <p:cond delay="0"/>
                                  </p:stCondLst>
                                  <p:childTnLst>
                                    <p:set>
                                      <p:cBhvr>
                                        <p:cTn id="65" dur="1" fill="hold">
                                          <p:stCondLst>
                                            <p:cond delay="0"/>
                                          </p:stCondLst>
                                        </p:cTn>
                                        <p:tgtEl>
                                          <p:spTgt spid="86"/>
                                        </p:tgtEl>
                                        <p:attrNameLst>
                                          <p:attrName>style.visibility</p:attrName>
                                        </p:attrNameLst>
                                      </p:cBhvr>
                                      <p:to>
                                        <p:strVal val="visible"/>
                                      </p:to>
                                    </p:set>
                                  </p:childTnLst>
                                </p:cTn>
                              </p:par>
                              <p:par>
                                <p:cTn id="66" nodeType="withEffect" fill="hold" presetClass="entr" presetID="53" presetSubtype="16">
                                  <p:stCondLst>
                                    <p:cond delay="0"/>
                                  </p:stCondLst>
                                  <p:childTnLst>
                                    <p:set>
                                      <p:cBhvr>
                                        <p:cTn id="67" dur="1" fill="hold">
                                          <p:stCondLst>
                                            <p:cond delay="0"/>
                                          </p:stCondLst>
                                        </p:cTn>
                                        <p:tgtEl>
                                          <p:spTgt spid="91"/>
                                        </p:tgtEl>
                                        <p:attrNameLst>
                                          <p:attrName>style.visibility</p:attrName>
                                        </p:attrNameLst>
                                      </p:cBhvr>
                                      <p:to>
                                        <p:strVal val="visible"/>
                                      </p:to>
                                    </p:set>
                                    <p:anim calcmode="lin" valueType="num">
                                      <p:cBhvr additive="repl">
                                        <p:cTn id="68" dur="450" fill="hold"/>
                                        <p:tgtEl>
                                          <p:spTgt spid="91"/>
                                        </p:tgtEl>
                                        <p:attrNameLst>
                                          <p:attrName>ppt_w</p:attrName>
                                        </p:attrNameLst>
                                      </p:cBhvr>
                                      <p:tavLst>
                                        <p:tav tm="0">
                                          <p:val>
                                            <p:fltVal val="0"/>
                                          </p:val>
                                        </p:tav>
                                        <p:tav tm="100000">
                                          <p:val>
                                            <p:strVal val="#ppt_w"/>
                                          </p:val>
                                        </p:tav>
                                      </p:tavLst>
                                    </p:anim>
                                    <p:anim calcmode="lin" valueType="num">
                                      <p:cBhvr additive="repl">
                                        <p:cTn id="69" dur="450" fill="hold"/>
                                        <p:tgtEl>
                                          <p:spTgt spid="91"/>
                                        </p:tgtEl>
                                        <p:attrNameLst>
                                          <p:attrName>ppt_h</p:attrName>
                                        </p:attrNameLst>
                                      </p:cBhvr>
                                      <p:tavLst>
                                        <p:tav tm="0">
                                          <p:val>
                                            <p:fltVal val="0"/>
                                          </p:val>
                                        </p:tav>
                                        <p:tav tm="100000">
                                          <p:val>
                                            <p:strVal val="#ppt_h"/>
                                          </p:val>
                                        </p:tav>
                                      </p:tavLst>
                                    </p:anim>
                                    <p:animEffect filter="fade" transition="in">
                                      <p:cBhvr additive="repl">
                                        <p:cTn id="70" dur="450"/>
                                        <p:tgtEl>
                                          <p:spTgt spid="91"/>
                                        </p:tgtEl>
                                      </p:cBhvr>
                                    </p:animEffect>
                                  </p:childTnLst>
                                </p:cTn>
                              </p:par>
                            </p:childTnLst>
                          </p:cTn>
                        </p:par>
                      </p:childTnLst>
                    </p:cTn>
                  </p:par>
                  <p:par>
                    <p:cTn id="71" fill="hold">
                      <p:stCondLst>
                        <p:cond delay="indefinite"/>
                      </p:stCondLst>
                      <p:childTnLst>
                        <p:par>
                          <p:cTn id="72" fill="hold">
                            <p:stCondLst>
                              <p:cond delay="0"/>
                            </p:stCondLst>
                            <p:childTnLst>
                              <p:par>
                                <p:cTn id="73" nodeType="clickEffect" fill="hold" presetClass="exit" presetID="53" presetSubtype="16">
                                  <p:stCondLst>
                                    <p:cond delay="0"/>
                                  </p:stCondLst>
                                  <p:childTnLst>
                                    <p:anim calcmode="lin" valueType="num">
                                      <p:cBhvr additive="repl">
                                        <p:cTn id="74" dur="350" fill="hold"/>
                                        <p:tgtEl>
                                          <p:spTgt spid="91"/>
                                        </p:tgtEl>
                                        <p:attrNameLst>
                                          <p:attrName>ppt_w</p:attrName>
                                        </p:attrNameLst>
                                      </p:cBhvr>
                                      <p:tavLst>
                                        <p:tav tm="0">
                                          <p:val>
                                            <p:strVal val="#ppt_w"/>
                                          </p:val>
                                        </p:tav>
                                        <p:tav tm="100000">
                                          <p:val>
                                            <p:fltVal val="0"/>
                                          </p:val>
                                        </p:tav>
                                      </p:tavLst>
                                    </p:anim>
                                    <p:anim calcmode="lin" valueType="num">
                                      <p:cBhvr additive="repl">
                                        <p:cTn id="75" dur="350" fill="hold"/>
                                        <p:tgtEl>
                                          <p:spTgt spid="91"/>
                                        </p:tgtEl>
                                        <p:attrNameLst>
                                          <p:attrName>ppt_h</p:attrName>
                                        </p:attrNameLst>
                                      </p:cBhvr>
                                      <p:tavLst>
                                        <p:tav tm="0">
                                          <p:val>
                                            <p:strVal val="#ppt_h"/>
                                          </p:val>
                                        </p:tav>
                                        <p:tav tm="100000">
                                          <p:val>
                                            <p:fltVal val="0"/>
                                          </p:val>
                                        </p:tav>
                                      </p:tavLst>
                                    </p:anim>
                                    <p:animEffect filter="fade" transition="out">
                                      <p:cBhvr additive="repl">
                                        <p:cTn id="76" dur="350"/>
                                        <p:tgtEl>
                                          <p:spTgt spid="91"/>
                                        </p:tgtEl>
                                      </p:cBhvr>
                                    </p:animEffect>
                                    <p:set>
                                      <p:cBhvr>
                                        <p:cTn id="77" dur="1" fill="hold">
                                          <p:stCondLst>
                                            <p:cond delay="349"/>
                                          </p:stCondLst>
                                        </p:cTn>
                                        <p:tgtEl>
                                          <p:spTgt spid="91"/>
                                        </p:tgtEl>
                                        <p:attrNameLst>
                                          <p:attrName>style.visibility</p:attrName>
                                        </p:attrNameLst>
                                      </p:cBhvr>
                                      <p:to>
                                        <p:strVal val="hidden"/>
                                      </p:to>
                                    </p:set>
                                  </p:childTnLst>
                                </p:cTn>
                              </p:par>
                              <p:par>
                                <p:cTn id="78" nodeType="withEffect" fill="hold" presetClass="entr" presetID="53" presetSubtype="16">
                                  <p:stCondLst>
                                    <p:cond delay="0"/>
                                  </p:stCondLst>
                                  <p:childTnLst>
                                    <p:set>
                                      <p:cBhvr>
                                        <p:cTn id="79" dur="1" fill="hold">
                                          <p:stCondLst>
                                            <p:cond delay="0"/>
                                          </p:stCondLst>
                                        </p:cTn>
                                        <p:tgtEl>
                                          <p:spTgt spid="92"/>
                                        </p:tgtEl>
                                        <p:attrNameLst>
                                          <p:attrName>style.visibility</p:attrName>
                                        </p:attrNameLst>
                                      </p:cBhvr>
                                      <p:to>
                                        <p:strVal val="visible"/>
                                      </p:to>
                                    </p:set>
                                    <p:anim calcmode="lin" valueType="num">
                                      <p:cBhvr additive="repl">
                                        <p:cTn id="80" dur="450" fill="hold"/>
                                        <p:tgtEl>
                                          <p:spTgt spid="92"/>
                                        </p:tgtEl>
                                        <p:attrNameLst>
                                          <p:attrName>ppt_w</p:attrName>
                                        </p:attrNameLst>
                                      </p:cBhvr>
                                      <p:tavLst>
                                        <p:tav tm="0">
                                          <p:val>
                                            <p:fltVal val="0"/>
                                          </p:val>
                                        </p:tav>
                                        <p:tav tm="100000">
                                          <p:val>
                                            <p:strVal val="#ppt_w"/>
                                          </p:val>
                                        </p:tav>
                                      </p:tavLst>
                                    </p:anim>
                                    <p:anim calcmode="lin" valueType="num">
                                      <p:cBhvr additive="repl">
                                        <p:cTn id="81" dur="450" fill="hold"/>
                                        <p:tgtEl>
                                          <p:spTgt spid="92"/>
                                        </p:tgtEl>
                                        <p:attrNameLst>
                                          <p:attrName>ppt_h</p:attrName>
                                        </p:attrNameLst>
                                      </p:cBhvr>
                                      <p:tavLst>
                                        <p:tav tm="0">
                                          <p:val>
                                            <p:fltVal val="0"/>
                                          </p:val>
                                        </p:tav>
                                        <p:tav tm="100000">
                                          <p:val>
                                            <p:strVal val="#ppt_h"/>
                                          </p:val>
                                        </p:tav>
                                      </p:tavLst>
                                    </p:anim>
                                    <p:animEffect filter="fade" transition="in">
                                      <p:cBhvr additive="repl">
                                        <p:cTn id="82" dur="450"/>
                                        <p:tgtEl>
                                          <p:spTgt spid="92"/>
                                        </p:tgtEl>
                                      </p:cBhvr>
                                    </p:animEffect>
                                  </p:childTnLst>
                                </p:cTn>
                              </p:par>
                            </p:childTnLst>
                          </p:cTn>
                        </p:par>
                      </p:childTnLst>
                    </p:cTn>
                  </p:par>
                  <p:par>
                    <p:cTn id="83" fill="hold">
                      <p:stCondLst>
                        <p:cond delay="indefinite"/>
                      </p:stCondLst>
                      <p:childTnLst>
                        <p:par>
                          <p:cTn id="84" fill="hold">
                            <p:stCondLst>
                              <p:cond delay="0"/>
                            </p:stCondLst>
                            <p:childTnLst>
                              <p:par>
                                <p:cTn id="85" nodeType="clickEffect" fill="hold" presetClass="exit" presetID="53" presetSubtype="16">
                                  <p:stCondLst>
                                    <p:cond delay="0"/>
                                  </p:stCondLst>
                                  <p:childTnLst>
                                    <p:anim calcmode="lin" valueType="num">
                                      <p:cBhvr additive="repl">
                                        <p:cTn id="86" dur="350" fill="hold"/>
                                        <p:tgtEl>
                                          <p:spTgt spid="92"/>
                                        </p:tgtEl>
                                        <p:attrNameLst>
                                          <p:attrName>ppt_w</p:attrName>
                                        </p:attrNameLst>
                                      </p:cBhvr>
                                      <p:tavLst>
                                        <p:tav tm="0">
                                          <p:val>
                                            <p:strVal val="#ppt_w"/>
                                          </p:val>
                                        </p:tav>
                                        <p:tav tm="100000">
                                          <p:val>
                                            <p:fltVal val="0"/>
                                          </p:val>
                                        </p:tav>
                                      </p:tavLst>
                                    </p:anim>
                                    <p:anim calcmode="lin" valueType="num">
                                      <p:cBhvr additive="repl">
                                        <p:cTn id="87" dur="350" fill="hold"/>
                                        <p:tgtEl>
                                          <p:spTgt spid="92"/>
                                        </p:tgtEl>
                                        <p:attrNameLst>
                                          <p:attrName>ppt_h</p:attrName>
                                        </p:attrNameLst>
                                      </p:cBhvr>
                                      <p:tavLst>
                                        <p:tav tm="0">
                                          <p:val>
                                            <p:strVal val="#ppt_h"/>
                                          </p:val>
                                        </p:tav>
                                        <p:tav tm="100000">
                                          <p:val>
                                            <p:fltVal val="0"/>
                                          </p:val>
                                        </p:tav>
                                      </p:tavLst>
                                    </p:anim>
                                    <p:animEffect filter="fade" transition="out">
                                      <p:cBhvr additive="repl">
                                        <p:cTn id="88" dur="350"/>
                                        <p:tgtEl>
                                          <p:spTgt spid="92"/>
                                        </p:tgtEl>
                                      </p:cBhvr>
                                    </p:animEffect>
                                    <p:set>
                                      <p:cBhvr>
                                        <p:cTn id="89" dur="1" fill="hold">
                                          <p:stCondLst>
                                            <p:cond delay="349"/>
                                          </p:stCondLst>
                                        </p:cTn>
                                        <p:tgtEl>
                                          <p:spTgt spid="92"/>
                                        </p:tgtEl>
                                        <p:attrNameLst>
                                          <p:attrName>style.visibility</p:attrName>
                                        </p:attrNameLst>
                                      </p:cBhvr>
                                      <p:to>
                                        <p:strVal val="hidden"/>
                                      </p:to>
                                    </p:set>
                                  </p:childTnLst>
                                </p:cTn>
                              </p:par>
                              <p:par>
                                <p:cTn id="90" nodeType="withEffect" fill="hold" presetClass="entr" presetID="53" presetSubtype="16">
                                  <p:stCondLst>
                                    <p:cond delay="0"/>
                                  </p:stCondLst>
                                  <p:childTnLst>
                                    <p:set>
                                      <p:cBhvr>
                                        <p:cTn id="91" dur="1" fill="hold">
                                          <p:stCondLst>
                                            <p:cond delay="0"/>
                                          </p:stCondLst>
                                        </p:cTn>
                                        <p:tgtEl>
                                          <p:spTgt spid="93"/>
                                        </p:tgtEl>
                                        <p:attrNameLst>
                                          <p:attrName>style.visibility</p:attrName>
                                        </p:attrNameLst>
                                      </p:cBhvr>
                                      <p:to>
                                        <p:strVal val="visible"/>
                                      </p:to>
                                    </p:set>
                                    <p:anim calcmode="lin" valueType="num">
                                      <p:cBhvr additive="repl">
                                        <p:cTn id="92" dur="450" fill="hold"/>
                                        <p:tgtEl>
                                          <p:spTgt spid="93"/>
                                        </p:tgtEl>
                                        <p:attrNameLst>
                                          <p:attrName>ppt_w</p:attrName>
                                        </p:attrNameLst>
                                      </p:cBhvr>
                                      <p:tavLst>
                                        <p:tav tm="0">
                                          <p:val>
                                            <p:fltVal val="0"/>
                                          </p:val>
                                        </p:tav>
                                        <p:tav tm="100000">
                                          <p:val>
                                            <p:strVal val="#ppt_w"/>
                                          </p:val>
                                        </p:tav>
                                      </p:tavLst>
                                    </p:anim>
                                    <p:anim calcmode="lin" valueType="num">
                                      <p:cBhvr additive="repl">
                                        <p:cTn id="93" dur="450" fill="hold"/>
                                        <p:tgtEl>
                                          <p:spTgt spid="93"/>
                                        </p:tgtEl>
                                        <p:attrNameLst>
                                          <p:attrName>ppt_h</p:attrName>
                                        </p:attrNameLst>
                                      </p:cBhvr>
                                      <p:tavLst>
                                        <p:tav tm="0">
                                          <p:val>
                                            <p:fltVal val="0"/>
                                          </p:val>
                                        </p:tav>
                                        <p:tav tm="100000">
                                          <p:val>
                                            <p:strVal val="#ppt_h"/>
                                          </p:val>
                                        </p:tav>
                                      </p:tavLst>
                                    </p:anim>
                                    <p:animEffect filter="fade" transition="in">
                                      <p:cBhvr additive="repl">
                                        <p:cTn id="94" dur="450"/>
                                        <p:tgtEl>
                                          <p:spTgt spid="93"/>
                                        </p:tgtEl>
                                      </p:cBhvr>
                                    </p:animEffect>
                                  </p:childTnLst>
                                </p:cTn>
                              </p:par>
                              <p:par>
                                <p:cTn id="95" nodeType="withEffect" fill="hold" presetClass="entr" presetID="1">
                                  <p:stCondLst>
                                    <p:cond delay="0"/>
                                  </p:stCondLst>
                                  <p:childTnLst>
                                    <p:set>
                                      <p:cBhvr>
                                        <p:cTn id="96" dur="1" fill="hold">
                                          <p:stCondLst>
                                            <p:cond delay="0"/>
                                          </p:stCondLst>
                                        </p:cTn>
                                        <p:tgtEl>
                                          <p:spTgt spid="9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95" name="Title"/>
          <p:cNvSpPr/>
          <p:nvPr/>
        </p:nvSpPr>
        <p:spPr>
          <a:xfrm>
            <a:off x="548640" y="411480"/>
            <a:ext cx="86864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Custom Component </a:t>
            </a:r>
            <a:r>
              <a:rPr b="1" lang="en-US" sz="3600" spc="-1" strike="noStrike">
                <a:solidFill>
                  <a:srgbClr val="5fd38d"/>
                </a:solidFill>
                <a:latin typeface="Calibri"/>
              </a:rPr>
              <a:t>(QML)</a:t>
            </a:r>
            <a:endParaRPr b="0" lang="en-US" sz="3600" spc="-1" strike="noStrike">
              <a:solidFill>
                <a:srgbClr val="ffffff"/>
              </a:solidFill>
              <a:latin typeface="Arial"/>
            </a:endParaRPr>
          </a:p>
        </p:txBody>
      </p:sp>
      <p:sp>
        <p:nvSpPr>
          <p:cNvPr id="96" name="Step 1 number"/>
          <p:cNvSpPr/>
          <p:nvPr/>
        </p:nvSpPr>
        <p:spPr>
          <a:xfrm>
            <a:off x="548640" y="1737360"/>
            <a:ext cx="639720" cy="335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5fd38d"/>
                </a:solidFill>
                <a:latin typeface="Consolas"/>
              </a:rPr>
              <a:t>01</a:t>
            </a:r>
            <a:endParaRPr b="0" lang="en-US" sz="2200" spc="-1" strike="noStrike">
              <a:solidFill>
                <a:srgbClr val="ffffff"/>
              </a:solidFill>
              <a:latin typeface="Arial"/>
            </a:endParaRPr>
          </a:p>
        </p:txBody>
      </p:sp>
      <p:sp>
        <p:nvSpPr>
          <p:cNvPr id="97" name="Step 1"/>
          <p:cNvSpPr/>
          <p:nvPr/>
        </p:nvSpPr>
        <p:spPr>
          <a:xfrm>
            <a:off x="1234440" y="1719000"/>
            <a:ext cx="484596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ffffff"/>
                </a:solidFill>
                <a:latin typeface="Calibri"/>
              </a:rPr>
              <a:t>Copy the SVG path → </a:t>
            </a:r>
            <a:r>
              <a:rPr b="1" lang="en-US" sz="2400" spc="-1" strike="noStrike">
                <a:solidFill>
                  <a:srgbClr val="5fd38d"/>
                </a:solidFill>
                <a:latin typeface="Consolas"/>
              </a:rPr>
              <a:t>PathSvg</a:t>
            </a:r>
            <a:endParaRPr b="0" lang="en-US" sz="2400" spc="-1" strike="noStrike">
              <a:solidFill>
                <a:srgbClr val="ffffff"/>
              </a:solidFill>
              <a:latin typeface="Arial"/>
            </a:endParaRPr>
          </a:p>
        </p:txBody>
      </p:sp>
      <p:sp>
        <p:nvSpPr>
          <p:cNvPr id="98" name="Step 2 number"/>
          <p:cNvSpPr/>
          <p:nvPr/>
        </p:nvSpPr>
        <p:spPr>
          <a:xfrm>
            <a:off x="548640" y="2651760"/>
            <a:ext cx="639720" cy="335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5fd38d"/>
                </a:solidFill>
                <a:latin typeface="Consolas"/>
              </a:rPr>
              <a:t>02</a:t>
            </a:r>
            <a:endParaRPr b="0" lang="en-US" sz="2200" spc="-1" strike="noStrike">
              <a:solidFill>
                <a:srgbClr val="ffffff"/>
              </a:solidFill>
              <a:latin typeface="Arial"/>
            </a:endParaRPr>
          </a:p>
        </p:txBody>
      </p:sp>
      <p:sp>
        <p:nvSpPr>
          <p:cNvPr id="99" name="Step 2"/>
          <p:cNvSpPr/>
          <p:nvPr/>
        </p:nvSpPr>
        <p:spPr>
          <a:xfrm>
            <a:off x="1234440" y="2633400"/>
            <a:ext cx="484596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ffffff"/>
                </a:solidFill>
                <a:latin typeface="Calibri"/>
              </a:rPr>
              <a:t>Run: shape + click area OK</a:t>
            </a:r>
            <a:endParaRPr b="0" lang="en-US" sz="2400" spc="-1" strike="noStrike">
              <a:solidFill>
                <a:srgbClr val="ffffff"/>
              </a:solidFill>
              <a:latin typeface="Arial"/>
            </a:endParaRPr>
          </a:p>
        </p:txBody>
      </p:sp>
      <p:sp>
        <p:nvSpPr>
          <p:cNvPr id="100" name="Closing widgets"/>
          <p:cNvSpPr/>
          <p:nvPr/>
        </p:nvSpPr>
        <p:spPr>
          <a:xfrm>
            <a:off x="1234440" y="4480560"/>
            <a:ext cx="4845960" cy="335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f0b35a"/>
                </a:solidFill>
                <a:latin typeface="Calibri"/>
              </a:rPr>
              <a:t>Widgets: </a:t>
            </a:r>
            <a:r>
              <a:rPr b="1" lang="en-US" sz="2200" spc="-1" strike="noStrike">
                <a:solidFill>
                  <a:srgbClr val="ffffff"/>
                </a:solidFill>
                <a:latin typeface="Calibri"/>
              </a:rPr>
              <a:t>2 projects, ~150 lines</a:t>
            </a:r>
            <a:endParaRPr b="0" lang="en-US" sz="2200" spc="-1" strike="noStrike">
              <a:solidFill>
                <a:srgbClr val="ffffff"/>
              </a:solidFill>
              <a:latin typeface="Arial"/>
            </a:endParaRPr>
          </a:p>
        </p:txBody>
      </p:sp>
      <p:sp>
        <p:nvSpPr>
          <p:cNvPr id="101" name="Closing qml"/>
          <p:cNvSpPr/>
          <p:nvPr/>
        </p:nvSpPr>
        <p:spPr>
          <a:xfrm>
            <a:off x="1234440" y="4983480"/>
            <a:ext cx="4845960" cy="335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5fd38d"/>
                </a:solidFill>
                <a:latin typeface="Calibri"/>
              </a:rPr>
              <a:t>QML: </a:t>
            </a:r>
            <a:r>
              <a:rPr b="1" lang="en-US" sz="2200" spc="-1" strike="noStrike">
                <a:solidFill>
                  <a:srgbClr val="ffffff"/>
                </a:solidFill>
                <a:latin typeface="Calibri"/>
              </a:rPr>
              <a:t>~40 lines</a:t>
            </a:r>
            <a:endParaRPr b="0" lang="en-US" sz="2200" spc="-1" strike="noStrike">
              <a:solidFill>
                <a:srgbClr val="ffffff"/>
              </a:solidFill>
              <a:latin typeface="Arial"/>
            </a:endParaRPr>
          </a:p>
        </p:txBody>
      </p:sp>
      <p:pic>
        <p:nvPicPr>
          <p:cNvPr id="102" name="qml code" descr="image.png"/>
          <p:cNvPicPr/>
          <p:nvPr/>
        </p:nvPicPr>
        <p:blipFill>
          <a:blip r:embed="rId1"/>
          <a:stretch/>
        </p:blipFill>
        <p:spPr>
          <a:xfrm>
            <a:off x="6263640" y="2642040"/>
            <a:ext cx="5303160" cy="2396520"/>
          </a:xfrm>
          <a:prstGeom prst="rect">
            <a:avLst/>
          </a:prstGeom>
          <a:ln w="12700">
            <a:solidFill>
              <a:srgbClr val="34373d"/>
            </a:solidFill>
            <a:round/>
          </a:ln>
        </p:spPr>
      </p:pic>
      <p:pic>
        <p:nvPicPr>
          <p:cNvPr id="103" name="qml run" descr="image.png"/>
          <p:cNvPicPr/>
          <p:nvPr/>
        </p:nvPicPr>
        <p:blipFill>
          <a:blip r:embed="rId2"/>
          <a:stretch/>
        </p:blipFill>
        <p:spPr>
          <a:xfrm>
            <a:off x="6263640" y="1981080"/>
            <a:ext cx="5303160" cy="3718440"/>
          </a:xfrm>
          <a:prstGeom prst="rect">
            <a:avLst/>
          </a:prstGeom>
          <a:ln w="12700">
            <a:solidFill>
              <a:srgbClr val="34373d"/>
            </a:solidFill>
            <a:round/>
          </a:ln>
        </p:spPr>
      </p:pic>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96"/>
                                        </p:tgtEl>
                                        <p:attrNameLst>
                                          <p:attrName>style.visibility</p:attrName>
                                        </p:attrNameLst>
                                      </p:cBhvr>
                                      <p:to>
                                        <p:strVal val="visible"/>
                                      </p:to>
                                    </p:set>
                                  </p:childTnLst>
                                </p:cTn>
                              </p:par>
                              <p:par>
                                <p:cTn id="107" nodeType="withEffect" fill="hold" presetClass="entr" presetID="1">
                                  <p:stCondLst>
                                    <p:cond delay="0"/>
                                  </p:stCondLst>
                                  <p:childTnLst>
                                    <p:set>
                                      <p:cBhvr>
                                        <p:cTn id="108" dur="1" fill="hold">
                                          <p:stCondLst>
                                            <p:cond delay="0"/>
                                          </p:stCondLst>
                                        </p:cTn>
                                        <p:tgtEl>
                                          <p:spTgt spid="97"/>
                                        </p:tgtEl>
                                        <p:attrNameLst>
                                          <p:attrName>style.visibility</p:attrName>
                                        </p:attrNameLst>
                                      </p:cBhvr>
                                      <p:to>
                                        <p:strVal val="visible"/>
                                      </p:to>
                                    </p:set>
                                  </p:childTnLst>
                                </p:cTn>
                              </p:par>
                              <p:par>
                                <p:cTn id="109" nodeType="withEffect" fill="hold" presetClass="entr" presetID="53" presetSubtype="16">
                                  <p:stCondLst>
                                    <p:cond delay="0"/>
                                  </p:stCondLst>
                                  <p:childTnLst>
                                    <p:set>
                                      <p:cBhvr>
                                        <p:cTn id="110" dur="1" fill="hold">
                                          <p:stCondLst>
                                            <p:cond delay="0"/>
                                          </p:stCondLst>
                                        </p:cTn>
                                        <p:tgtEl>
                                          <p:spTgt spid="102"/>
                                        </p:tgtEl>
                                        <p:attrNameLst>
                                          <p:attrName>style.visibility</p:attrName>
                                        </p:attrNameLst>
                                      </p:cBhvr>
                                      <p:to>
                                        <p:strVal val="visible"/>
                                      </p:to>
                                    </p:set>
                                    <p:anim calcmode="lin" valueType="num">
                                      <p:cBhvr additive="repl">
                                        <p:cTn id="111" dur="450" fill="hold"/>
                                        <p:tgtEl>
                                          <p:spTgt spid="102"/>
                                        </p:tgtEl>
                                        <p:attrNameLst>
                                          <p:attrName>ppt_w</p:attrName>
                                        </p:attrNameLst>
                                      </p:cBhvr>
                                      <p:tavLst>
                                        <p:tav tm="0">
                                          <p:val>
                                            <p:fltVal val="0"/>
                                          </p:val>
                                        </p:tav>
                                        <p:tav tm="100000">
                                          <p:val>
                                            <p:strVal val="#ppt_w"/>
                                          </p:val>
                                        </p:tav>
                                      </p:tavLst>
                                    </p:anim>
                                    <p:anim calcmode="lin" valueType="num">
                                      <p:cBhvr additive="repl">
                                        <p:cTn id="112" dur="450" fill="hold"/>
                                        <p:tgtEl>
                                          <p:spTgt spid="102"/>
                                        </p:tgtEl>
                                        <p:attrNameLst>
                                          <p:attrName>ppt_h</p:attrName>
                                        </p:attrNameLst>
                                      </p:cBhvr>
                                      <p:tavLst>
                                        <p:tav tm="0">
                                          <p:val>
                                            <p:fltVal val="0"/>
                                          </p:val>
                                        </p:tav>
                                        <p:tav tm="100000">
                                          <p:val>
                                            <p:strVal val="#ppt_h"/>
                                          </p:val>
                                        </p:tav>
                                      </p:tavLst>
                                    </p:anim>
                                    <p:animEffect filter="fade" transition="in">
                                      <p:cBhvr additive="repl">
                                        <p:cTn id="113" dur="450"/>
                                        <p:tgtEl>
                                          <p:spTgt spid="102"/>
                                        </p:tgtEl>
                                      </p:cBhvr>
                                    </p:animEffect>
                                  </p:childTnLst>
                                </p:cTn>
                              </p:par>
                            </p:childTnLst>
                          </p:cTn>
                        </p:par>
                      </p:childTnLst>
                    </p:cTn>
                  </p:par>
                  <p:par>
                    <p:cTn id="114" fill="hold">
                      <p:stCondLst>
                        <p:cond delay="indefinite"/>
                      </p:stCondLst>
                      <p:childTnLst>
                        <p:par>
                          <p:cTn id="115" fill="hold">
                            <p:stCondLst>
                              <p:cond delay="0"/>
                            </p:stCondLst>
                            <p:childTnLst>
                              <p:par>
                                <p:cTn id="116" nodeType="clickEffect" fill="hold" presetClass="entr" presetID="1">
                                  <p:stCondLst>
                                    <p:cond delay="0"/>
                                  </p:stCondLst>
                                  <p:childTnLst>
                                    <p:set>
                                      <p:cBhvr>
                                        <p:cTn id="117" dur="1" fill="hold">
                                          <p:stCondLst>
                                            <p:cond delay="0"/>
                                          </p:stCondLst>
                                        </p:cTn>
                                        <p:tgtEl>
                                          <p:spTgt spid="98"/>
                                        </p:tgtEl>
                                        <p:attrNameLst>
                                          <p:attrName>style.visibility</p:attrName>
                                        </p:attrNameLst>
                                      </p:cBhvr>
                                      <p:to>
                                        <p:strVal val="visible"/>
                                      </p:to>
                                    </p:set>
                                  </p:childTnLst>
                                </p:cTn>
                              </p:par>
                              <p:par>
                                <p:cTn id="118" nodeType="withEffect" fill="hold" presetClass="entr" presetID="1">
                                  <p:stCondLst>
                                    <p:cond delay="0"/>
                                  </p:stCondLst>
                                  <p:childTnLst>
                                    <p:set>
                                      <p:cBhvr>
                                        <p:cTn id="119" dur="1" fill="hold">
                                          <p:stCondLst>
                                            <p:cond delay="0"/>
                                          </p:stCondLst>
                                        </p:cTn>
                                        <p:tgtEl>
                                          <p:spTgt spid="99"/>
                                        </p:tgtEl>
                                        <p:attrNameLst>
                                          <p:attrName>style.visibility</p:attrName>
                                        </p:attrNameLst>
                                      </p:cBhvr>
                                      <p:to>
                                        <p:strVal val="visible"/>
                                      </p:to>
                                    </p:set>
                                  </p:childTnLst>
                                </p:cTn>
                              </p:par>
                              <p:par>
                                <p:cTn id="120" nodeType="withEffect" fill="hold" presetClass="exit" presetID="53" presetSubtype="16">
                                  <p:stCondLst>
                                    <p:cond delay="0"/>
                                  </p:stCondLst>
                                  <p:childTnLst>
                                    <p:anim calcmode="lin" valueType="num">
                                      <p:cBhvr additive="repl">
                                        <p:cTn id="121" dur="350" fill="hold"/>
                                        <p:tgtEl>
                                          <p:spTgt spid="102"/>
                                        </p:tgtEl>
                                        <p:attrNameLst>
                                          <p:attrName>ppt_w</p:attrName>
                                        </p:attrNameLst>
                                      </p:cBhvr>
                                      <p:tavLst>
                                        <p:tav tm="0">
                                          <p:val>
                                            <p:strVal val="#ppt_w"/>
                                          </p:val>
                                        </p:tav>
                                        <p:tav tm="100000">
                                          <p:val>
                                            <p:fltVal val="0"/>
                                          </p:val>
                                        </p:tav>
                                      </p:tavLst>
                                    </p:anim>
                                    <p:anim calcmode="lin" valueType="num">
                                      <p:cBhvr additive="repl">
                                        <p:cTn id="122" dur="350" fill="hold"/>
                                        <p:tgtEl>
                                          <p:spTgt spid="102"/>
                                        </p:tgtEl>
                                        <p:attrNameLst>
                                          <p:attrName>ppt_h</p:attrName>
                                        </p:attrNameLst>
                                      </p:cBhvr>
                                      <p:tavLst>
                                        <p:tav tm="0">
                                          <p:val>
                                            <p:strVal val="#ppt_h"/>
                                          </p:val>
                                        </p:tav>
                                        <p:tav tm="100000">
                                          <p:val>
                                            <p:fltVal val="0"/>
                                          </p:val>
                                        </p:tav>
                                      </p:tavLst>
                                    </p:anim>
                                    <p:animEffect filter="fade" transition="out">
                                      <p:cBhvr additive="repl">
                                        <p:cTn id="123" dur="350"/>
                                        <p:tgtEl>
                                          <p:spTgt spid="102"/>
                                        </p:tgtEl>
                                      </p:cBhvr>
                                    </p:animEffect>
                                    <p:set>
                                      <p:cBhvr>
                                        <p:cTn id="124" dur="1" fill="hold">
                                          <p:stCondLst>
                                            <p:cond delay="349"/>
                                          </p:stCondLst>
                                        </p:cTn>
                                        <p:tgtEl>
                                          <p:spTgt spid="102"/>
                                        </p:tgtEl>
                                        <p:attrNameLst>
                                          <p:attrName>style.visibility</p:attrName>
                                        </p:attrNameLst>
                                      </p:cBhvr>
                                      <p:to>
                                        <p:strVal val="hidden"/>
                                      </p:to>
                                    </p:set>
                                  </p:childTnLst>
                                </p:cTn>
                              </p:par>
                              <p:par>
                                <p:cTn id="125" nodeType="withEffect" fill="hold" presetClass="entr" presetID="53" presetSubtype="16">
                                  <p:stCondLst>
                                    <p:cond delay="0"/>
                                  </p:stCondLst>
                                  <p:childTnLst>
                                    <p:set>
                                      <p:cBhvr>
                                        <p:cTn id="126" dur="1" fill="hold">
                                          <p:stCondLst>
                                            <p:cond delay="0"/>
                                          </p:stCondLst>
                                        </p:cTn>
                                        <p:tgtEl>
                                          <p:spTgt spid="103"/>
                                        </p:tgtEl>
                                        <p:attrNameLst>
                                          <p:attrName>style.visibility</p:attrName>
                                        </p:attrNameLst>
                                      </p:cBhvr>
                                      <p:to>
                                        <p:strVal val="visible"/>
                                      </p:to>
                                    </p:set>
                                    <p:anim calcmode="lin" valueType="num">
                                      <p:cBhvr additive="repl">
                                        <p:cTn id="127" dur="450" fill="hold"/>
                                        <p:tgtEl>
                                          <p:spTgt spid="103"/>
                                        </p:tgtEl>
                                        <p:attrNameLst>
                                          <p:attrName>ppt_w</p:attrName>
                                        </p:attrNameLst>
                                      </p:cBhvr>
                                      <p:tavLst>
                                        <p:tav tm="0">
                                          <p:val>
                                            <p:fltVal val="0"/>
                                          </p:val>
                                        </p:tav>
                                        <p:tav tm="100000">
                                          <p:val>
                                            <p:strVal val="#ppt_w"/>
                                          </p:val>
                                        </p:tav>
                                      </p:tavLst>
                                    </p:anim>
                                    <p:anim calcmode="lin" valueType="num">
                                      <p:cBhvr additive="repl">
                                        <p:cTn id="128" dur="450" fill="hold"/>
                                        <p:tgtEl>
                                          <p:spTgt spid="103"/>
                                        </p:tgtEl>
                                        <p:attrNameLst>
                                          <p:attrName>ppt_h</p:attrName>
                                        </p:attrNameLst>
                                      </p:cBhvr>
                                      <p:tavLst>
                                        <p:tav tm="0">
                                          <p:val>
                                            <p:fltVal val="0"/>
                                          </p:val>
                                        </p:tav>
                                        <p:tav tm="100000">
                                          <p:val>
                                            <p:strVal val="#ppt_h"/>
                                          </p:val>
                                        </p:tav>
                                      </p:tavLst>
                                    </p:anim>
                                    <p:animEffect filter="fade" transition="in">
                                      <p:cBhvr additive="repl">
                                        <p:cTn id="129" dur="450"/>
                                        <p:tgtEl>
                                          <p:spTgt spid="103"/>
                                        </p:tgtEl>
                                      </p:cBhvr>
                                    </p:animEffec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1">
                                  <p:stCondLst>
                                    <p:cond delay="0"/>
                                  </p:stCondLst>
                                  <p:childTnLst>
                                    <p:set>
                                      <p:cBhvr>
                                        <p:cTn id="133" dur="1" fill="hold">
                                          <p:stCondLst>
                                            <p:cond delay="0"/>
                                          </p:stCondLst>
                                        </p:cTn>
                                        <p:tgtEl>
                                          <p:spTgt spid="100"/>
                                        </p:tgtEl>
                                        <p:attrNameLst>
                                          <p:attrName>style.visibility</p:attrName>
                                        </p:attrNameLst>
                                      </p:cBhvr>
                                      <p:to>
                                        <p:strVal val="visible"/>
                                      </p:to>
                                    </p:set>
                                  </p:childTnLst>
                                </p:cTn>
                              </p:par>
                              <p:par>
                                <p:cTn id="134" nodeType="withEffect" fill="hold" presetClass="entr" presetID="1">
                                  <p:stCondLst>
                                    <p:cond delay="0"/>
                                  </p:stCondLst>
                                  <p:childTnLst>
                                    <p:set>
                                      <p:cBhvr>
                                        <p:cTn id="135"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104" name="Title"/>
          <p:cNvSpPr/>
          <p:nvPr/>
        </p:nvSpPr>
        <p:spPr>
          <a:xfrm>
            <a:off x="548640" y="411480"/>
            <a:ext cx="100580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Rendering: CPU vs GPU</a:t>
            </a:r>
            <a:endParaRPr b="0" lang="en-US" sz="3600" spc="-1" strike="noStrike">
              <a:solidFill>
                <a:srgbClr val="ffffff"/>
              </a:solidFill>
              <a:latin typeface="Arial"/>
            </a:endParaRPr>
          </a:p>
        </p:txBody>
      </p:sp>
      <p:graphicFrame>
        <p:nvGraphicFramePr>
          <p:cNvPr id="105" name="qt docs table"/>
          <p:cNvGraphicFramePr/>
          <p:nvPr/>
        </p:nvGraphicFramePr>
        <p:xfrm>
          <a:off x="548640" y="1234440"/>
          <a:ext cx="11091240" cy="4434840"/>
        </p:xfrm>
        <a:graphic>
          <a:graphicData uri="http://schemas.openxmlformats.org/drawingml/2006/table">
            <a:tbl>
              <a:tblPr/>
              <a:tblGrid>
                <a:gridCol w="2194560"/>
                <a:gridCol w="2834640"/>
                <a:gridCol w="3108960"/>
                <a:gridCol w="2953440"/>
              </a:tblGrid>
              <a:tr h="457200">
                <a:tc>
                  <a:txBody>
                    <a:bodyPr lIns="109440" rIns="109440" anchor="ctr">
                      <a:noAutofit/>
                    </a:bodyPr>
                    <a:p>
                      <a:pPr defTabSz="914400">
                        <a:lnSpc>
                          <a:spcPct val="100000"/>
                        </a:lnSpc>
                      </a:pPr>
                      <a:r>
                        <a:rPr b="1" lang="en-US" sz="1300" spc="-1" strike="noStrike">
                          <a:solidFill>
                            <a:srgbClr val="9aa0a6"/>
                          </a:solidFill>
                          <a:latin typeface="Calibri"/>
                        </a:rPr>
                        <a:t>Feature</a:t>
                      </a:r>
                      <a:endParaRPr b="0" lang="en-US" sz="13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3135"/>
                    </a:solidFill>
                  </a:tcPr>
                </a:tc>
                <a:tc>
                  <a:txBody>
                    <a:bodyPr lIns="109440" rIns="109440" anchor="ctr">
                      <a:noAutofit/>
                    </a:bodyPr>
                    <a:p>
                      <a:pPr defTabSz="914400">
                        <a:lnSpc>
                          <a:spcPct val="100000"/>
                        </a:lnSpc>
                      </a:pPr>
                      <a:r>
                        <a:rPr b="1" lang="en-US" sz="1300" spc="-1" strike="noStrike">
                          <a:solidFill>
                            <a:srgbClr val="9aa0a6"/>
                          </a:solidFill>
                          <a:latin typeface="Calibri"/>
                        </a:rPr>
                        <a:t>Qt Quick and Qt Quick Controls</a:t>
                      </a:r>
                      <a:endParaRPr b="0" lang="en-US" sz="13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3135"/>
                    </a:solidFill>
                  </a:tcPr>
                </a:tc>
                <a:tc>
                  <a:txBody>
                    <a:bodyPr lIns="109440" rIns="109440" anchor="ctr">
                      <a:noAutofit/>
                    </a:bodyPr>
                    <a:p>
                      <a:pPr defTabSz="914400">
                        <a:lnSpc>
                          <a:spcPct val="100000"/>
                        </a:lnSpc>
                      </a:pPr>
                      <a:r>
                        <a:rPr b="1" lang="en-US" sz="1300" spc="-1" strike="noStrike">
                          <a:solidFill>
                            <a:srgbClr val="9aa0a6"/>
                          </a:solidFill>
                          <a:latin typeface="Calibri"/>
                        </a:rPr>
                        <a:t>Qt Widgets</a:t>
                      </a:r>
                      <a:endParaRPr b="0" lang="en-US" sz="13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3135"/>
                    </a:solidFill>
                  </a:tcPr>
                </a:tc>
                <a:tc>
                  <a:txBody>
                    <a:bodyPr lIns="109440" rIns="109440" anchor="ctr">
                      <a:noAutofit/>
                    </a:bodyPr>
                    <a:p>
                      <a:pPr defTabSz="914400">
                        <a:lnSpc>
                          <a:spcPct val="100000"/>
                        </a:lnSpc>
                      </a:pPr>
                      <a:r>
                        <a:rPr b="1" lang="en-US" sz="1300" spc="-1" strike="noStrike">
                          <a:solidFill>
                            <a:srgbClr val="9aa0a6"/>
                          </a:solidFill>
                          <a:latin typeface="Calibri"/>
                        </a:rPr>
                        <a:t>Explanation</a:t>
                      </a:r>
                      <a:endParaRPr b="0" lang="en-US" sz="13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3135"/>
                    </a:solidFill>
                  </a:tcPr>
                </a:tc>
              </a:tr>
              <a:tr h="1325880">
                <a:tc>
                  <a:txBody>
                    <a:bodyPr lIns="109440" rIns="109440" anchor="ctr">
                      <a:noAutofit/>
                    </a:bodyPr>
                    <a:p>
                      <a:pPr defTabSz="914400">
                        <a:lnSpc>
                          <a:spcPct val="100000"/>
                        </a:lnSpc>
                      </a:pPr>
                      <a:r>
                        <a:rPr b="1" lang="en-US" sz="1500" spc="-1" strike="noStrike">
                          <a:solidFill>
                            <a:srgbClr val="ffffff"/>
                          </a:solidFill>
                          <a:latin typeface="Calibri"/>
                        </a:rPr>
                        <a:t>Hardware-accelerated graphics</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1" lang="en-US" sz="1500" spc="-1" strike="noStrike">
                          <a:solidFill>
                            <a:srgbClr val="5fd38d"/>
                          </a:solidFill>
                          <a:latin typeface="Calibri"/>
                        </a:rPr>
                        <a:t>Yes (GPU-accelerated via Qt Quick Scene Graph).</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1" lang="en-US" sz="1500" spc="-1" strike="noStrike">
                          <a:solidFill>
                            <a:srgbClr val="f0b35a"/>
                          </a:solidFill>
                          <a:latin typeface="Calibri"/>
                        </a:rPr>
                        <a:t>Partially (widgets render in software. OpenGL widgets possible but isolated).</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0" lang="en-US" sz="1500" spc="-1" strike="noStrike">
                          <a:solidFill>
                            <a:srgbClr val="ffffff"/>
                          </a:solidFill>
                          <a:latin typeface="Calibri"/>
                        </a:rPr>
                        <a:t>Only Qt Quick provides built-in full-scene GPU acceleration.</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r>
              <a:tr h="1325880">
                <a:tc>
                  <a:txBody>
                    <a:bodyPr lIns="109440" rIns="109440" anchor="ctr">
                      <a:noAutofit/>
                    </a:bodyPr>
                    <a:p>
                      <a:pPr defTabSz="914400">
                        <a:lnSpc>
                          <a:spcPct val="100000"/>
                        </a:lnSpc>
                      </a:pPr>
                      <a:r>
                        <a:rPr b="1" lang="en-US" sz="1500" spc="-1" strike="noStrike">
                          <a:solidFill>
                            <a:srgbClr val="ffffff"/>
                          </a:solidFill>
                          <a:latin typeface="Calibri"/>
                        </a:rPr>
                        <a:t>Fluid animations and transitions</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1" lang="en-US" sz="1500" spc="-1" strike="noStrike">
                          <a:solidFill>
                            <a:srgbClr val="5fd38d"/>
                          </a:solidFill>
                          <a:latin typeface="Calibri"/>
                        </a:rPr>
                        <a:t>Yes (GPU-accelerated animations built-in).</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1" lang="en-US" sz="1500" spc="-1" strike="noStrike">
                          <a:solidFill>
                            <a:srgbClr val="f0b35a"/>
                          </a:solidFill>
                          <a:latin typeface="Calibri"/>
                        </a:rPr>
                        <a:t>Limited (supported via QPropertyAnimation, but not designed for fluid UI animation).</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0" lang="en-US" sz="1500" spc="-1" strike="noStrike">
                          <a:solidFill>
                            <a:srgbClr val="ffffff"/>
                          </a:solidFill>
                          <a:latin typeface="Calibri"/>
                        </a:rPr>
                        <a:t>Qt Quick is designed for animated, modern UIs. Qt Widgets are not.</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r>
              <a:tr h="1325880">
                <a:tc>
                  <a:txBody>
                    <a:bodyPr lIns="109440" rIns="109440" anchor="ctr">
                      <a:noAutofit/>
                    </a:bodyPr>
                    <a:p>
                      <a:pPr defTabSz="914400">
                        <a:lnSpc>
                          <a:spcPct val="100000"/>
                        </a:lnSpc>
                      </a:pPr>
                      <a:r>
                        <a:rPr b="1" lang="en-US" sz="1500" spc="-1" strike="noStrike">
                          <a:solidFill>
                            <a:srgbClr val="ffffff"/>
                          </a:solidFill>
                          <a:latin typeface="Calibri"/>
                        </a:rPr>
                        <a:t>Graphical effects</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1" lang="en-US" sz="1500" spc="-1" strike="noStrike">
                          <a:solidFill>
                            <a:srgbClr val="5fd38d"/>
                          </a:solidFill>
                          <a:latin typeface="Calibri"/>
                        </a:rPr>
                        <a:t>Yes (shader-based blur, glow, drop shadow, color effects, and more).</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1" lang="en-US" sz="1500" spc="-1" strike="noStrike">
                          <a:solidFill>
                            <a:srgbClr val="f0b35a"/>
                          </a:solidFill>
                          <a:latin typeface="Calibri"/>
                        </a:rPr>
                        <a:t>Limited (basic effects via Qt GUI only).</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c>
                  <a:txBody>
                    <a:bodyPr lIns="109440" rIns="109440" anchor="ctr">
                      <a:noAutofit/>
                    </a:bodyPr>
                    <a:p>
                      <a:pPr defTabSz="914400">
                        <a:lnSpc>
                          <a:spcPct val="100000"/>
                        </a:lnSpc>
                      </a:pPr>
                      <a:r>
                        <a:rPr b="0" lang="en-US" sz="1500" spc="-1" strike="noStrike">
                          <a:solidFill>
                            <a:srgbClr val="ffffff"/>
                          </a:solidFill>
                          <a:latin typeface="Calibri"/>
                        </a:rPr>
                        <a:t>Qt Quick offers rich, GPU-driven visual effects. Qt Widgets offer only simple CPU effects.</a:t>
                      </a:r>
                      <a:endParaRPr b="0" lang="en-US" sz="1500" spc="-1" strike="noStrike">
                        <a:solidFill>
                          <a:srgbClr val="ffffff"/>
                        </a:solidFill>
                        <a:latin typeface="Arial"/>
                      </a:endParaRPr>
                    </a:p>
                  </a:txBody>
                  <a:tcPr anchor="ctr" marL="109440" marR="109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6282c"/>
                    </a:solidFill>
                  </a:tcPr>
                </a:tc>
              </a:tr>
            </a:tbl>
          </a:graphicData>
        </a:graphic>
      </p:graphicFrame>
      <p:sp>
        <p:nvSpPr>
          <p:cNvPr id="106" name="Source"/>
          <p:cNvSpPr/>
          <p:nvPr/>
        </p:nvSpPr>
        <p:spPr>
          <a:xfrm>
            <a:off x="8641080" y="685800"/>
            <a:ext cx="301716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200" spc="-1" strike="noStrike">
                <a:solidFill>
                  <a:srgbClr val="9aa0a6"/>
                </a:solidFill>
                <a:latin typeface="Calibri"/>
              </a:rPr>
              <a:t>Source: doc.qt.io/qt-6/topics-ui.html</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pic>
        <p:nvPicPr>
          <p:cNvPr id="107" name="" descr="">
            <a:hlinkClick r:id="" action="ppaction://media"/>
          </p:cNvPr>
          <p:cNvPicPr/>
          <p:nvPr>
            <a:videoFile r:link="rId1"/>
            <p:extLst>
              <p:ext uri="{DAA4B4D4-6D71-4841-9C94-3DE7FCFB9230}">
                <p14:media r:embed="rId2"/>
              </p:ext>
            </p:extLst>
          </p:nvPr>
        </p:nvPicPr>
        <p:blipFill>
          <a:blip r:embed="rId3"/>
          <a:stretch>
            <a:fillRect/>
          </a:stretch>
        </p:blipFill>
        <p:spPr>
          <a:xfrm>
            <a:off x="883080" y="1280160"/>
            <a:ext cx="10424880" cy="4023000"/>
          </a:xfrm>
          <a:prstGeom prst="rect">
            <a:avLst/>
          </a:prstGeom>
          <a:ln w="0">
            <a:noFill/>
          </a:ln>
        </p:spPr>
      </p:pic>
      <p:sp>
        <p:nvSpPr>
          <p:cNvPr id="108" name="Title"/>
          <p:cNvSpPr/>
          <p:nvPr/>
        </p:nvSpPr>
        <p:spPr>
          <a:xfrm>
            <a:off x="548640" y="411480"/>
            <a:ext cx="100580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Under Load</a:t>
            </a:r>
            <a:endParaRPr b="0" lang="en-US" sz="3600" spc="-1" strike="noStrike">
              <a:solidFill>
                <a:srgbClr val="ffffff"/>
              </a:solidFill>
              <a:latin typeface="Arial"/>
            </a:endParaRPr>
          </a:p>
        </p:txBody>
      </p:sp>
      <p:sp>
        <p:nvSpPr>
          <p:cNvPr id="109" name="Qt Widgets label"/>
          <p:cNvSpPr/>
          <p:nvPr/>
        </p:nvSpPr>
        <p:spPr>
          <a:xfrm>
            <a:off x="517320" y="5413320"/>
            <a:ext cx="5792040" cy="335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200" spc="-1" strike="noStrike">
                <a:solidFill>
                  <a:srgbClr val="f0b35a"/>
                </a:solidFill>
                <a:latin typeface="Calibri"/>
              </a:rPr>
              <a:t>Qt Widgets</a:t>
            </a:r>
            <a:endParaRPr b="0" lang="en-US" sz="2200" spc="-1" strike="noStrike">
              <a:solidFill>
                <a:srgbClr val="ffffff"/>
              </a:solidFill>
              <a:latin typeface="Arial"/>
            </a:endParaRPr>
          </a:p>
        </p:txBody>
      </p:sp>
      <p:sp>
        <p:nvSpPr>
          <p:cNvPr id="110" name="Qt Widgets result"/>
          <p:cNvSpPr/>
          <p:nvPr/>
        </p:nvSpPr>
        <p:spPr>
          <a:xfrm>
            <a:off x="517320" y="5779080"/>
            <a:ext cx="5792040" cy="2440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600" spc="-1" strike="noStrike">
                <a:solidFill>
                  <a:srgbClr val="ffffff"/>
                </a:solidFill>
                <a:latin typeface="Calibri"/>
              </a:rPr>
              <a:t>3000 buttons  ·  18 FPS  ·  CPU 100%</a:t>
            </a:r>
            <a:endParaRPr b="0" lang="en-US" sz="1600" spc="-1" strike="noStrike">
              <a:solidFill>
                <a:srgbClr val="ffffff"/>
              </a:solidFill>
              <a:latin typeface="Arial"/>
            </a:endParaRPr>
          </a:p>
        </p:txBody>
      </p:sp>
      <p:sp>
        <p:nvSpPr>
          <p:cNvPr id="111" name="Qt Quick (QML) label"/>
          <p:cNvSpPr/>
          <p:nvPr/>
        </p:nvSpPr>
        <p:spPr>
          <a:xfrm>
            <a:off x="5882040" y="5413320"/>
            <a:ext cx="5792040" cy="335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200" spc="-1" strike="noStrike">
                <a:solidFill>
                  <a:srgbClr val="5fd38d"/>
                </a:solidFill>
                <a:latin typeface="Calibri"/>
              </a:rPr>
              <a:t>Qt Quick (QML)</a:t>
            </a:r>
            <a:endParaRPr b="0" lang="en-US" sz="2200" spc="-1" strike="noStrike">
              <a:solidFill>
                <a:srgbClr val="ffffff"/>
              </a:solidFill>
              <a:latin typeface="Arial"/>
            </a:endParaRPr>
          </a:p>
        </p:txBody>
      </p:sp>
      <p:sp>
        <p:nvSpPr>
          <p:cNvPr id="112" name="Qt Quick (QML) result"/>
          <p:cNvSpPr/>
          <p:nvPr/>
        </p:nvSpPr>
        <p:spPr>
          <a:xfrm>
            <a:off x="5882040" y="5779080"/>
            <a:ext cx="5792040" cy="2440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600" spc="-1" strike="noStrike">
                <a:solidFill>
                  <a:srgbClr val="ffffff"/>
                </a:solidFill>
                <a:latin typeface="Calibri"/>
              </a:rPr>
              <a:t>3000 buttons  ·  60 FPS  ·  CPU 31%</a:t>
            </a:r>
            <a:endParaRPr b="0" lang="en-US" sz="1600" spc="-1" strike="noStrike">
              <a:solidFill>
                <a:srgbClr val="ffffff"/>
              </a:solidFill>
              <a:latin typeface="Arial"/>
            </a:endParaRPr>
          </a:p>
        </p:txBody>
      </p:sp>
      <p:sp>
        <p:nvSpPr>
          <p:cNvPr id="113" name="Qt Widgets cpu"/>
          <p:cNvSpPr/>
          <p:nvPr/>
        </p:nvSpPr>
        <p:spPr>
          <a:xfrm>
            <a:off x="517320" y="6144840"/>
            <a:ext cx="5792040" cy="228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500" spc="-1" strike="noStrike">
                <a:solidFill>
                  <a:srgbClr val="f0b35a"/>
                </a:solidFill>
                <a:latin typeface="Calibri"/>
              </a:rPr>
              <a:t>CPU: </a:t>
            </a:r>
            <a:r>
              <a:rPr b="0" lang="en-US" sz="1500" spc="-1" strike="noStrike">
                <a:solidFill>
                  <a:srgbClr val="c9ccd1"/>
                </a:solidFill>
                <a:latin typeface="Calibri"/>
              </a:rPr>
              <a:t>positions + paints every pixel (</a:t>
            </a:r>
            <a:r>
              <a:rPr b="0" lang="en-US" sz="1500" spc="-1" strike="noStrike">
                <a:solidFill>
                  <a:srgbClr val="c9ccd1"/>
                </a:solidFill>
                <a:latin typeface="Consolas"/>
              </a:rPr>
              <a:t>QPainter</a:t>
            </a:r>
            <a:r>
              <a:rPr b="0" lang="en-US" sz="1500" spc="-1" strike="noStrike">
                <a:solidFill>
                  <a:srgbClr val="c9ccd1"/>
                </a:solidFill>
                <a:latin typeface="Calibri"/>
              </a:rPr>
              <a:t>)</a:t>
            </a:r>
            <a:endParaRPr b="0" lang="en-US" sz="1500" spc="-1" strike="noStrike">
              <a:solidFill>
                <a:srgbClr val="ffffff"/>
              </a:solidFill>
              <a:latin typeface="Arial"/>
            </a:endParaRPr>
          </a:p>
        </p:txBody>
      </p:sp>
      <p:sp>
        <p:nvSpPr>
          <p:cNvPr id="114" name="Qt Quick (QML) cpu"/>
          <p:cNvSpPr/>
          <p:nvPr/>
        </p:nvSpPr>
        <p:spPr>
          <a:xfrm>
            <a:off x="5882040" y="6144840"/>
            <a:ext cx="5792040" cy="228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500" spc="-1" strike="noStrike">
                <a:solidFill>
                  <a:srgbClr val="5fd38d"/>
                </a:solidFill>
                <a:latin typeface="Calibri"/>
              </a:rPr>
              <a:t>CPU: </a:t>
            </a:r>
            <a:r>
              <a:rPr b="0" lang="en-US" sz="1500" spc="-1" strike="noStrike">
                <a:solidFill>
                  <a:srgbClr val="c9ccd1"/>
                </a:solidFill>
                <a:latin typeface="Calibri"/>
              </a:rPr>
              <a:t>positions only  →  </a:t>
            </a:r>
            <a:r>
              <a:rPr b="1" lang="en-US" sz="1500" spc="-1" strike="noStrike">
                <a:solidFill>
                  <a:srgbClr val="5fd38d"/>
                </a:solidFill>
                <a:latin typeface="Calibri"/>
              </a:rPr>
              <a:t>GPU: </a:t>
            </a:r>
            <a:r>
              <a:rPr b="0" lang="en-US" sz="1500" spc="-1" strike="noStrike">
                <a:solidFill>
                  <a:srgbClr val="c9ccd1"/>
                </a:solidFill>
                <a:latin typeface="Calibri"/>
              </a:rPr>
              <a:t>paints pixels</a:t>
            </a:r>
            <a:endParaRPr b="0" lang="en-US" sz="1500" spc="-1" strike="noStrike">
              <a:solidFill>
                <a:srgbClr val="ffffff"/>
              </a:solidFill>
              <a:latin typeface="Arial"/>
            </a:endParaRPr>
          </a:p>
        </p:txBody>
      </p:sp>
      <p:sp>
        <p:nvSpPr>
          <p:cNvPr id="115" name="TextBox 2"/>
          <p:cNvSpPr/>
          <p:nvPr/>
        </p:nvSpPr>
        <p:spPr>
          <a:xfrm>
            <a:off x="3048120" y="3429000"/>
            <a:ext cx="6095520" cy="393156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Calibri"/>
              </a:rPr>
              <a:t>7. slayt **Under Load** için son halini aşağıya koydum. Senin metnin, düzeltmeler ve "by itself" ile: &gt; The example is related to animations. On the left side is Qt Widgets: with 3000 buttons, we get nearly twenty FPS, and the CPU usage is 100 percent. &gt; &gt; Calculating the positions and painting the pixels both run on the CPU. &gt; &gt; But on the QML side, the example is perfectly stable: we get 60 FPS, and the CPU usage is about 30 percent. &gt; &gt; QML splits the work into two big parts by itself: calculating the positions runs on the CPU, and painting the pixels runs on the GPU. &gt; &gt; The example shows that if the UI has animations, the developer should prefer QML.</a:t>
            </a:r>
            <a:endParaRPr b="0" lang="en-US" sz="1800" spc="-1" strike="noStrike">
              <a:solidFill>
                <a:srgbClr val="ffffff"/>
              </a:solidFill>
              <a:latin typeface="Arial"/>
            </a:endParaRPr>
          </a:p>
          <a:p>
            <a:pPr algn="ctr" defTabSz="914400">
              <a:lnSpc>
                <a:spcPct val="10000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36" dur="indefinite" restart="never" nodeType="tmRoot">
          <p:childTnLst>
            <p:seq>
              <p:cTn id="137" dur="indefinite" nodeType="mainSeq">
                <p:childTnLst>
                  <p:par>
                    <p:cTn id="138" fill="hold">
                      <p:stCondLst>
                        <p:cond delay="0"/>
                      </p:stCondLst>
                      <p:childTnLst>
                        <p:par>
                          <p:cTn id="139" fill="hold">
                            <p:stCondLst>
                              <p:cond delay="0"/>
                            </p:stCondLst>
                            <p:childTnLst>
                              <p:par>
                                <p:cTn id="140" nodeType="afterEffect" fill="hold" presetClass="mediacall">
                                  <p:stCondLst>
                                    <p:cond delay="0"/>
                                  </p:stCondLst>
                                  <p:childTnLst>
                                    <p:cmd type="call" cmd="playFrom(0.0)">
                                      <p:cBhvr>
                                        <p:cTn id="141" dur="4000" fill="hold"/>
                                        <p:tgtEl>
                                          <p:spTgt spid="107"/>
                                        </p:tgtEl>
                                      </p:cBhvr>
                                    </p:cmd>
                                  </p:childTnLst>
                                </p:cTn>
                              </p:par>
                            </p:childTnLst>
                          </p:cTn>
                        </p:par>
                      </p:childTnLst>
                    </p:cTn>
                  </p:par>
                </p:childTnLst>
              </p:cTn>
              <p:prevCondLst>
                <p:cond evt="onPrev">
                  <p:tgtEl>
                    <p:sldTgt/>
                  </p:tgtEl>
                </p:cond>
              </p:prevCondLst>
              <p:nextCondLst>
                <p:cond evt="onNext">
                  <p:tgtEl>
                    <p:sldTgt/>
                  </p:tgtEl>
                </p:cond>
              </p:nextCondLst>
            </p:seq>
            <p:video>
              <p:cMediaNode>
                <p:cTn repeatCount="indefinite">
                  <p:stCondLst>
                    <p:cond delay="indefinite"/>
                  </p:stCondLst>
                </p:cTn>
                <p:tgtEl>
                  <p:spTgt spid="107"/>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116" name="Title"/>
          <p:cNvSpPr/>
          <p:nvPr/>
        </p:nvSpPr>
        <p:spPr>
          <a:xfrm>
            <a:off x="548640" y="411480"/>
            <a:ext cx="82292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Blur on Android </a:t>
            </a:r>
            <a:r>
              <a:rPr b="1" lang="en-US" sz="3600" spc="-1" strike="noStrike">
                <a:solidFill>
                  <a:srgbClr val="5fd38d"/>
                </a:solidFill>
                <a:latin typeface="Calibri"/>
              </a:rPr>
              <a:t>(Phone)</a:t>
            </a:r>
            <a:endParaRPr b="0" lang="en-US" sz="3600" spc="-1" strike="noStrike">
              <a:solidFill>
                <a:srgbClr val="ffffff"/>
              </a:solidFill>
              <a:latin typeface="Arial"/>
            </a:endParaRPr>
          </a:p>
        </p:txBody>
      </p:sp>
      <p:sp>
        <p:nvSpPr>
          <p:cNvPr id="117" name="Source"/>
          <p:cNvSpPr/>
          <p:nvPr/>
        </p:nvSpPr>
        <p:spPr>
          <a:xfrm>
            <a:off x="7863840" y="685800"/>
            <a:ext cx="3794400" cy="18324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200" spc="-1" strike="noStrike">
                <a:solidFill>
                  <a:srgbClr val="9aa0a6"/>
                </a:solidFill>
                <a:latin typeface="Calibri"/>
              </a:rPr>
              <a:t>Source: doc.qt.io/qt-6/embedded-linux.html</a:t>
            </a:r>
            <a:endParaRPr b="0" lang="en-US" sz="1200" spc="-1" strike="noStrike">
              <a:solidFill>
                <a:srgbClr val="ffffff"/>
              </a:solidFill>
              <a:latin typeface="Arial"/>
            </a:endParaRPr>
          </a:p>
        </p:txBody>
      </p:sp>
      <p:sp>
        <p:nvSpPr>
          <p:cNvPr id="118" name="Qt docs quote"/>
          <p:cNvSpPr/>
          <p:nvPr/>
        </p:nvSpPr>
        <p:spPr>
          <a:xfrm>
            <a:off x="548640" y="1188720"/>
            <a:ext cx="11091240" cy="2440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i="1" lang="en-US" sz="1600" spc="-1" strike="noStrike">
                <a:solidFill>
                  <a:schemeClr val="lt1"/>
                </a:solidFill>
                <a:latin typeface="Calibri"/>
              </a:rPr>
              <a:t>“</a:t>
            </a:r>
            <a:r>
              <a:rPr b="0" i="1" lang="en-US" sz="1600" spc="-1" strike="noStrike">
                <a:solidFill>
                  <a:schemeClr val="lt1"/>
                </a:solidFill>
                <a:latin typeface="Calibri"/>
              </a:rPr>
              <a:t>If your UI benefits from animations, … rendering effects, … you need to have GPU acceleration, and thus Qt Quick.”</a:t>
            </a:r>
            <a:endParaRPr b="0" lang="en-US" sz="1600" spc="-1" strike="noStrike">
              <a:solidFill>
                <a:srgbClr val="ffffff"/>
              </a:solidFill>
              <a:latin typeface="Arial"/>
            </a:endParaRPr>
          </a:p>
        </p:txBody>
      </p:sp>
      <p:pic>
        <p:nvPicPr>
          <p:cNvPr id="119" name="" descr="">
            <a:hlinkClick r:id="" action="ppaction://media"/>
          </p:cNvPr>
          <p:cNvPicPr/>
          <p:nvPr>
            <a:videoFile r:link="rId1"/>
            <p:extLst>
              <p:ext uri="{DAA4B4D4-6D71-4841-9C94-3DE7FCFB9230}">
                <p14:media r:embed="rId2"/>
              </p:ext>
            </p:extLst>
          </p:nvPr>
        </p:nvPicPr>
        <p:blipFill>
          <a:blip r:embed="rId3"/>
          <a:stretch>
            <a:fillRect/>
          </a:stretch>
        </p:blipFill>
        <p:spPr>
          <a:xfrm>
            <a:off x="4008240" y="1783080"/>
            <a:ext cx="4175280" cy="3702960"/>
          </a:xfrm>
          <a:prstGeom prst="rect">
            <a:avLst/>
          </a:prstGeom>
          <a:ln w="0">
            <a:noFill/>
          </a:ln>
        </p:spPr>
      </p:pic>
      <p:sp>
        <p:nvSpPr>
          <p:cNvPr id="120" name="Qt Widgets label"/>
          <p:cNvSpPr/>
          <p:nvPr/>
        </p:nvSpPr>
        <p:spPr>
          <a:xfrm>
            <a:off x="3642480" y="5596200"/>
            <a:ext cx="2633760" cy="335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200" spc="-1" strike="noStrike">
                <a:solidFill>
                  <a:srgbClr val="f0b35a"/>
                </a:solidFill>
                <a:latin typeface="Calibri"/>
              </a:rPr>
              <a:t>Qt Widgets</a:t>
            </a:r>
            <a:endParaRPr b="0" lang="en-US" sz="2200" spc="-1" strike="noStrike">
              <a:solidFill>
                <a:srgbClr val="ffffff"/>
              </a:solidFill>
              <a:latin typeface="Arial"/>
            </a:endParaRPr>
          </a:p>
        </p:txBody>
      </p:sp>
      <p:sp>
        <p:nvSpPr>
          <p:cNvPr id="121" name="Qt Widgets result"/>
          <p:cNvSpPr/>
          <p:nvPr/>
        </p:nvSpPr>
        <p:spPr>
          <a:xfrm>
            <a:off x="3642480" y="5961960"/>
            <a:ext cx="2633760" cy="2440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600" spc="-1" strike="noStrike">
                <a:solidFill>
                  <a:srgbClr val="ffffff"/>
                </a:solidFill>
                <a:latin typeface="Calibri"/>
              </a:rPr>
              <a:t>~30 FPS  ·  CPU</a:t>
            </a:r>
            <a:endParaRPr b="0" lang="en-US" sz="1600" spc="-1" strike="noStrike">
              <a:solidFill>
                <a:srgbClr val="ffffff"/>
              </a:solidFill>
              <a:latin typeface="Arial"/>
            </a:endParaRPr>
          </a:p>
        </p:txBody>
      </p:sp>
      <p:sp>
        <p:nvSpPr>
          <p:cNvPr id="122" name="Qt Quick (QML) label"/>
          <p:cNvSpPr/>
          <p:nvPr/>
        </p:nvSpPr>
        <p:spPr>
          <a:xfrm>
            <a:off x="5915160" y="5596200"/>
            <a:ext cx="2633760" cy="335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200" spc="-1" strike="noStrike">
                <a:solidFill>
                  <a:srgbClr val="5fd38d"/>
                </a:solidFill>
                <a:latin typeface="Calibri"/>
              </a:rPr>
              <a:t>Qt Quick (QML)</a:t>
            </a:r>
            <a:endParaRPr b="0" lang="en-US" sz="2200" spc="-1" strike="noStrike">
              <a:solidFill>
                <a:srgbClr val="ffffff"/>
              </a:solidFill>
              <a:latin typeface="Arial"/>
            </a:endParaRPr>
          </a:p>
        </p:txBody>
      </p:sp>
      <p:sp>
        <p:nvSpPr>
          <p:cNvPr id="123" name="Qt Quick (QML) result"/>
          <p:cNvSpPr/>
          <p:nvPr/>
        </p:nvSpPr>
        <p:spPr>
          <a:xfrm>
            <a:off x="5915160" y="5961960"/>
            <a:ext cx="2633760" cy="2440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600" spc="-1" strike="noStrike">
                <a:solidFill>
                  <a:srgbClr val="ffffff"/>
                </a:solidFill>
                <a:latin typeface="Calibri"/>
              </a:rPr>
              <a:t>60 FPS  ·  GPU</a:t>
            </a:r>
            <a:endParaRPr b="0" lang="en-US" sz="1600" spc="-1" strike="noStrike">
              <a:solidFill>
                <a:srgbClr val="ffffff"/>
              </a:solidFill>
              <a:latin typeface="Arial"/>
            </a:endParaRPr>
          </a:p>
        </p:txBody>
      </p:sp>
      <p:sp>
        <p:nvSpPr>
          <p:cNvPr id="124" name="Note"/>
          <p:cNvSpPr/>
          <p:nvPr/>
        </p:nvSpPr>
        <p:spPr>
          <a:xfrm>
            <a:off x="548640" y="6446520"/>
            <a:ext cx="11091240" cy="1832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200" spc="-1" strike="noStrike">
                <a:solidFill>
                  <a:srgbClr val="9aa0a6"/>
                </a:solidFill>
                <a:latin typeface="Calibri"/>
              </a:rPr>
              <a:t>Recorded at 60 Hz (the screen recorder can't capture 120 Hz). At 120 Hz, QML runs at 120 FPS.</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42" dur="indefinite" restart="never" nodeType="tmRoot">
          <p:childTnLst>
            <p:seq>
              <p:cTn id="143" dur="indefinite" nodeType="mainSeq">
                <p:childTnLst>
                  <p:par>
                    <p:cTn id="144" fill="hold">
                      <p:stCondLst>
                        <p:cond delay="0"/>
                      </p:stCondLst>
                      <p:childTnLst>
                        <p:par>
                          <p:cTn id="145" fill="hold">
                            <p:stCondLst>
                              <p:cond delay="0"/>
                            </p:stCondLst>
                            <p:childTnLst>
                              <p:par>
                                <p:cTn id="146" nodeType="afterEffect" fill="hold" presetClass="mediacall">
                                  <p:stCondLst>
                                    <p:cond delay="0"/>
                                  </p:stCondLst>
                                  <p:childTnLst>
                                    <p:cmd type="call" cmd="playFrom(0.0)">
                                      <p:cBhvr>
                                        <p:cTn id="147" dur="4000" fill="hold"/>
                                        <p:tgtEl>
                                          <p:spTgt spid="119"/>
                                        </p:tgtEl>
                                      </p:cBhvr>
                                    </p:cmd>
                                  </p:childTnLst>
                                </p:cTn>
                              </p:par>
                            </p:childTnLst>
                          </p:cTn>
                        </p:par>
                      </p:childTnLst>
                    </p:cTn>
                  </p:par>
                </p:childTnLst>
              </p:cTn>
              <p:prevCondLst>
                <p:cond evt="onPrev">
                  <p:tgtEl>
                    <p:sldTgt/>
                  </p:tgtEl>
                </p:cond>
              </p:prevCondLst>
              <p:nextCondLst>
                <p:cond evt="onNext">
                  <p:tgtEl>
                    <p:sldTgt/>
                  </p:tgtEl>
                </p:cond>
              </p:nextCondLst>
            </p:seq>
            <p:video>
              <p:cMediaNode>
                <p:cTn repeatCount="indefinite">
                  <p:stCondLst>
                    <p:cond delay="indefinite"/>
                  </p:stCondLst>
                </p:cTn>
                <p:tgtEl>
                  <p:spTgt spid="119"/>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125" name="Title"/>
          <p:cNvSpPr/>
          <p:nvPr/>
        </p:nvSpPr>
        <p:spPr>
          <a:xfrm>
            <a:off x="548640" y="411480"/>
            <a:ext cx="82292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Learning Curve</a:t>
            </a:r>
            <a:endParaRPr b="0" lang="en-US" sz="3600" spc="-1" strike="noStrike">
              <a:solidFill>
                <a:srgbClr val="ffffff"/>
              </a:solidFill>
              <a:latin typeface="Arial"/>
            </a:endParaRPr>
          </a:p>
        </p:txBody>
      </p:sp>
      <p:sp>
        <p:nvSpPr>
          <p:cNvPr id="126" name="Scenario"/>
          <p:cNvSpPr/>
          <p:nvPr/>
        </p:nvSpPr>
        <p:spPr>
          <a:xfrm>
            <a:off x="548640" y="1234440"/>
            <a:ext cx="1109124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Calibri"/>
              </a:rPr>
              <a:t>Scenario: </a:t>
            </a:r>
            <a:r>
              <a:rPr b="0" lang="en-US" sz="2000" spc="-1" strike="noStrike">
                <a:solidFill>
                  <a:srgbClr val="9aa0a6"/>
                </a:solidFill>
                <a:latin typeface="Calibri"/>
              </a:rPr>
              <a:t>a USART parser tool — just a line edit and a button. Short deadline.</a:t>
            </a:r>
            <a:endParaRPr b="0" lang="en-US" sz="2000" spc="-1" strike="noStrike">
              <a:solidFill>
                <a:srgbClr val="ffffff"/>
              </a:solidFill>
              <a:latin typeface="Arial"/>
            </a:endParaRPr>
          </a:p>
        </p:txBody>
      </p:sp>
      <p:sp>
        <p:nvSpPr>
          <p:cNvPr id="127" name="Qt Widgets header"/>
          <p:cNvSpPr/>
          <p:nvPr/>
        </p:nvSpPr>
        <p:spPr>
          <a:xfrm>
            <a:off x="548640" y="2148840"/>
            <a:ext cx="5394600" cy="3963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600" spc="-1" strike="noStrike">
                <a:solidFill>
                  <a:srgbClr val="5fd38d"/>
                </a:solidFill>
                <a:latin typeface="Calibri"/>
              </a:rPr>
              <a:t>Qt Widgets</a:t>
            </a:r>
            <a:endParaRPr b="0" lang="en-US" sz="2600" spc="-1" strike="noStrike">
              <a:solidFill>
                <a:srgbClr val="ffffff"/>
              </a:solidFill>
              <a:latin typeface="Arial"/>
            </a:endParaRPr>
          </a:p>
        </p:txBody>
      </p:sp>
      <p:sp>
        <p:nvSpPr>
          <p:cNvPr id="128" name="Qt Widgets 1"/>
          <p:cNvSpPr/>
          <p:nvPr/>
        </p:nvSpPr>
        <p:spPr>
          <a:xfrm>
            <a:off x="548640" y="283464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5fd38d"/>
                </a:solidFill>
                <a:latin typeface="Calibri"/>
              </a:rPr>
              <a:t>•  </a:t>
            </a:r>
            <a:r>
              <a:rPr b="0" lang="en-US" sz="2000" spc="-1" strike="noStrike">
                <a:solidFill>
                  <a:srgbClr val="ffffff"/>
                </a:solidFill>
                <a:latin typeface="Calibri"/>
              </a:rPr>
              <a:t>One language: </a:t>
            </a:r>
            <a:r>
              <a:rPr b="0" lang="en-US" sz="2000" spc="-1" strike="noStrike">
                <a:solidFill>
                  <a:srgbClr val="5fd38d"/>
                </a:solidFill>
                <a:latin typeface="Consolas"/>
              </a:rPr>
              <a:t>C++</a:t>
            </a:r>
            <a:endParaRPr b="0" lang="en-US" sz="2000" spc="-1" strike="noStrike">
              <a:solidFill>
                <a:srgbClr val="ffffff"/>
              </a:solidFill>
              <a:latin typeface="Arial"/>
            </a:endParaRPr>
          </a:p>
        </p:txBody>
      </p:sp>
      <p:sp>
        <p:nvSpPr>
          <p:cNvPr id="129" name="Qt Widgets 2"/>
          <p:cNvSpPr/>
          <p:nvPr/>
        </p:nvSpPr>
        <p:spPr>
          <a:xfrm>
            <a:off x="548640" y="340164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5fd38d"/>
                </a:solidFill>
                <a:latin typeface="Calibri"/>
              </a:rPr>
              <a:t>•  </a:t>
            </a:r>
            <a:r>
              <a:rPr b="0" lang="en-US" sz="2000" spc="-1" strike="noStrike">
                <a:solidFill>
                  <a:srgbClr val="ffffff"/>
                </a:solidFill>
                <a:latin typeface="Calibri"/>
              </a:rPr>
              <a:t>Drag &amp; drop </a:t>
            </a:r>
            <a:r>
              <a:rPr b="0" lang="en-US" sz="2000" spc="-1" strike="noStrike">
                <a:solidFill>
                  <a:srgbClr val="5fd38d"/>
                </a:solidFill>
                <a:latin typeface="Consolas"/>
              </a:rPr>
              <a:t>QLineEdit</a:t>
            </a:r>
            <a:r>
              <a:rPr b="0" lang="en-US" sz="2000" spc="-1" strike="noStrike">
                <a:solidFill>
                  <a:srgbClr val="ffffff"/>
                </a:solidFill>
                <a:latin typeface="Calibri"/>
              </a:rPr>
              <a:t> + </a:t>
            </a:r>
            <a:r>
              <a:rPr b="0" lang="en-US" sz="2000" spc="-1" strike="noStrike">
                <a:solidFill>
                  <a:srgbClr val="5fd38d"/>
                </a:solidFill>
                <a:latin typeface="Consolas"/>
              </a:rPr>
              <a:t>QPushButton</a:t>
            </a:r>
            <a:endParaRPr b="0" lang="en-US" sz="2000" spc="-1" strike="noStrike">
              <a:solidFill>
                <a:srgbClr val="ffffff"/>
              </a:solidFill>
              <a:latin typeface="Arial"/>
            </a:endParaRPr>
          </a:p>
        </p:txBody>
      </p:sp>
      <p:sp>
        <p:nvSpPr>
          <p:cNvPr id="130" name="Qt Widgets 3"/>
          <p:cNvSpPr/>
          <p:nvPr/>
        </p:nvSpPr>
        <p:spPr>
          <a:xfrm>
            <a:off x="548640" y="396864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5fd38d"/>
                </a:solidFill>
                <a:latin typeface="Calibri"/>
              </a:rPr>
              <a:t>•  </a:t>
            </a:r>
            <a:r>
              <a:rPr b="0" lang="en-US" sz="2000" spc="-1" strike="noStrike">
                <a:solidFill>
                  <a:srgbClr val="ffffff"/>
                </a:solidFill>
                <a:latin typeface="Calibri"/>
              </a:rPr>
              <a:t>Layout: one click in Designer</a:t>
            </a:r>
            <a:endParaRPr b="0" lang="en-US" sz="2000" spc="-1" strike="noStrike">
              <a:solidFill>
                <a:srgbClr val="ffffff"/>
              </a:solidFill>
              <a:latin typeface="Arial"/>
            </a:endParaRPr>
          </a:p>
        </p:txBody>
      </p:sp>
      <p:sp>
        <p:nvSpPr>
          <p:cNvPr id="131" name="Qt Widgets 4"/>
          <p:cNvSpPr/>
          <p:nvPr/>
        </p:nvSpPr>
        <p:spPr>
          <a:xfrm>
            <a:off x="548640" y="453528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5fd38d"/>
                </a:solidFill>
                <a:latin typeface="Calibri"/>
              </a:rPr>
              <a:t>•  </a:t>
            </a:r>
            <a:r>
              <a:rPr b="0" lang="en-US" sz="2000" spc="-1" strike="noStrike">
                <a:solidFill>
                  <a:srgbClr val="ffffff"/>
                </a:solidFill>
                <a:latin typeface="Calibri"/>
              </a:rPr>
              <a:t>Right-click → Go to slot: auto-generated</a:t>
            </a:r>
            <a:endParaRPr b="0" lang="en-US" sz="2000" spc="-1" strike="noStrike">
              <a:solidFill>
                <a:srgbClr val="ffffff"/>
              </a:solidFill>
              <a:latin typeface="Arial"/>
            </a:endParaRPr>
          </a:p>
        </p:txBody>
      </p:sp>
      <p:sp>
        <p:nvSpPr>
          <p:cNvPr id="132" name="Qt Quick (QML) header"/>
          <p:cNvSpPr/>
          <p:nvPr/>
        </p:nvSpPr>
        <p:spPr>
          <a:xfrm>
            <a:off x="6263640" y="2148840"/>
            <a:ext cx="5394600" cy="3963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600" spc="-1" strike="noStrike">
                <a:solidFill>
                  <a:srgbClr val="f0b35a"/>
                </a:solidFill>
                <a:latin typeface="Calibri"/>
              </a:rPr>
              <a:t>Qt Quick (QML)</a:t>
            </a:r>
            <a:endParaRPr b="0" lang="en-US" sz="2600" spc="-1" strike="noStrike">
              <a:solidFill>
                <a:srgbClr val="ffffff"/>
              </a:solidFill>
              <a:latin typeface="Arial"/>
            </a:endParaRPr>
          </a:p>
        </p:txBody>
      </p:sp>
      <p:sp>
        <p:nvSpPr>
          <p:cNvPr id="133" name="Qt Quick (QML) 1"/>
          <p:cNvSpPr/>
          <p:nvPr/>
        </p:nvSpPr>
        <p:spPr>
          <a:xfrm>
            <a:off x="6263640" y="283464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f0b35a"/>
                </a:solidFill>
                <a:latin typeface="Calibri"/>
              </a:rPr>
              <a:t>•  </a:t>
            </a:r>
            <a:r>
              <a:rPr b="0" lang="en-US" sz="2000" spc="-1" strike="noStrike">
                <a:solidFill>
                  <a:srgbClr val="ffffff"/>
                </a:solidFill>
                <a:latin typeface="Calibri"/>
              </a:rPr>
              <a:t>Two languages: QML + C++</a:t>
            </a:r>
            <a:endParaRPr b="0" lang="en-US" sz="2000" spc="-1" strike="noStrike">
              <a:solidFill>
                <a:srgbClr val="ffffff"/>
              </a:solidFill>
              <a:latin typeface="Arial"/>
            </a:endParaRPr>
          </a:p>
        </p:txBody>
      </p:sp>
      <p:sp>
        <p:nvSpPr>
          <p:cNvPr id="134" name="Qt Quick (QML) 2"/>
          <p:cNvSpPr/>
          <p:nvPr/>
        </p:nvSpPr>
        <p:spPr>
          <a:xfrm>
            <a:off x="6263640" y="340164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f0b35a"/>
                </a:solidFill>
                <a:latin typeface="Calibri"/>
              </a:rPr>
              <a:t>•  </a:t>
            </a:r>
            <a:r>
              <a:rPr b="0" lang="en-US" sz="2000" spc="-1" strike="noStrike">
                <a:solidFill>
                  <a:srgbClr val="ffffff"/>
                </a:solidFill>
                <a:latin typeface="Calibri"/>
              </a:rPr>
              <a:t>Learn QML layouts</a:t>
            </a:r>
            <a:endParaRPr b="0" lang="en-US" sz="2000" spc="-1" strike="noStrike">
              <a:solidFill>
                <a:srgbClr val="ffffff"/>
              </a:solidFill>
              <a:latin typeface="Arial"/>
            </a:endParaRPr>
          </a:p>
        </p:txBody>
      </p:sp>
      <p:sp>
        <p:nvSpPr>
          <p:cNvPr id="135" name="Qt Quick (QML) 3"/>
          <p:cNvSpPr/>
          <p:nvPr/>
        </p:nvSpPr>
        <p:spPr>
          <a:xfrm>
            <a:off x="6263640" y="396864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f0b35a"/>
                </a:solidFill>
                <a:latin typeface="Calibri"/>
              </a:rPr>
              <a:t>•  </a:t>
            </a:r>
            <a:r>
              <a:rPr b="0" lang="en-US" sz="2000" spc="-1" strike="noStrike">
                <a:solidFill>
                  <a:srgbClr val="ffffff"/>
                </a:solidFill>
                <a:latin typeface="Calibri"/>
              </a:rPr>
              <a:t>Learn QML-to-C++ signals &amp; slots</a:t>
            </a:r>
            <a:endParaRPr b="0" lang="en-US" sz="2000" spc="-1" strike="noStrike">
              <a:solidFill>
                <a:srgbClr val="ffffff"/>
              </a:solidFill>
              <a:latin typeface="Arial"/>
            </a:endParaRPr>
          </a:p>
        </p:txBody>
      </p:sp>
      <p:sp>
        <p:nvSpPr>
          <p:cNvPr id="136" name="Qt Quick (QML) 4"/>
          <p:cNvSpPr/>
          <p:nvPr/>
        </p:nvSpPr>
        <p:spPr>
          <a:xfrm>
            <a:off x="6263640" y="4535280"/>
            <a:ext cx="53946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f0b35a"/>
                </a:solidFill>
                <a:latin typeface="Calibri"/>
              </a:rPr>
              <a:t>•  </a:t>
            </a:r>
            <a:r>
              <a:rPr b="0" lang="en-US" sz="2000" spc="-1" strike="noStrike">
                <a:solidFill>
                  <a:srgbClr val="ffffff"/>
                </a:solidFill>
                <a:latin typeface="Calibri"/>
              </a:rPr>
              <a:t>Write the connections by hand</a:t>
            </a:r>
            <a:endParaRPr b="0" lang="en-US"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137" name="Title"/>
          <p:cNvSpPr/>
          <p:nvPr/>
        </p:nvSpPr>
        <p:spPr>
          <a:xfrm>
            <a:off x="548640" y="411480"/>
            <a:ext cx="822924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600" spc="-1" strike="noStrike">
                <a:solidFill>
                  <a:srgbClr val="ffffff"/>
                </a:solidFill>
                <a:latin typeface="Calibri"/>
              </a:rPr>
              <a:t>Conclusion: When to Use Which?</a:t>
            </a:r>
            <a:endParaRPr b="0" lang="en-US" sz="3600" spc="-1" strike="noStrike">
              <a:solidFill>
                <a:srgbClr val="ffffff"/>
              </a:solidFill>
              <a:latin typeface="Arial"/>
            </a:endParaRPr>
          </a:p>
        </p:txBody>
      </p:sp>
      <p:sp>
        <p:nvSpPr>
          <p:cNvPr id="138" name="Choose Qt Quick (QML) card"/>
          <p:cNvSpPr/>
          <p:nvPr/>
        </p:nvSpPr>
        <p:spPr>
          <a:xfrm>
            <a:off x="548640" y="1828800"/>
            <a:ext cx="5376240" cy="3291480"/>
          </a:xfrm>
          <a:prstGeom prst="roundRect">
            <a:avLst>
              <a:gd name="adj" fmla="val 6000"/>
            </a:avLst>
          </a:prstGeom>
          <a:solidFill>
            <a:srgbClr val="26282c"/>
          </a:solidFill>
          <a:ln w="19050">
            <a:solidFill>
              <a:srgbClr val="5fd38d"/>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39" name="Choose Qt Quick (QML) header"/>
          <p:cNvSpPr/>
          <p:nvPr/>
        </p:nvSpPr>
        <p:spPr>
          <a:xfrm>
            <a:off x="868680" y="2103120"/>
            <a:ext cx="4754520" cy="3963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600" spc="-1" strike="noStrike">
                <a:solidFill>
                  <a:srgbClr val="5fd38d"/>
                </a:solidFill>
                <a:latin typeface="Calibri"/>
              </a:rPr>
              <a:t>Choose Qt Quick (QML)</a:t>
            </a:r>
            <a:endParaRPr b="0" lang="en-US" sz="2600" spc="-1" strike="noStrike">
              <a:solidFill>
                <a:srgbClr val="ffffff"/>
              </a:solidFill>
              <a:latin typeface="Arial"/>
            </a:endParaRPr>
          </a:p>
        </p:txBody>
      </p:sp>
      <p:sp>
        <p:nvSpPr>
          <p:cNvPr id="140" name="Choose Qt Quick (QML) 1"/>
          <p:cNvSpPr/>
          <p:nvPr/>
        </p:nvSpPr>
        <p:spPr>
          <a:xfrm>
            <a:off x="868680" y="2834640"/>
            <a:ext cx="4754520" cy="320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100" spc="-1" strike="noStrike">
                <a:solidFill>
                  <a:srgbClr val="5fd38d"/>
                </a:solidFill>
                <a:latin typeface="Calibri"/>
              </a:rPr>
              <a:t>•  </a:t>
            </a:r>
            <a:r>
              <a:rPr b="0" lang="en-US" sz="2100" spc="-1" strike="noStrike">
                <a:solidFill>
                  <a:srgbClr val="ffffff"/>
                </a:solidFill>
                <a:latin typeface="Calibri"/>
              </a:rPr>
              <a:t>Animated, modern UI</a:t>
            </a:r>
            <a:endParaRPr b="0" lang="en-US" sz="2100" spc="-1" strike="noStrike">
              <a:solidFill>
                <a:srgbClr val="ffffff"/>
              </a:solidFill>
              <a:latin typeface="Arial"/>
            </a:endParaRPr>
          </a:p>
        </p:txBody>
      </p:sp>
      <p:sp>
        <p:nvSpPr>
          <p:cNvPr id="141" name="Choose Qt Quick (QML) 2"/>
          <p:cNvSpPr/>
          <p:nvPr/>
        </p:nvSpPr>
        <p:spPr>
          <a:xfrm>
            <a:off x="868680" y="3493080"/>
            <a:ext cx="4754520" cy="320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100" spc="-1" strike="noStrike">
                <a:solidFill>
                  <a:srgbClr val="5fd38d"/>
                </a:solidFill>
                <a:latin typeface="Calibri"/>
              </a:rPr>
              <a:t>•  </a:t>
            </a:r>
            <a:r>
              <a:rPr b="0" lang="en-US" sz="2100" spc="-1" strike="noStrike">
                <a:solidFill>
                  <a:srgbClr val="ffffff"/>
                </a:solidFill>
                <a:latin typeface="Calibri"/>
              </a:rPr>
              <a:t>Custom shapes and visual effects</a:t>
            </a:r>
            <a:endParaRPr b="0" lang="en-US" sz="2100" spc="-1" strike="noStrike">
              <a:solidFill>
                <a:srgbClr val="ffffff"/>
              </a:solidFill>
              <a:latin typeface="Arial"/>
            </a:endParaRPr>
          </a:p>
        </p:txBody>
      </p:sp>
      <p:sp>
        <p:nvSpPr>
          <p:cNvPr id="142" name="Choose Qt Quick (QML) 3"/>
          <p:cNvSpPr/>
          <p:nvPr/>
        </p:nvSpPr>
        <p:spPr>
          <a:xfrm>
            <a:off x="868680" y="4151520"/>
            <a:ext cx="4754520" cy="320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100" spc="-1" strike="noStrike">
                <a:solidFill>
                  <a:srgbClr val="5fd38d"/>
                </a:solidFill>
                <a:latin typeface="Calibri"/>
              </a:rPr>
              <a:t>•  </a:t>
            </a:r>
            <a:r>
              <a:rPr b="0" lang="en-US" sz="2100" spc="-1" strike="noStrike">
                <a:solidFill>
                  <a:srgbClr val="ffffff"/>
                </a:solidFill>
                <a:latin typeface="Calibri"/>
              </a:rPr>
              <a:t>Embedded &amp; mobile with a GPU</a:t>
            </a:r>
            <a:endParaRPr b="0" lang="en-US" sz="2100" spc="-1" strike="noStrike">
              <a:solidFill>
                <a:srgbClr val="ffffff"/>
              </a:solidFill>
              <a:latin typeface="Arial"/>
            </a:endParaRPr>
          </a:p>
        </p:txBody>
      </p:sp>
      <p:sp>
        <p:nvSpPr>
          <p:cNvPr id="143" name="Choose Qt Widgets card"/>
          <p:cNvSpPr/>
          <p:nvPr/>
        </p:nvSpPr>
        <p:spPr>
          <a:xfrm>
            <a:off x="6263640" y="1828800"/>
            <a:ext cx="5376240" cy="3291480"/>
          </a:xfrm>
          <a:prstGeom prst="roundRect">
            <a:avLst>
              <a:gd name="adj" fmla="val 6000"/>
            </a:avLst>
          </a:prstGeom>
          <a:solidFill>
            <a:srgbClr val="26282c"/>
          </a:solidFill>
          <a:ln w="19050">
            <a:solidFill>
              <a:srgbClr val="f0b35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 name="Choose Qt Widgets header"/>
          <p:cNvSpPr/>
          <p:nvPr/>
        </p:nvSpPr>
        <p:spPr>
          <a:xfrm>
            <a:off x="6583680" y="2103120"/>
            <a:ext cx="4754520" cy="3963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600" spc="-1" strike="noStrike">
                <a:solidFill>
                  <a:srgbClr val="f0b35a"/>
                </a:solidFill>
                <a:latin typeface="Calibri"/>
              </a:rPr>
              <a:t>Choose Qt Widgets</a:t>
            </a:r>
            <a:endParaRPr b="0" lang="en-US" sz="2600" spc="-1" strike="noStrike">
              <a:solidFill>
                <a:srgbClr val="ffffff"/>
              </a:solidFill>
              <a:latin typeface="Arial"/>
            </a:endParaRPr>
          </a:p>
        </p:txBody>
      </p:sp>
      <p:sp>
        <p:nvSpPr>
          <p:cNvPr id="145" name="Choose Qt Widgets 1"/>
          <p:cNvSpPr/>
          <p:nvPr/>
        </p:nvSpPr>
        <p:spPr>
          <a:xfrm>
            <a:off x="6583680" y="2834640"/>
            <a:ext cx="4754520" cy="320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100" spc="-1" strike="noStrike">
                <a:solidFill>
                  <a:srgbClr val="f0b35a"/>
                </a:solidFill>
                <a:latin typeface="Calibri"/>
              </a:rPr>
              <a:t>•  </a:t>
            </a:r>
            <a:r>
              <a:rPr b="0" lang="en-US" sz="2100" spc="-1" strike="noStrike">
                <a:solidFill>
                  <a:srgbClr val="ffffff"/>
                </a:solidFill>
                <a:latin typeface="Calibri"/>
              </a:rPr>
              <a:t>Classic desktop design</a:t>
            </a:r>
            <a:endParaRPr b="0" lang="en-US" sz="2100" spc="-1" strike="noStrike">
              <a:solidFill>
                <a:srgbClr val="ffffff"/>
              </a:solidFill>
              <a:latin typeface="Arial"/>
            </a:endParaRPr>
          </a:p>
        </p:txBody>
      </p:sp>
      <p:sp>
        <p:nvSpPr>
          <p:cNvPr id="146" name="Choose Qt Widgets 2"/>
          <p:cNvSpPr/>
          <p:nvPr/>
        </p:nvSpPr>
        <p:spPr>
          <a:xfrm>
            <a:off x="6583680" y="3493080"/>
            <a:ext cx="4754520" cy="320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100" spc="-1" strike="noStrike">
                <a:solidFill>
                  <a:srgbClr val="f0b35a"/>
                </a:solidFill>
                <a:latin typeface="Calibri"/>
              </a:rPr>
              <a:t>•  </a:t>
            </a:r>
            <a:r>
              <a:rPr b="0" lang="en-US" sz="2100" spc="-1" strike="noStrike">
                <a:solidFill>
                  <a:srgbClr val="ffffff"/>
                </a:solidFill>
                <a:latin typeface="Calibri"/>
              </a:rPr>
              <a:t>Complex tables, standard controls</a:t>
            </a:r>
            <a:endParaRPr b="0" lang="en-US" sz="2100" spc="-1" strike="noStrike">
              <a:solidFill>
                <a:srgbClr val="ffffff"/>
              </a:solidFill>
              <a:latin typeface="Arial"/>
            </a:endParaRPr>
          </a:p>
        </p:txBody>
      </p:sp>
      <p:sp>
        <p:nvSpPr>
          <p:cNvPr id="147" name="Choose Qt Widgets 3"/>
          <p:cNvSpPr/>
          <p:nvPr/>
        </p:nvSpPr>
        <p:spPr>
          <a:xfrm>
            <a:off x="6583680" y="4151520"/>
            <a:ext cx="4754520" cy="320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100" spc="-1" strike="noStrike">
                <a:solidFill>
                  <a:srgbClr val="f0b35a"/>
                </a:solidFill>
                <a:latin typeface="Calibri"/>
              </a:rPr>
              <a:t>•  </a:t>
            </a:r>
            <a:r>
              <a:rPr b="0" lang="en-US" sz="2100" spc="-1" strike="noStrike">
                <a:solidFill>
                  <a:srgbClr val="ffffff"/>
                </a:solidFill>
                <a:latin typeface="Calibri"/>
              </a:rPr>
              <a:t>Simple tools with a short deadline</a:t>
            </a:r>
            <a:endParaRPr b="0" lang="en-US" sz="2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2026-10-15T19:26:09Z</dcterms:modified>
  <cp:revision>422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Widescreen</vt:lpwstr>
  </property>
  <property fmtid="{D5CDD505-2E9C-101B-9397-08002B2CF9AE}" pid="4" name="Slides">
    <vt:i4>10</vt:i4>
  </property>
</Properties>
</file>