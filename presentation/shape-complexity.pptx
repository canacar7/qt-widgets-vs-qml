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Ten-minute talk, four comparisons. Today: chapter one, shape complexity. The shape on the right is the button we will build in both toolkits.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chapters. Each one picks a concrete task and builds it both ways. Today we cover the first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rectangular button is a one-liner in both toolkits. Things change when the shape isn't a rectangle.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shape comes from a designer's SVG. Three requirements: draw it from that path, ignore clicks in the orange area, and use it from the designer like a normal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overrides. paintEvent draws the path; hitButton is the one people forget, and without it the transparent corner still triggers clicked().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SVG describes an arc by where it ends. Qt's arcTo wants the circle's bounding square and angles. The center (-14, 55.5) comes from the two circle equations; the angles from atan. Start 7.42 degrees, sweep minus 67.98, negative because it runs clockwise.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Promote is cheap but blind: you design against a rectangle. The plugin gives a true preview, but it's a second build artifact you deploy into Creator and restart for every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SVG string goes straight into PathSvg. containmentMask plus FillContains gives the shaped hit area. QML isn't magic here: forget FillContains and the empty corner clicks again, same as forgetting hitButton.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counts are from the demo project: MyButton header and source including hitButton, versus the single ComplexButton.qml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run both windows, click inside each shape, then click the empty corner. Neither reacts. Then mention what it took to get there in each toolkit.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20116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Qt Widgets vs Qt Quick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31520" y="297180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9FB0A9"/>
                </a:solidFill>
                <a:latin typeface="Calibri"/>
              </a:rPr>
              <a:t>UI development across different use cases</a:t>
            </a:r>
          </a:p>
        </p:txBody>
      </p:sp>
      <p:sp>
        <p:nvSpPr>
          <p:cNvPr id="4" name="Chapter"/>
          <p:cNvSpPr txBox="1"/>
          <p:nvPr/>
        </p:nvSpPr>
        <p:spPr>
          <a:xfrm>
            <a:off x="731520" y="53949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0712B"/>
                </a:solidFill>
                <a:latin typeface="Calibri"/>
              </a:rPr>
              <a:t>Chapter 1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Shape Complexity</a:t>
            </a:r>
          </a:p>
        </p:txBody>
      </p:sp>
      <p:pic>
        <p:nvPicPr>
          <p:cNvPr id="5" name="Shape image" descr="shape-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25880"/>
            <a:ext cx="3874168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Calibri"/>
              </a:rPr>
              <a:t>Four comparisons</a:t>
            </a:r>
          </a:p>
        </p:txBody>
      </p:sp>
      <p:sp>
        <p:nvSpPr>
          <p:cNvPr id="3" name="Active row"/>
          <p:cNvSpPr/>
          <p:nvPr/>
        </p:nvSpPr>
        <p:spPr>
          <a:xfrm>
            <a:off x="411480" y="1325880"/>
            <a:ext cx="11338560" cy="960120"/>
          </a:xfrm>
          <a:prstGeom prst="roundRect">
            <a:avLst>
              <a:gd name="adj" fmla="val 12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508760"/>
            <a:ext cx="566928" cy="566928"/>
          </a:xfrm>
          <a:prstGeom prst="ellipse">
            <a:avLst/>
          </a:prstGeom>
          <a:solidFill>
            <a:srgbClr val="E07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Chapter 1"/>
          <p:cNvSpPr txBox="1"/>
          <p:nvPr/>
        </p:nvSpPr>
        <p:spPr>
          <a:xfrm>
            <a:off x="1508760" y="149047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420"/>
                </a:solidFill>
                <a:latin typeface="Calibri"/>
              </a:rPr>
              <a:t>Shape Complexity</a:t>
            </a:r>
          </a:p>
        </p:txBody>
      </p:sp>
      <p:sp>
        <p:nvSpPr>
          <p:cNvPr id="6" name="Chapter 1 summary"/>
          <p:cNvSpPr txBox="1"/>
          <p:nvPr/>
        </p:nvSpPr>
        <p:spPr>
          <a:xfrm>
            <a:off x="1508760" y="1856231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D6863"/>
                </a:solidFill>
                <a:latin typeface="Calibri"/>
              </a:rPr>
              <a:t>A button that isn't a rectangle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161848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E0712B"/>
                </a:solidFill>
                <a:latin typeface="Calibri"/>
              </a:rPr>
              <a:t>Today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624328"/>
            <a:ext cx="566928" cy="566928"/>
          </a:xfrm>
          <a:prstGeom prst="ellipse">
            <a:avLst/>
          </a:prstGeom>
          <a:solidFill>
            <a:srgbClr val="D4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5D6863"/>
                </a:solidFill>
                <a:latin typeface="Calibri"/>
              </a:rPr>
              <a:t>2</a:t>
            </a:r>
          </a:p>
        </p:txBody>
      </p:sp>
      <p:sp>
        <p:nvSpPr>
          <p:cNvPr id="9" name="Chapter 2"/>
          <p:cNvSpPr txBox="1"/>
          <p:nvPr/>
        </p:nvSpPr>
        <p:spPr>
          <a:xfrm>
            <a:off x="1508760" y="260604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5D6863"/>
                </a:solidFill>
                <a:latin typeface="Calibri"/>
              </a:rPr>
              <a:t>Data Load &amp; UI Responsiveness</a:t>
            </a:r>
          </a:p>
        </p:txBody>
      </p:sp>
      <p:sp>
        <p:nvSpPr>
          <p:cNvPr id="10" name="Chapter 2 summary"/>
          <p:cNvSpPr txBox="1"/>
          <p:nvPr/>
        </p:nvSpPr>
        <p:spPr>
          <a:xfrm>
            <a:off x="1508760" y="297180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FB0A9"/>
                </a:solidFill>
                <a:latin typeface="Calibri"/>
              </a:rPr>
              <a:t>Large tables, frozen UIs and the render thread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739896"/>
            <a:ext cx="566928" cy="566928"/>
          </a:xfrm>
          <a:prstGeom prst="ellipse">
            <a:avLst/>
          </a:prstGeom>
          <a:solidFill>
            <a:srgbClr val="D4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5D6863"/>
                </a:solidFill>
                <a:latin typeface="Calibri"/>
              </a:rPr>
              <a:t>3</a:t>
            </a:r>
          </a:p>
        </p:txBody>
      </p:sp>
      <p:sp>
        <p:nvSpPr>
          <p:cNvPr id="12" name="Chapter 3"/>
          <p:cNvSpPr txBox="1"/>
          <p:nvPr/>
        </p:nvSpPr>
        <p:spPr>
          <a:xfrm>
            <a:off x="1508760" y="372160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5D6863"/>
                </a:solidFill>
                <a:latin typeface="Calibri"/>
              </a:rPr>
              <a:t>Animation &amp; 3D Capabilities</a:t>
            </a:r>
          </a:p>
        </p:txBody>
      </p:sp>
      <p:sp>
        <p:nvSpPr>
          <p:cNvPr id="13" name="Chapter 3 summary"/>
          <p:cNvSpPr txBox="1"/>
          <p:nvPr/>
        </p:nvSpPr>
        <p:spPr>
          <a:xfrm>
            <a:off x="1508760" y="40873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FB0A9"/>
                </a:solidFill>
                <a:latin typeface="Calibri"/>
              </a:rPr>
              <a:t>QPainter on the CPU vs the scene graph on the GPU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855464"/>
            <a:ext cx="566928" cy="566928"/>
          </a:xfrm>
          <a:prstGeom prst="ellipse">
            <a:avLst/>
          </a:prstGeom>
          <a:solidFill>
            <a:srgbClr val="D4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5D6863"/>
                </a:solidFill>
                <a:latin typeface="Calibri"/>
              </a:rPr>
              <a:t>4</a:t>
            </a:r>
          </a:p>
        </p:txBody>
      </p:sp>
      <p:sp>
        <p:nvSpPr>
          <p:cNvPr id="15" name="Chapter 4"/>
          <p:cNvSpPr txBox="1"/>
          <p:nvPr/>
        </p:nvSpPr>
        <p:spPr>
          <a:xfrm>
            <a:off x="1508760" y="483717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5D6863"/>
                </a:solidFill>
                <a:latin typeface="Calibri"/>
              </a:rPr>
              <a:t>Learning Curve &amp; Development Speed</a:t>
            </a:r>
          </a:p>
        </p:txBody>
      </p:sp>
      <p:sp>
        <p:nvSpPr>
          <p:cNvPr id="16" name="Chapter 4 summary"/>
          <p:cNvSpPr txBox="1"/>
          <p:nvPr/>
        </p:nvSpPr>
        <p:spPr>
          <a:xfrm>
            <a:off x="1508760" y="5202936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FB0A9"/>
                </a:solidFill>
                <a:latin typeface="Calibri"/>
              </a:rPr>
              <a:t>Designer forms vs declarative bindings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A9"/>
                </a:solidFill>
                <a:latin typeface="Calibri"/>
              </a:rPr>
              <a:t>Qt Widgets vs Qt Quick  ·  01 Shape Complexity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FB0A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731520" y="17373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E0712B"/>
                </a:solidFill>
                <a:latin typeface="Calibri"/>
              </a:rPr>
              <a:t>01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31520" y="324612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Shape Complexity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31520" y="4069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9FB0A9"/>
                </a:solidFill>
                <a:latin typeface="Calibri"/>
              </a:rPr>
              <a:t>Same button, two toolkits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Calibri"/>
              </a:rPr>
              <a:t>The task: a button that isn't a rectangle</a:t>
            </a:r>
          </a:p>
        </p:txBody>
      </p:sp>
      <p:pic>
        <p:nvPicPr>
          <p:cNvPr id="3" name="Shape image" descr="shape-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3832058" cy="4160520"/>
          </a:xfrm>
          <a:prstGeom prst="rect">
            <a:avLst/>
          </a:prstGeom>
        </p:spPr>
      </p:pic>
      <p:sp>
        <p:nvSpPr>
          <p:cNvPr id="4" name="Legend button"/>
          <p:cNvSpPr/>
          <p:nvPr/>
        </p:nvSpPr>
        <p:spPr>
          <a:xfrm>
            <a:off x="822960" y="5760720"/>
            <a:ext cx="201168" cy="20116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7332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D6863"/>
                </a:solidFill>
                <a:latin typeface="Calibri"/>
              </a:rPr>
              <a:t>Button</a:t>
            </a:r>
          </a:p>
        </p:txBody>
      </p:sp>
      <p:sp>
        <p:nvSpPr>
          <p:cNvPr id="6" name="Legend dead zone"/>
          <p:cNvSpPr/>
          <p:nvPr/>
        </p:nvSpPr>
        <p:spPr>
          <a:xfrm>
            <a:off x="2103120" y="5760720"/>
            <a:ext cx="201168" cy="201168"/>
          </a:xfrm>
          <a:prstGeom prst="rect">
            <a:avLst/>
          </a:prstGeom>
          <a:solidFill>
            <a:srgbClr val="F8DFCF"/>
          </a:solidFill>
          <a:ln w="12700">
            <a:solidFill>
              <a:srgbClr val="E07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57332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D6863"/>
                </a:solidFill>
                <a:latin typeface="Calibri"/>
              </a:rPr>
              <a:t>Bounding box only: must not click</a:t>
            </a:r>
          </a:p>
        </p:txBody>
      </p:sp>
      <p:sp>
        <p:nvSpPr>
          <p:cNvPr id="8" name="Source label"/>
          <p:cNvSpPr txBox="1"/>
          <p:nvPr/>
        </p:nvSpPr>
        <p:spPr>
          <a:xfrm>
            <a:off x="6035040" y="1417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D6863"/>
                </a:solidFill>
                <a:latin typeface="Calibri"/>
              </a:rPr>
              <a:t>SOURCE: image/button.svg</a:t>
            </a:r>
          </a:p>
        </p:txBody>
      </p:sp>
      <p:sp>
        <p:nvSpPr>
          <p:cNvPr id="9" name="SVG path background"/>
          <p:cNvSpPr/>
          <p:nvPr/>
        </p:nvSpPr>
        <p:spPr>
          <a:xfrm>
            <a:off x="6035040" y="1783080"/>
            <a:ext cx="5623560" cy="685800"/>
          </a:xfrm>
          <a:prstGeom prst="roundRect">
            <a:avLst>
              <a:gd name="adj" fmla="val 4000"/>
            </a:avLst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VG path"/>
          <p:cNvSpPr txBox="1"/>
          <p:nvPr/>
        </p:nvSpPr>
        <p:spPr>
          <a:xfrm>
            <a:off x="6309359" y="2011680"/>
            <a:ext cx="5074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6EBE8"/>
                </a:solidFill>
                <a:latin typeface="Consolas"/>
              </a:rPr>
              <a:t>M 155 40 L 105 40 A 120 120 0 0 1 45 160 L 155 160 Z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0" y="2880360"/>
            <a:ext cx="457200" cy="457200"/>
          </a:xfrm>
          <a:prstGeom prst="ellipse">
            <a:avLst/>
          </a:prstGeom>
          <a:solidFill>
            <a:srgbClr val="1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quirement 1"/>
          <p:cNvSpPr txBox="1"/>
          <p:nvPr/>
        </p:nvSpPr>
        <p:spPr>
          <a:xfrm>
            <a:off x="6720840" y="28529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Calibri"/>
              </a:rPr>
              <a:t>Draw it from the SVG path</a:t>
            </a:r>
          </a:p>
        </p:txBody>
      </p:sp>
      <p:sp>
        <p:nvSpPr>
          <p:cNvPr id="13" name="Requirement 1 detail"/>
          <p:cNvSpPr txBox="1"/>
          <p:nvPr/>
        </p:nvSpPr>
        <p:spPr>
          <a:xfrm>
            <a:off x="6720840" y="321868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D6863"/>
                </a:solidFill>
                <a:latin typeface="Calibri"/>
              </a:rPr>
              <a:t>Straight edges plus one arc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3904487"/>
            <a:ext cx="457200" cy="457200"/>
          </a:xfrm>
          <a:prstGeom prst="ellipse">
            <a:avLst/>
          </a:prstGeom>
          <a:solidFill>
            <a:srgbClr val="1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quirement 2"/>
          <p:cNvSpPr txBox="1"/>
          <p:nvPr/>
        </p:nvSpPr>
        <p:spPr>
          <a:xfrm>
            <a:off x="6720840" y="3877055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Calibri"/>
              </a:rPr>
              <a:t>Accept clicks only inside the shape</a:t>
            </a:r>
          </a:p>
        </p:txBody>
      </p:sp>
      <p:sp>
        <p:nvSpPr>
          <p:cNvPr id="16" name="Requirement 2 detail"/>
          <p:cNvSpPr txBox="1"/>
          <p:nvPr/>
        </p:nvSpPr>
        <p:spPr>
          <a:xfrm>
            <a:off x="6720840" y="42428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D6863"/>
                </a:solidFill>
                <a:latin typeface="Calibri"/>
              </a:rPr>
              <a:t>The empty corner belongs to the bounding box, not the button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4928616"/>
            <a:ext cx="457200" cy="457200"/>
          </a:xfrm>
          <a:prstGeom prst="ellipse">
            <a:avLst/>
          </a:prstGeom>
          <a:solidFill>
            <a:srgbClr val="1B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quirement 3"/>
          <p:cNvSpPr txBox="1"/>
          <p:nvPr/>
        </p:nvSpPr>
        <p:spPr>
          <a:xfrm>
            <a:off x="6720840" y="490118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Calibri"/>
              </a:rPr>
              <a:t>Place it from the designer</a:t>
            </a:r>
          </a:p>
        </p:txBody>
      </p:sp>
      <p:sp>
        <p:nvSpPr>
          <p:cNvPr id="19" name="Requirement 3 detail"/>
          <p:cNvSpPr txBox="1"/>
          <p:nvPr/>
        </p:nvSpPr>
        <p:spPr>
          <a:xfrm>
            <a:off x="6720840" y="526694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D6863"/>
                </a:solidFill>
                <a:latin typeface="Calibri"/>
              </a:rPr>
              <a:t>Drag, drop and wire up clicked() like any other button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A9"/>
                </a:solidFill>
                <a:latin typeface="Calibri"/>
              </a:rPr>
              <a:t>Qt Widgets vs Qt Quick  ·  01 Shape Complexity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FB0A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Calibri"/>
              </a:rPr>
              <a:t>Widgets: subclass it and paint it yourself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566928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WIDGETS</a:t>
            </a:r>
          </a:p>
        </p:txBody>
      </p:sp>
      <p:sp>
        <p:nvSpPr>
          <p:cNvPr id="4" name="Step 1"/>
          <p:cNvSpPr/>
          <p:nvPr/>
        </p:nvSpPr>
        <p:spPr>
          <a:xfrm>
            <a:off x="548640" y="13716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7276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Calibri"/>
              </a:rPr>
              <a:t>Subclass QPushButton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38528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863"/>
                </a:solidFill>
                <a:latin typeface="Calibri"/>
              </a:rPr>
              <a:t>clicked(), text and focus come for free</a:t>
            </a:r>
          </a:p>
        </p:txBody>
      </p:sp>
      <p:sp>
        <p:nvSpPr>
          <p:cNvPr id="8" name="Step 2"/>
          <p:cNvSpPr/>
          <p:nvPr/>
        </p:nvSpPr>
        <p:spPr>
          <a:xfrm>
            <a:off x="4297679" y="13716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79" y="1572768"/>
            <a:ext cx="384048" cy="384048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19" y="157276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Calibri"/>
              </a:rPr>
              <a:t>Override paintEvent()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19" y="1938528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863"/>
                </a:solidFill>
                <a:latin typeface="Calibri"/>
              </a:rPr>
              <a:t>Build a QPainterPath, scale it to rect(), draw it</a:t>
            </a:r>
          </a:p>
        </p:txBody>
      </p:sp>
      <p:sp>
        <p:nvSpPr>
          <p:cNvPr id="12" name="Step 3"/>
          <p:cNvSpPr/>
          <p:nvPr/>
        </p:nvSpPr>
        <p:spPr>
          <a:xfrm>
            <a:off x="8046719" y="137160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19" y="1572768"/>
            <a:ext cx="384048" cy="384048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59" y="157276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Calibri"/>
              </a:rPr>
              <a:t>Override hitButton()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1938528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863"/>
                </a:solidFill>
                <a:latin typeface="Calibri"/>
              </a:rPr>
              <a:t>Otherwise the empty corner still clicks</a:t>
            </a:r>
          </a:p>
        </p:txBody>
      </p:sp>
      <p:sp>
        <p:nvSpPr>
          <p:cNvPr id="16" name="Widgets code background"/>
          <p:cNvSpPr/>
          <p:nvPr/>
        </p:nvSpPr>
        <p:spPr>
          <a:xfrm>
            <a:off x="548640" y="2880360"/>
            <a:ext cx="11018520" cy="3063240"/>
          </a:xfrm>
          <a:prstGeom prst="roundRect">
            <a:avLst>
              <a:gd name="adj" fmla="val 4000"/>
            </a:avLst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Widgets code"/>
          <p:cNvSpPr txBox="1"/>
          <p:nvPr/>
        </p:nvSpPr>
        <p:spPr>
          <a:xfrm>
            <a:off x="822959" y="3108960"/>
            <a:ext cx="1046988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E6EBE8"/>
                </a:solidFill>
                <a:latin typeface="Consolas"/>
              </a:rPr>
              <a:t>class MyButton : public QPushButton</a:t>
            </a:r>
          </a:p>
          <a:p>
            <a:pPr algn="l"/>
            <a:r>
              <a:rPr sz="1600" b="0" i="0">
                <a:solidFill>
                  <a:srgbClr val="E6EBE8"/>
                </a:solidFill>
                <a:latin typeface="Consolas"/>
              </a:rPr>
              <a:t>{</a:t>
            </a:r>
          </a:p>
          <a:p>
            <a:pPr algn="l"/>
            <a:r>
              <a:rPr sz="1600" b="0" i="0">
                <a:solidFill>
                  <a:srgbClr val="E6EBE8"/>
                </a:solidFill>
                <a:latin typeface="Consolas"/>
              </a:rPr>
              <a:t>    Q_OBJECT</a:t>
            </a:r>
          </a:p>
          <a:p>
            <a:pPr algn="l"/>
            <a:r>
              <a:rPr sz="1600" b="0" i="0">
                <a:solidFill>
                  <a:srgbClr val="E6EBE8"/>
                </a:solidFill>
                <a:latin typeface="Consolas"/>
              </a:rPr>
              <a:t>public:</a:t>
            </a:r>
          </a:p>
          <a:p>
            <a:pPr algn="l"/>
            <a:r>
              <a:rPr sz="1600" b="0" i="0">
                <a:solidFill>
                  <a:srgbClr val="E6EBE8"/>
                </a:solidFill>
                <a:latin typeface="Consolas"/>
              </a:rPr>
              <a:t>    explicit MyButton(QWidget *parent = nullptr);</a:t>
            </a:r>
          </a:p>
          <a:p>
            <a:pPr algn="l"/>
            <a:r>
              <a:rPr sz="1600" b="0" i="0">
                <a:solidFill>
                  <a:srgbClr val="E6EBE8"/>
                </a:solidFill>
                <a:latin typeface="Consolas"/>
              </a:rPr>
              <a:t>protected:</a:t>
            </a:r>
          </a:p>
          <a:p>
            <a:pPr algn="l"/>
            <a:r>
              <a:rPr sz="1600" b="0" i="0">
                <a:solidFill>
                  <a:srgbClr val="E6EBE8"/>
                </a:solidFill>
                <a:latin typeface="Consolas"/>
              </a:rPr>
              <a:t>    void paintEvent(QPaintEvent *event) override;     </a:t>
            </a:r>
            <a:r>
              <a:rPr sz="1600" b="0" i="0">
                <a:solidFill>
                  <a:srgbClr val="8FA39B"/>
                </a:solidFill>
                <a:latin typeface="Consolas"/>
              </a:rPr>
              <a:t>// draw the path</a:t>
            </a:r>
          </a:p>
          <a:p>
            <a:pPr algn="l"/>
            <a:r>
              <a:rPr sz="1600" b="0" i="0">
                <a:solidFill>
                  <a:srgbClr val="E6EBE8"/>
                </a:solidFill>
                <a:latin typeface="Consolas"/>
              </a:rPr>
              <a:t>    bool hitButton(const QPoint &amp;pos) const override; </a:t>
            </a:r>
            <a:r>
              <a:rPr sz="1600" b="0" i="0">
                <a:solidFill>
                  <a:srgbClr val="8FA39B"/>
                </a:solidFill>
                <a:latin typeface="Consolas"/>
              </a:rPr>
              <a:t>// shape-aware hit test</a:t>
            </a:r>
          </a:p>
          <a:p>
            <a:pPr algn="l"/>
            <a:r>
              <a:rPr sz="1600" b="0" i="0">
                <a:solidFill>
                  <a:srgbClr val="E6EBE8"/>
                </a:solidFill>
                <a:latin typeface="Consolas"/>
              </a:rPr>
              <a:t>};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A9"/>
                </a:solidFill>
                <a:latin typeface="Calibri"/>
              </a:rPr>
              <a:t>Qt Widgets vs Qt Quick  ·  01 Shape Complexity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FB0A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Calibri"/>
              </a:rPr>
              <a:t>The SVG arc has to be translated by hand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566928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D6863"/>
                </a:solidFill>
                <a:latin typeface="Calibri"/>
              </a:rPr>
              <a:t>SVG: ENDPOINT FORM</a:t>
            </a:r>
          </a:p>
        </p:txBody>
      </p:sp>
      <p:sp>
        <p:nvSpPr>
          <p:cNvPr id="5" name="SVG arc background"/>
          <p:cNvSpPr/>
          <p:nvPr/>
        </p:nvSpPr>
        <p:spPr>
          <a:xfrm>
            <a:off x="548640" y="1783080"/>
            <a:ext cx="5120640" cy="640080"/>
          </a:xfrm>
          <a:prstGeom prst="roundRect">
            <a:avLst>
              <a:gd name="adj" fmla="val 4000"/>
            </a:avLst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VG arc"/>
          <p:cNvSpPr txBox="1"/>
          <p:nvPr/>
        </p:nvSpPr>
        <p:spPr>
          <a:xfrm>
            <a:off x="822959" y="2011680"/>
            <a:ext cx="457200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6EBE8"/>
                </a:solidFill>
                <a:latin typeface="Consolas"/>
              </a:rPr>
              <a:t>A 120 120  0 0 1  45 160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D6863"/>
                </a:solidFill>
                <a:latin typeface="Calibri"/>
              </a:rPr>
              <a:t>End point, radius and two flags. The center and angles are implied.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D6863"/>
                </a:solidFill>
                <a:latin typeface="Calibri"/>
              </a:rPr>
              <a:t>QT arcTo(): CENTER FORM</a:t>
            </a:r>
          </a:p>
        </p:txBody>
      </p:sp>
      <p:sp>
        <p:nvSpPr>
          <p:cNvPr id="9" name="Qt arcTo background"/>
          <p:cNvSpPr/>
          <p:nvPr/>
        </p:nvSpPr>
        <p:spPr>
          <a:xfrm>
            <a:off x="548640" y="379476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Qt arcTo"/>
          <p:cNvSpPr txBox="1"/>
          <p:nvPr/>
        </p:nvSpPr>
        <p:spPr>
          <a:xfrm>
            <a:off x="822959" y="4023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6EBE8"/>
                </a:solidFill>
                <a:latin typeface="Consolas"/>
              </a:rPr>
              <a:t>arcTo(QRectF(-134, -64.5, 240, 240),</a:t>
            </a:r>
          </a:p>
          <a:p>
            <a:pPr algn="l"/>
            <a:r>
              <a:rPr sz="1500" b="0" i="0">
                <a:solidFill>
                  <a:srgbClr val="E6EBE8"/>
                </a:solidFill>
                <a:latin typeface="Consolas"/>
              </a:rPr>
              <a:t>      7.42, -67.98);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D6863"/>
                </a:solidFill>
                <a:latin typeface="Calibri"/>
              </a:rPr>
              <a:t>Square around the circle, start angle, sweep.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0712B"/>
                </a:solidFill>
                <a:latin typeface="Calibri"/>
              </a:rPr>
              <a:t>Someone has to solve for the center, then the angles.</a:t>
            </a:r>
          </a:p>
        </p:txBody>
      </p:sp>
      <p:pic>
        <p:nvPicPr>
          <p:cNvPr id="12" name="Arc geometry" descr="arc-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25880"/>
            <a:ext cx="6366734" cy="4846320"/>
          </a:xfrm>
          <a:prstGeom prst="rect">
            <a:avLst/>
          </a:prstGeom>
        </p:spPr>
      </p:pic>
      <p:sp>
        <p:nvSpPr>
          <p:cNvPr id="13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A9"/>
                </a:solidFill>
                <a:latin typeface="Calibri"/>
              </a:rPr>
              <a:t>Qt Widgets vs Qt Quick  ·  01 Shape Complexity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FB0A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Calibri"/>
              </a:rPr>
              <a:t>Getting it into Designer: Promote or plugin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566928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WIDGETS</a:t>
            </a:r>
          </a:p>
        </p:txBody>
      </p:sp>
      <p:sp>
        <p:nvSpPr>
          <p:cNvPr id="4" name="Promote card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2420"/>
                </a:solidFill>
                <a:latin typeface="Calibri"/>
              </a:rPr>
              <a:t>Promote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863"/>
                </a:solidFill>
                <a:latin typeface="Consolas"/>
              </a:rPr>
              <a:t>Right click a QPushButton → Promote to…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834640"/>
            <a:ext cx="347472" cy="347472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5292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420"/>
                </a:solidFill>
                <a:latin typeface="Calibri"/>
              </a:rPr>
              <a:t>No extra project, just the .h/.cpp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611880"/>
            <a:ext cx="347472" cy="347472"/>
          </a:xfrm>
          <a:prstGeom prst="ellipse">
            <a:avLst/>
          </a:prstGeom>
          <a:solidFill>
            <a:srgbClr val="E07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3016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420"/>
                </a:solidFill>
                <a:latin typeface="Calibri"/>
              </a:rPr>
              <a:t>Designer shows a plain rectangle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389120"/>
            <a:ext cx="347472" cy="347472"/>
          </a:xfrm>
          <a:prstGeom prst="ellipse">
            <a:avLst/>
          </a:prstGeom>
          <a:solidFill>
            <a:srgbClr val="E07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07407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420"/>
                </a:solidFill>
                <a:latin typeface="Calibri"/>
              </a:rPr>
              <a:t>Custom properties not editable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166360"/>
            <a:ext cx="347472" cy="347472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18464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420"/>
                </a:solidFill>
                <a:latin typeface="Calibri"/>
              </a:rPr>
              <a:t>Change → rebuild the app</a:t>
            </a:r>
          </a:p>
        </p:txBody>
      </p:sp>
      <p:sp>
        <p:nvSpPr>
          <p:cNvPr id="15" name="Designer plugin card"/>
          <p:cNvSpPr/>
          <p:nvPr/>
        </p:nvSpPr>
        <p:spPr>
          <a:xfrm>
            <a:off x="6172200" y="137160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002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2420"/>
                </a:solidFill>
                <a:latin typeface="Calibri"/>
              </a:rPr>
              <a:t>Designer plugin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031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863"/>
                </a:solidFill>
                <a:latin typeface="Consolas"/>
              </a:rPr>
              <a:t>QDesignerCustomWidgetInterface → .so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2834640"/>
            <a:ext cx="347472" cy="347472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85292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420"/>
                </a:solidFill>
                <a:latin typeface="Calibri"/>
              </a:rPr>
              <a:t>Real shape in the Widget Box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611880"/>
            <a:ext cx="347472" cy="347472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63016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420"/>
                </a:solidFill>
                <a:latin typeface="Calibri"/>
              </a:rPr>
              <a:t>Custom properties in the Property Editor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4389120"/>
            <a:ext cx="347472" cy="347472"/>
          </a:xfrm>
          <a:prstGeom prst="ellipse">
            <a:avLst/>
          </a:prstGeom>
          <a:solidFill>
            <a:srgbClr val="E07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407407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420"/>
                </a:solidFill>
                <a:latin typeface="Calibri"/>
              </a:rPr>
              <a:t>Separate project, same Qt and compiler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5166360"/>
            <a:ext cx="347472" cy="347472"/>
          </a:xfrm>
          <a:prstGeom prst="ellipse">
            <a:avLst/>
          </a:prstGeom>
          <a:solidFill>
            <a:srgbClr val="E07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18464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420"/>
                </a:solidFill>
                <a:latin typeface="Calibri"/>
              </a:rPr>
              <a:t>Change → rebuild, deploy, restart Creator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A9"/>
                </a:solidFill>
                <a:latin typeface="Calibri"/>
              </a:rPr>
              <a:t>Qt Widgets vs Qt Quick  ·  01 Shape Complexity</a:t>
            </a:r>
          </a:p>
        </p:txBody>
      </p:sp>
      <p:sp>
        <p:nvSpPr>
          <p:cNvPr id="27" name="Slide number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FB0A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Calibri"/>
              </a:rPr>
              <a:t>QML: declare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35640" y="566928"/>
            <a:ext cx="448056" cy="310896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QML</a:t>
            </a:r>
          </a:p>
        </p:txBody>
      </p:sp>
      <p:sp>
        <p:nvSpPr>
          <p:cNvPr id="4" name="QML code background"/>
          <p:cNvSpPr/>
          <p:nvPr/>
        </p:nvSpPr>
        <p:spPr>
          <a:xfrm>
            <a:off x="548640" y="1325880"/>
            <a:ext cx="7315200" cy="4892040"/>
          </a:xfrm>
          <a:prstGeom prst="roundRect">
            <a:avLst>
              <a:gd name="adj" fmla="val 4000"/>
            </a:avLst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QML code"/>
          <p:cNvSpPr txBox="1"/>
          <p:nvPr/>
        </p:nvSpPr>
        <p:spPr>
          <a:xfrm>
            <a:off x="822959" y="1554480"/>
            <a:ext cx="6766560" cy="4434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Item {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id: root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width: 110; height: 120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signal clicked()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Shape {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id: shape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x: -45; y: -40              </a:t>
            </a:r>
            <a:r>
              <a:rPr sz="1100" b="0" i="0">
                <a:solidFill>
                  <a:srgbClr val="8FA39B"/>
                </a:solidFill>
                <a:latin typeface="Consolas"/>
              </a:rPr>
              <a:t>// bbox (45,40) -&gt; (0,0)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containsMode: Shape.FillContains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ShapePath {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    strokeColor: "#2c2c2c"; strokeWidth: 3.5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    fillColor: area.pressed ? "#2f6db0" : "#4a90d9"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    PathSvg {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        path: "M 155 40 L 105 40 A 120 120 0 0 1 45 160 L 155 160 Z"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    }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}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}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MouseArea {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id: area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anchors.fill: parent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containmentMask: shape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    onClicked: root.clicked()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    }</a:t>
            </a:r>
          </a:p>
          <a:p>
            <a:pPr algn="l"/>
            <a:r>
              <a:rPr sz="1100" b="0" i="0">
                <a:solidFill>
                  <a:srgbClr val="E6EBE8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8183879" y="1389888"/>
            <a:ext cx="384048" cy="384048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3716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Consolas"/>
              </a:rPr>
              <a:t>PathSvg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755648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D6863"/>
                </a:solidFill>
                <a:latin typeface="Calibri"/>
              </a:rPr>
              <a:t>The SVG path is pasted as-is. No center, no angles.</a:t>
            </a:r>
          </a:p>
        </p:txBody>
      </p:sp>
      <p:sp>
        <p:nvSpPr>
          <p:cNvPr id="9" name="Oval 8"/>
          <p:cNvSpPr/>
          <p:nvPr/>
        </p:nvSpPr>
        <p:spPr>
          <a:xfrm>
            <a:off x="8183879" y="2990088"/>
            <a:ext cx="384048" cy="384048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971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Consolas"/>
              </a:rPr>
              <a:t>containmentMask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355848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D6863"/>
                </a:solidFill>
                <a:latin typeface="Calibri"/>
              </a:rPr>
              <a:t>Clicks only inside the shape. Without FillContains the mask is still the bounding box.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4590288"/>
            <a:ext cx="384048" cy="384048"/>
          </a:xfrm>
          <a:prstGeom prst="ellipse">
            <a:avLst/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572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Calibri"/>
              </a:rPr>
              <a:t>One .qml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956048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D6863"/>
                </a:solidFill>
                <a:latin typeface="Calibri"/>
              </a:rPr>
              <a:t>Usable in the designer and at runtime the moment it is saved.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A9"/>
                </a:solidFill>
                <a:latin typeface="Calibri"/>
              </a:rPr>
              <a:t>Qt Widgets vs Qt Quick  ·  01 Shape Complexity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FB0A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Calibri"/>
              </a:rPr>
              <a:t>Side by side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WIDGETS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3A6EA5"/>
                </a:solidFill>
                <a:latin typeface="Calibri"/>
              </a:rPr>
              <a:t>~70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9659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Calibri"/>
              </a:rPr>
              <a:t>lines of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3317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D6863"/>
                </a:solidFill>
                <a:latin typeface="Calibri"/>
              </a:rPr>
              <a:t>2 files + hand-computed arc geometry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448056" cy="310896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8308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2FA36B"/>
                </a:solidFill>
                <a:latin typeface="Calibri"/>
              </a:rPr>
              <a:t>~25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659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Calibri"/>
              </a:rPr>
              <a:t>lines of QML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3317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D6863"/>
                </a:solidFill>
                <a:latin typeface="Calibri"/>
              </a:rPr>
              <a:t>1 file, SVG path used as-is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154680"/>
          <a:ext cx="11109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3886200"/>
                <a:gridCol w="38862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42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37160" marR="137160" anchor="ctr">
                    <a:solidFill>
                      <a:srgbClr val="EEF3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A6EA5"/>
                          </a:solidFill>
                          <a:latin typeface="Calibri"/>
                        </a:rPr>
                        <a:t>Widgets</a:t>
                      </a:r>
                    </a:p>
                  </a:txBody>
                  <a:tcPr marL="137160" marR="137160" anchor="ctr">
                    <a:solidFill>
                      <a:srgbClr val="EEF3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FA36B"/>
                          </a:solidFill>
                          <a:latin typeface="Calibri"/>
                        </a:rPr>
                        <a:t>QML</a:t>
                      </a:r>
                    </a:p>
                  </a:txBody>
                  <a:tcPr marL="137160" marR="137160" anchor="ctr">
                    <a:solidFill>
                      <a:srgbClr val="EEF3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20"/>
                          </a:solidFill>
                          <a:latin typeface="Calibri"/>
                        </a:rPr>
                        <a:t>Draw from the SVG path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5D6863"/>
                          </a:solidFill>
                          <a:latin typeface="Calibri"/>
                        </a:rPr>
                        <a:t>Convert the arc to center + angles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5D6863"/>
                          </a:solidFill>
                          <a:latin typeface="Calibri"/>
                        </a:rPr>
                        <a:t>PathSvg, path pasted as-is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20"/>
                          </a:solidFill>
                          <a:latin typeface="Calibri"/>
                        </a:rPr>
                        <a:t>Click only inside the shape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5D6863"/>
                          </a:solidFill>
                          <a:latin typeface="Calibri"/>
                        </a:rPr>
                        <a:t>Override hitButton()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5D6863"/>
                          </a:solidFill>
                          <a:latin typeface="Calibri"/>
                        </a:rPr>
                        <a:t>containmentMask + FillContains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420"/>
                          </a:solidFill>
                          <a:latin typeface="Calibri"/>
                        </a:rPr>
                        <a:t>See it in the designer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5D6863"/>
                          </a:solidFill>
                          <a:latin typeface="Calibri"/>
                        </a:rPr>
                        <a:t>Plugin (.so), or Promote (rectangle)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5D6863"/>
                          </a:solidFill>
                          <a:latin typeface="Calibri"/>
                        </a:rPr>
                        <a:t>Works once the .qml file exists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0A9"/>
                </a:solidFill>
                <a:latin typeface="Calibri"/>
              </a:rPr>
              <a:t>Qt Widgets vs Qt Quick  ·  01 Shape Complexity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FB0A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0712B"/>
                </a:solidFill>
                <a:latin typeface="Calibri"/>
              </a:rPr>
              <a:t>TAKEAWAY</a:t>
            </a:r>
          </a:p>
        </p:txBody>
      </p:sp>
      <p:sp>
        <p:nvSpPr>
          <p:cNvPr id="3" name="Takeaway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In QML a custom shape is a description. In Widgets it is a calculation.</a:t>
            </a:r>
          </a:p>
        </p:txBody>
      </p:sp>
      <p:sp>
        <p:nvSpPr>
          <p:cNvPr id="4" name="Caveat"/>
          <p:cNvSpPr txBox="1"/>
          <p:nvPr/>
        </p:nvSpPr>
        <p:spPr>
          <a:xfrm>
            <a:off x="731520" y="3840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0A9"/>
                </a:solidFill>
                <a:latin typeface="Calibri"/>
              </a:rPr>
              <a:t>Neither gives a shaped hit area for free: hitButton() in Widgets, containsMode: FillContains in QML.</a:t>
            </a:r>
          </a:p>
        </p:txBody>
      </p:sp>
      <p:sp>
        <p:nvSpPr>
          <p:cNvPr id="5" name="Demo box"/>
          <p:cNvSpPr/>
          <p:nvPr/>
        </p:nvSpPr>
        <p:spPr>
          <a:xfrm>
            <a:off x="731520" y="498348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24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mo"/>
          <p:cNvSpPr txBox="1"/>
          <p:nvPr/>
        </p:nvSpPr>
        <p:spPr>
          <a:xfrm>
            <a:off x="1005840" y="498348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E0712B"/>
                </a:solidFill>
                <a:latin typeface="Calibri"/>
              </a:rPr>
              <a:t>Live demo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click the empty corner on both buttons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