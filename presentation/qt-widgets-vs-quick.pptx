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8" r:id="rId17"/>
    <p:sldId id="259" r:id="rId18"/>
    <p:sldId id="257" r:id="rId15"/>
    <p:sldId id="260" r:id="rId19"/>
    <p:sldId id="261" r:id="rId20"/>
    <p:sldId id="262" r:id="rId21"/>
    <p:sldId id="263" r:id="rId22"/>
    <p:sldId id="264" r:id="rId23"/>
    <p:sldId id="265"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4.xml"/><Relationship Id="rId16" Type="http://schemas.openxmlformats.org/officeDocument/2006/relationships/presProps" Target="presProps.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BE8655C-E804-4BCE-B9FD-05333057606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1143000" y="685800"/>
            <a:ext cx="4571640" cy="3428640"/>
          </a:xfrm>
          <a:prstGeom prst="rect">
            <a:avLst/>
          </a:prstGeom>
          <a:ln w="0">
            <a:noFill/>
          </a:ln>
        </p:spPr>
      </p:sp>
      <p:sp>
        <p:nvSpPr>
          <p:cNvPr id="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r>
              <a:t>Merhaba, ben Ahmet. Bugün Qt Widgets ve Qt Quick'i, yani QML'i, farklı kullanım senaryoları üzerinden karşılaştıracağız. Amacımız tek bir soruya net bir cevap vermek: hangi durumda hangisini seçmeliyiz?</a:t>
            </a:r>
          </a:p>
        </p:txBody>
      </p:sp>
      <p:sp>
        <p:nvSpPr>
          <p:cNvPr id="86"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3C044F9-984F-4C6F-A28A-2D0CCD0251C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1143000" y="685800"/>
            <a:ext cx="4571640" cy="3428640"/>
          </a:xfrm>
          <a:prstGeom prst="rect">
            <a:avLst/>
          </a:prstGeom>
          <a:ln w="0">
            <a:noFill/>
          </a:ln>
        </p:spPr>
      </p:sp>
      <p:sp>
        <p:nvSpPr>
          <p:cNvPr id="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r>
              <a:t>[TIKLA] Widgets tarafında ilk karşımıza çıkan yöntem Promote. Bu yöntem için önce QPushButton'dan türeyen bir sınıf oluşturuyoruz. [TIKLA] Bu sınıfın paintEvent metodunda, özel bileşenimizin path'ini adım adım çiziyoruz. [TIKLA] Ardından Designer ekranına geçiyoruz ve forma normal bir QPushButton ekliyoruz. [TIKLA] Butona sağ tıklayıp Promote ile sınıfımıza bağlıyoruz. Artık bu buton bir MyButton. [TIKLA] Fakat Designer ekranında şekli göremiyoruz. Şekil ancak uygulamayı çalıştırdığımızda ortaya çıkıyor. [TIKLA] Peki bu sorunu nasıl çözeriz?</a:t>
            </a:r>
          </a:p>
        </p:txBody>
      </p:sp>
      <p:sp>
        <p:nvSpPr>
          <p:cNvPr id="89"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4C1AF94-17F3-4983-9246-47A28F51D7D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Bu karşılaştırmayı dört temel başlık altında ele alacağız. Önce özel şekilli bileşenlerle başlayacağız. Ardından büyük veri yüklenirken arayüzün tepkisine, sonra animasyon ve 3D yeteneklerine, son olarak da öğrenme eğrisi ve geliştirme hızına bakacağız. Her başlıkta aynı işi iki tarafta da yapıp sonucu yan yana göstereceğim. Sonuç bölümünde de hangi senaryoda hangisinin öne çıktığını özetleyeceğiz.</a:t>
            </a:r>
          </a:p>
        </p:txBody>
      </p:sp>
      <p:sp>
        <p:nvSpPr>
          <p:cNvPr id="4" name="Slide Number Placeholder 3"/>
          <p:cNvSpPr>
            <a:spLocks noGrp="1"/>
          </p:cNvSpPr>
          <p:nvPr>
            <p:ph type="sldNum" idx="36"/>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Analizimize butonla başlayalım. Buton, hem Widgets'ta hem QML'de en çok kullanılan bileşen, ve iki tarafta da kullanımı çok basit. Peki butonun şeklini değiştirmek istediğimizde ne olacak? [TIKLA] Ekranda gördüğünüz gibi bu buton dikdörtgen değil, bir tarafı eğri. Hem Widgets hem de QML, bu tür standart olmayan şekiller üretmemize olanak sağlıyor. İlk olarak Widgets tarafına bakalım.</a:t>
            </a:r>
          </a:p>
        </p:txBody>
      </p:sp>
      <p:sp>
        <p:nvSpPr>
          <p:cNvPr id="4" name="Slide Number Placeholder 3"/>
          <p:cNvSpPr>
            <a:spLocks noGrp="1"/>
          </p:cNvSpPr>
          <p:nvPr>
            <p:ph type="sldNum" idx="36"/>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[TIKLA] Bu sorunu Designer plugin yöntemiyle çözüyoruz. Önce plugin için ayrı bir alt proje oluşturuyoruz. [TIKLA] Bu projede hem QObject'ten hem de QDesignerCustomWidgetInterface'ten türeyen bir sınıf yazıyoruz ve arayüzün sanal metotlarını dolduruyoruz. [TIKLA] Projeyi derlediğimizde bir .so dosyası, yani plugin oluşuyor. Bu dosyayı Qt Creator'ın Designer plugin klasörüne kopyalayıp Creator'ı yeniden başlatıyoruz. [TIKLA] Artık Widget Box'ta MyButton görünüyor. Forma bıraktığımızda, şekli Designer'da da net bir şekilde görebiliyoruz. [TIKLA] Uygulamayı çalıştırıyoruz, buton yerinde. Peki butona tıklarsak ne olur? Şeklin dışında kalan boş köşe de dahil, dikdörtgen alanın tamamı tıklanabilir. Bu da ayrı bir sorun. [TIKLA] Yani Widgets tarafında standart olmayan şekiller üretmek mümkün, ama oldukça zahmetli. Şimdi QML tarafına bakalım.</a:t>
            </a:r>
          </a:p>
        </p:txBody>
      </p:sp>
      <p:sp>
        <p:nvSpPr>
          <p:cNvPr id="4" name="Slide Number Placeholder 3"/>
          <p:cNvSpPr>
            <a:spLocks noGrp="1"/>
          </p:cNvSpPr>
          <p:nvPr>
            <p:ph type="sldNum" idx="36"/>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[TIKLA] Şimdi QML tarafına bakalım. QML bize Shape bileşenini veriyor. İçindeki ShapePath ve PathSvg şekli tanımlıyor. [TIKLA] PathSvg'nin path özelliği var ve SVG dosyasındaki path verisini buraya olduğu gibi yapıştırıyoruz. Merkez ya da açı hesabı yok. [TIKLA] Kodu çalıştırdığımızda bileşenimizi net bir şekilde görebiliyoruz. [TIKLA] Tıklama alanı da sorun değil: MouseArea'ya containmentMask verince sadece şeklin içi tıklanıyor. [TIKLA] Yani özel bir bileşen oluşturmak QML tarafında çok daha kolay. Özetle: basit dikdörtgen bir buton iki tarafta da kolay. Ama şekil değiştiğinde Widgets yaklaşık 160 satır C++ ve ayrı bir plugin projesi istiyor. QML'de ise tek dosyada yaklaşık 50 satır yetiyor.</a:t>
            </a:r>
          </a:p>
        </p:txBody>
      </p:sp>
      <p:sp>
        <p:nvSpPr>
          <p:cNvPr id="4" name="Slide Number Placeholder 3"/>
          <p:cNvSpPr>
            <a:spLocks noGrp="1"/>
          </p:cNvSpPr>
          <p:nvPr>
            <p:ph type="sldNum" idx="36"/>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Qt'nin kendi dokümanında Widgets ve Qt Quick için bir karşılaştırma tablosu var. Bu tablodaki üç satır doğrudan bizim konumuz: donanım hızlandırmalı grafik, akıcı animasyonlar ve grafik efektler. Qt Quick çizimi Scene Graph üzerinden GPU'da yapıyor. Widgets ise yazılımla, yani CPU'da çiziyor. Qt Quick animasyonlu, modern arayüzler için tasarlanmış; Widgets değil. Efektlerde de Qt Quick GPU tabanlı; Widgets sadece basit CPU efektleri sunuyor. Bunu testlerle görelim.</a:t>
            </a:r>
          </a:p>
        </p:txBody>
      </p:sp>
      <p:sp>
        <p:nvSpPr>
          <p:cNvPr id="4" name="Slide Number Placeholder 3"/>
          <p:cNvSpPr>
            <a:spLocks noGrp="1"/>
          </p:cNvSpPr>
          <p:nvPr>
            <p:ph type="sldNum" idx="36"/>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Solda Widgets: birinci konudaki MyButton'ı hiç değiştirmeden kullandık. Butonlar sürekli ekleniyor ve hareket ediyor; her karede QPainter hepsini CPU'da yeniden çiziyor. 2000 butonda FPS 28'e düşüyor, CPU yüzde 100. Sağda QML: çizimi Scene Graph yapıyor ve GPU'ya gönderiyor. 3000 butonda bile FPS 60, CPU yüzde 26.</a:t>
            </a:r>
          </a:p>
        </p:txBody>
      </p:sp>
      <p:sp>
        <p:nvSpPr>
          <p:cNvPr id="4" name="Slide Number Placeholder 3"/>
          <p:cNvSpPr>
            <a:spLocks noGrp="1"/>
          </p:cNvSpPr>
          <p:nvPr>
            <p:ph type="sldNum" idx="36"/>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Son olarak aynı farkı telefonda görelim. Qt'nin dokümanı açıkça söylüyor: Qt Quick animasyonlu, modern arayüzler için tasarlanmış, Widgets değil. İki uygulama da aynı resmi sürekli bulanıklaştırıyor. Widgets bunu CPU'da yapıyor ve 30 FPS civarında kalıyor. QML GPU'da yapıyor ve 60 FPS'te. Not: kayıt için ekranı 60 Hz'e aldık, çünkü ekran kaydedici 120 Hz'i yakalayamıyor. 120 Hz'de QML 120 FPS'te çalışıyor.</a:t>
            </a:r>
          </a:p>
        </p:txBody>
      </p:sp>
      <p:sp>
        <p:nvSpPr>
          <p:cNvPr id="4" name="Slide Number Placeholder 3"/>
          <p:cNvSpPr>
            <a:spLocks noGrp="1"/>
          </p:cNvSpPr>
          <p:nvPr>
            <p:ph type="sldNum" idx="36"/>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Şimdi şöyle bir senaryo düşünelim: Ne Widgets'ı ne de QML'i bilen bir geliştirici var. Kısa sürede basit bir araç yapması gerekiyor; örneğin bir USART simülatörü. Bir giriş alanı, bir çıkış alanı, gelen veriyi ayrıştırıp bir tabloya kaydetmek… Widgets'ta bileşenleri Designer'da sürükleyip bırakıyorsunuz, tablo ve metin alanları hazır geliyor. Her şey tek bir dilde, C++'ta yazılıyor; bir butonu bir fonksiyona bağlamak tek bir connect satırı. QML'de ise aynı iş için önce QML dilini öğrenmeniz gerekiyor. Sonra C++ tarafındaki veriyi arayüze açmak için Q_PROPERTY, Q_INVOKABLE, sinyaller ve QML_ELEMENT ile tip kaydı gibi kavramları bilmeniz gerekiyor. Yani iki dil ve aralarındaki köprü. Bu yüzden öğrenme eğrisi Widgets tarafında çok daha kısa. Zaman kısıtı varsa ve hedef görsel bir arayüz değil de çalışan bir araçsa, Widgets doğru tercih.</a:t>
            </a:r>
          </a:p>
        </p:txBody>
      </p:sp>
      <p:sp>
        <p:nvSpPr>
          <p:cNvPr id="4" name="Slide Number Placeholder 3"/>
          <p:cNvSpPr>
            <a:spLocks noGrp="1"/>
          </p:cNvSpPr>
          <p:nvPr>
            <p:ph type="sldNum" idx="36"/>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3FD790A-23CD-48EA-B368-D1717B08224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5BC0D21-36FF-4102-BD07-2E5884BED1C0}"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C820CF0-AD46-479D-9B1C-7716B7D7C8E4}"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DD66A01E-822D-45A8-BB08-40BB8297608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90C00CAF-1C0D-4DA4-ABB1-D02C370F6574}"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CB4D43A-980B-4C21-8FAD-6502714C48BB}"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5A48038-5AF7-44E8-BF0C-23D52C276CE2}"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8B1C9294-2827-47E2-8E65-CB1B367C32A9}"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66A7799-0A38-40EF-9C55-1688CD5E29A3}"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934D64B3-5CE6-4BB3-A156-F84AF1DC9C55}"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FEAF89FB-92BA-4600-9C60-0F25C4A3E02D}"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92CB371-47B4-49C7-A2E9-2D98DF4DBDA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AD376C0-3181-42F1-A8A7-3210C0FAECF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3734217-D7D2-4CA2-B8BA-FB7E1A45E6E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5546029-1D55-4125-BCBD-A09DC49AF63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1FC8EEC-04DC-4332-87F3-04C5487E18F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461ADC8-E21E-460D-90BA-BD3F8EFD52D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4BBCDB5-55B2-4658-8EA6-1C838D2408D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C05C53F-DB8F-4876-86E7-9969DB571F1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84845E2-1299-4172-B556-A320AC5B173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EEBC2EB-BDCE-479C-94D1-6782892E82C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8DF08F8-87E9-4969-9721-66057291C2B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3.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4.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73" name="Title"/>
          <p:cNvSpPr/>
          <p:nvPr/>
        </p:nvSpPr>
        <p:spPr>
          <a:xfrm>
            <a:off x="822960" y="2011680"/>
            <a:ext cx="7497720" cy="731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800" spc="-1" strike="noStrike">
                <a:solidFill>
                  <a:srgbClr val="ffffff"/>
                </a:solidFill>
                <a:latin typeface="Calibri"/>
              </a:rPr>
              <a:t>Qt Widgets </a:t>
            </a:r>
            <a:r>
              <a:rPr b="1" lang="en-US" sz="4800" spc="-1" strike="noStrike">
                <a:solidFill>
                  <a:srgbClr val="b2b2b2"/>
                </a:solidFill>
                <a:latin typeface="Calibri"/>
              </a:rPr>
              <a:t>vs </a:t>
            </a:r>
            <a:r>
              <a:rPr b="1" lang="en-US" sz="4800" spc="-1" strike="noStrike">
                <a:solidFill>
                  <a:srgbClr val="5fd38d"/>
                </a:solidFill>
                <a:latin typeface="Calibri"/>
              </a:rPr>
              <a:t>Qt Quick</a:t>
            </a:r>
            <a:endParaRPr b="0" lang="en-US" sz="4800" spc="-1" strike="noStrike">
              <a:solidFill>
                <a:srgbClr val="ffffff"/>
              </a:solidFill>
              <a:latin typeface="Arial"/>
            </a:endParaRPr>
          </a:p>
        </p:txBody>
      </p:sp>
      <p:sp>
        <p:nvSpPr>
          <p:cNvPr id="74" name="Subtitle"/>
          <p:cNvSpPr/>
          <p:nvPr/>
        </p:nvSpPr>
        <p:spPr>
          <a:xfrm>
            <a:off x="914400" y="2971800"/>
            <a:ext cx="73148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2400" spc="-1" strike="noStrike">
                <a:solidFill>
                  <a:srgbClr val="a9b1ba"/>
                </a:solidFill>
                <a:latin typeface="Calibri"/>
              </a:rPr>
              <a:t>UI Development &amp; Performance Scenarios</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8686800" cy="548640"/>
          </a:xfrm>
          <a:prstGeom prst="rect">
            <a:avLst/>
          </a:prstGeom>
          <a:noFill/>
        </p:spPr>
        <p:txBody>
          <a:bodyPr wrap="square" lIns="0" rIns="0" tIns="0" bIns="0" anchor="ctr">
            <a:spAutoFit/>
          </a:bodyPr>
          <a:lstStyle/>
          <a:p>
            <a:r>
              <a:rPr sz="3600" b="1">
                <a:solidFill>
                  <a:srgbClr val="FFFFFF"/>
                </a:solidFill>
                <a:latin typeface="Calibri"/>
              </a:rPr>
              <a:t>Agenda</a:t>
            </a:r>
          </a:p>
        </p:txBody>
      </p:sp>
      <p:sp>
        <p:nvSpPr>
          <p:cNvPr id="3" name="Topic 1 number"/>
          <p:cNvSpPr txBox="1"/>
          <p:nvPr/>
        </p:nvSpPr>
        <p:spPr>
          <a:xfrm>
            <a:off x="548640" y="1554480"/>
            <a:ext cx="640080" cy="457200"/>
          </a:xfrm>
          <a:prstGeom prst="rect">
            <a:avLst/>
          </a:prstGeom>
          <a:noFill/>
        </p:spPr>
        <p:txBody>
          <a:bodyPr wrap="square" lIns="0" rIns="0" tIns="0" bIns="0" anchor="ctr">
            <a:spAutoFit/>
          </a:bodyPr>
          <a:lstStyle/>
          <a:p>
            <a:r>
              <a:rPr sz="2000" b="1">
                <a:solidFill>
                  <a:srgbClr val="5FD38D"/>
                </a:solidFill>
                <a:latin typeface="Consolas"/>
              </a:rPr>
              <a:t>01</a:t>
            </a:r>
          </a:p>
        </p:txBody>
      </p:sp>
      <p:sp>
        <p:nvSpPr>
          <p:cNvPr id="4" name="Topic 1"/>
          <p:cNvSpPr txBox="1"/>
          <p:nvPr/>
        </p:nvSpPr>
        <p:spPr>
          <a:xfrm>
            <a:off x="1234440" y="1554480"/>
            <a:ext cx="5760720" cy="457200"/>
          </a:xfrm>
          <a:prstGeom prst="rect">
            <a:avLst/>
          </a:prstGeom>
          <a:noFill/>
        </p:spPr>
        <p:txBody>
          <a:bodyPr wrap="square" lIns="0" rIns="0" tIns="0" bIns="0" anchor="ctr">
            <a:spAutoFit/>
          </a:bodyPr>
          <a:lstStyle/>
          <a:p>
            <a:r>
              <a:rPr sz="2200" b="1">
                <a:solidFill>
                  <a:srgbClr val="FFFFFF"/>
                </a:solidFill>
                <a:latin typeface="Calibri"/>
              </a:rPr>
              <a:t>Shape Complexity</a:t>
            </a:r>
          </a:p>
        </p:txBody>
      </p:sp>
      <p:sp>
        <p:nvSpPr>
          <p:cNvPr id="5" name="Topic 1 detail"/>
          <p:cNvSpPr txBox="1"/>
          <p:nvPr/>
        </p:nvSpPr>
        <p:spPr>
          <a:xfrm>
            <a:off x="7132320" y="1554480"/>
            <a:ext cx="4526280" cy="457200"/>
          </a:xfrm>
          <a:prstGeom prst="rect">
            <a:avLst/>
          </a:prstGeom>
          <a:noFill/>
        </p:spPr>
        <p:txBody>
          <a:bodyPr wrap="square" lIns="0" rIns="0" tIns="0" bIns="0" anchor="ctr">
            <a:spAutoFit/>
          </a:bodyPr>
          <a:lstStyle/>
          <a:p>
            <a:r>
              <a:rPr sz="1700" b="0">
                <a:solidFill>
                  <a:srgbClr val="A9B1BA"/>
                </a:solidFill>
                <a:latin typeface="Calibri"/>
              </a:rPr>
              <a:t>Custom, non-rectangular components</a:t>
            </a:r>
          </a:p>
        </p:txBody>
      </p:sp>
      <p:sp>
        <p:nvSpPr>
          <p:cNvPr id="6" name="Topic 2 number"/>
          <p:cNvSpPr txBox="1"/>
          <p:nvPr/>
        </p:nvSpPr>
        <p:spPr>
          <a:xfrm>
            <a:off x="548640" y="2423160"/>
            <a:ext cx="640080" cy="457200"/>
          </a:xfrm>
          <a:prstGeom prst="rect">
            <a:avLst/>
          </a:prstGeom>
          <a:noFill/>
        </p:spPr>
        <p:txBody>
          <a:bodyPr wrap="square" lIns="0" rIns="0" tIns="0" bIns="0" anchor="ctr">
            <a:spAutoFit/>
          </a:bodyPr>
          <a:lstStyle/>
          <a:p>
            <a:r>
              <a:rPr sz="2000" b="1">
                <a:solidFill>
                  <a:srgbClr val="5FD38D"/>
                </a:solidFill>
                <a:latin typeface="Consolas"/>
              </a:rPr>
              <a:t>02</a:t>
            </a:r>
          </a:p>
        </p:txBody>
      </p:sp>
      <p:sp>
        <p:nvSpPr>
          <p:cNvPr id="7" name="Topic 2"/>
          <p:cNvSpPr txBox="1"/>
          <p:nvPr/>
        </p:nvSpPr>
        <p:spPr>
          <a:xfrm>
            <a:off x="1234440" y="2423160"/>
            <a:ext cx="5760720" cy="457200"/>
          </a:xfrm>
          <a:prstGeom prst="rect">
            <a:avLst/>
          </a:prstGeom>
          <a:noFill/>
        </p:spPr>
        <p:txBody>
          <a:bodyPr wrap="square" lIns="0" rIns="0" tIns="0" bIns="0" anchor="ctr">
            <a:spAutoFit/>
          </a:bodyPr>
          <a:lstStyle/>
          <a:p>
            <a:r>
              <a:rPr sz="2200" b="1">
                <a:solidFill>
                  <a:srgbClr val="FFFFFF"/>
                </a:solidFill>
                <a:latin typeface="Calibri"/>
              </a:rPr>
              <a:t>Data Load &amp; UI Responsiveness</a:t>
            </a:r>
          </a:p>
        </p:txBody>
      </p:sp>
      <p:sp>
        <p:nvSpPr>
          <p:cNvPr id="8" name="Topic 2 detail"/>
          <p:cNvSpPr txBox="1"/>
          <p:nvPr/>
        </p:nvSpPr>
        <p:spPr>
          <a:xfrm>
            <a:off x="7132320" y="2423160"/>
            <a:ext cx="4526280" cy="457200"/>
          </a:xfrm>
          <a:prstGeom prst="rect">
            <a:avLst/>
          </a:prstGeom>
          <a:noFill/>
        </p:spPr>
        <p:txBody>
          <a:bodyPr wrap="square" lIns="0" rIns="0" tIns="0" bIns="0" anchor="ctr">
            <a:spAutoFit/>
          </a:bodyPr>
          <a:lstStyle/>
          <a:p>
            <a:r>
              <a:rPr sz="1700" b="0">
                <a:solidFill>
                  <a:srgbClr val="A9B1BA"/>
                </a:solidFill>
                <a:latin typeface="Calibri"/>
              </a:rPr>
              <a:t>Large datasets without a frozen UI</a:t>
            </a:r>
          </a:p>
        </p:txBody>
      </p:sp>
      <p:sp>
        <p:nvSpPr>
          <p:cNvPr id="9" name="Topic 3 number"/>
          <p:cNvSpPr txBox="1"/>
          <p:nvPr/>
        </p:nvSpPr>
        <p:spPr>
          <a:xfrm>
            <a:off x="548640" y="3291839"/>
            <a:ext cx="640080" cy="457200"/>
          </a:xfrm>
          <a:prstGeom prst="rect">
            <a:avLst/>
          </a:prstGeom>
          <a:noFill/>
        </p:spPr>
        <p:txBody>
          <a:bodyPr wrap="square" lIns="0" rIns="0" tIns="0" bIns="0" anchor="ctr">
            <a:spAutoFit/>
          </a:bodyPr>
          <a:lstStyle/>
          <a:p>
            <a:r>
              <a:rPr sz="2000" b="1">
                <a:solidFill>
                  <a:srgbClr val="5FD38D"/>
                </a:solidFill>
                <a:latin typeface="Consolas"/>
              </a:rPr>
              <a:t>03</a:t>
            </a:r>
          </a:p>
        </p:txBody>
      </p:sp>
      <p:sp>
        <p:nvSpPr>
          <p:cNvPr id="10" name="Topic 3"/>
          <p:cNvSpPr txBox="1"/>
          <p:nvPr/>
        </p:nvSpPr>
        <p:spPr>
          <a:xfrm>
            <a:off x="1234440" y="3291839"/>
            <a:ext cx="5760720" cy="457200"/>
          </a:xfrm>
          <a:prstGeom prst="rect">
            <a:avLst/>
          </a:prstGeom>
          <a:noFill/>
        </p:spPr>
        <p:txBody>
          <a:bodyPr wrap="square" lIns="0" rIns="0" tIns="0" bIns="0" anchor="ctr">
            <a:spAutoFit/>
          </a:bodyPr>
          <a:lstStyle/>
          <a:p>
            <a:r>
              <a:rPr sz="2200" b="1">
                <a:solidFill>
                  <a:srgbClr val="FFFFFF"/>
                </a:solidFill>
                <a:latin typeface="Calibri"/>
              </a:rPr>
              <a:t>Animation &amp; 3D Capabilities</a:t>
            </a:r>
          </a:p>
        </p:txBody>
      </p:sp>
      <p:sp>
        <p:nvSpPr>
          <p:cNvPr id="11" name="Topic 3 detail"/>
          <p:cNvSpPr txBox="1"/>
          <p:nvPr/>
        </p:nvSpPr>
        <p:spPr>
          <a:xfrm>
            <a:off x="7132320" y="3291839"/>
            <a:ext cx="4526280" cy="457200"/>
          </a:xfrm>
          <a:prstGeom prst="rect">
            <a:avLst/>
          </a:prstGeom>
          <a:noFill/>
        </p:spPr>
        <p:txBody>
          <a:bodyPr wrap="square" lIns="0" rIns="0" tIns="0" bIns="0" anchor="ctr">
            <a:spAutoFit/>
          </a:bodyPr>
          <a:lstStyle/>
          <a:p>
            <a:r>
              <a:rPr sz="1700" b="0">
                <a:solidFill>
                  <a:srgbClr val="A9B1BA"/>
                </a:solidFill>
                <a:latin typeface="Calibri"/>
              </a:rPr>
              <a:t>CPU painting vs the GPU scene graph</a:t>
            </a:r>
          </a:p>
        </p:txBody>
      </p:sp>
      <p:sp>
        <p:nvSpPr>
          <p:cNvPr id="12" name="Topic 4 number"/>
          <p:cNvSpPr txBox="1"/>
          <p:nvPr/>
        </p:nvSpPr>
        <p:spPr>
          <a:xfrm>
            <a:off x="548640" y="4160520"/>
            <a:ext cx="640080" cy="457200"/>
          </a:xfrm>
          <a:prstGeom prst="rect">
            <a:avLst/>
          </a:prstGeom>
          <a:noFill/>
        </p:spPr>
        <p:txBody>
          <a:bodyPr wrap="square" lIns="0" rIns="0" tIns="0" bIns="0" anchor="ctr">
            <a:spAutoFit/>
          </a:bodyPr>
          <a:lstStyle/>
          <a:p>
            <a:r>
              <a:rPr sz="2000" b="1">
                <a:solidFill>
                  <a:srgbClr val="5FD38D"/>
                </a:solidFill>
                <a:latin typeface="Consolas"/>
              </a:rPr>
              <a:t>04</a:t>
            </a:r>
          </a:p>
        </p:txBody>
      </p:sp>
      <p:sp>
        <p:nvSpPr>
          <p:cNvPr id="13" name="Topic 4"/>
          <p:cNvSpPr txBox="1"/>
          <p:nvPr/>
        </p:nvSpPr>
        <p:spPr>
          <a:xfrm>
            <a:off x="1234440" y="4160520"/>
            <a:ext cx="5760720" cy="457200"/>
          </a:xfrm>
          <a:prstGeom prst="rect">
            <a:avLst/>
          </a:prstGeom>
          <a:noFill/>
        </p:spPr>
        <p:txBody>
          <a:bodyPr wrap="square" lIns="0" rIns="0" tIns="0" bIns="0" anchor="ctr">
            <a:spAutoFit/>
          </a:bodyPr>
          <a:lstStyle/>
          <a:p>
            <a:r>
              <a:rPr sz="2200" b="1">
                <a:solidFill>
                  <a:srgbClr val="FFFFFF"/>
                </a:solidFill>
                <a:latin typeface="Calibri"/>
              </a:rPr>
              <a:t>Learning Curve &amp; Development Speed</a:t>
            </a:r>
          </a:p>
        </p:txBody>
      </p:sp>
      <p:sp>
        <p:nvSpPr>
          <p:cNvPr id="14" name="Topic 4 detail"/>
          <p:cNvSpPr txBox="1"/>
          <p:nvPr/>
        </p:nvSpPr>
        <p:spPr>
          <a:xfrm>
            <a:off x="7132320" y="4160520"/>
            <a:ext cx="4526280" cy="457200"/>
          </a:xfrm>
          <a:prstGeom prst="rect">
            <a:avLst/>
          </a:prstGeom>
          <a:noFill/>
        </p:spPr>
        <p:txBody>
          <a:bodyPr wrap="square" lIns="0" rIns="0" tIns="0" bIns="0" anchor="ctr">
            <a:spAutoFit/>
          </a:bodyPr>
          <a:lstStyle/>
          <a:p>
            <a:r>
              <a:rPr sz="1700" b="0">
                <a:solidFill>
                  <a:srgbClr val="A9B1BA"/>
                </a:solidFill>
                <a:latin typeface="Calibri"/>
              </a:rPr>
              <a:t>How fast a team gets productive</a:t>
            </a:r>
          </a:p>
        </p:txBody>
      </p:sp>
      <p:sp>
        <p:nvSpPr>
          <p:cNvPr id="15" name="Conclusion marker"/>
          <p:cNvSpPr txBox="1"/>
          <p:nvPr/>
        </p:nvSpPr>
        <p:spPr>
          <a:xfrm>
            <a:off x="548640" y="5440680"/>
            <a:ext cx="640080" cy="457200"/>
          </a:xfrm>
          <a:prstGeom prst="rect">
            <a:avLst/>
          </a:prstGeom>
          <a:noFill/>
        </p:spPr>
        <p:txBody>
          <a:bodyPr wrap="square" lIns="0" rIns="0" tIns="0" bIns="0" anchor="ctr">
            <a:spAutoFit/>
          </a:bodyPr>
          <a:lstStyle/>
          <a:p>
            <a:r>
              <a:rPr sz="2800" b="1">
                <a:solidFill>
                  <a:srgbClr val="F0B35A"/>
                </a:solidFill>
                <a:latin typeface="Calibri"/>
              </a:rPr>
              <a:t>→</a:t>
            </a:r>
          </a:p>
        </p:txBody>
      </p:sp>
      <p:sp>
        <p:nvSpPr>
          <p:cNvPr id="16" name="Conclusion"/>
          <p:cNvSpPr txBox="1"/>
          <p:nvPr/>
        </p:nvSpPr>
        <p:spPr>
          <a:xfrm>
            <a:off x="1234440" y="5440680"/>
            <a:ext cx="5760720" cy="457200"/>
          </a:xfrm>
          <a:prstGeom prst="rect">
            <a:avLst/>
          </a:prstGeom>
          <a:noFill/>
        </p:spPr>
        <p:txBody>
          <a:bodyPr wrap="square" lIns="0" rIns="0" tIns="0" bIns="0" anchor="ctr">
            <a:spAutoFit/>
          </a:bodyPr>
          <a:lstStyle/>
          <a:p>
            <a:r>
              <a:rPr sz="2200" b="1">
                <a:solidFill>
                  <a:srgbClr val="F0B35A"/>
                </a:solidFill>
                <a:latin typeface="Calibri"/>
              </a:rPr>
              <a:t>Conclusion</a:t>
            </a:r>
          </a:p>
        </p:txBody>
      </p:sp>
      <p:sp>
        <p:nvSpPr>
          <p:cNvPr id="17" name="Conclusion detail"/>
          <p:cNvSpPr txBox="1"/>
          <p:nvPr/>
        </p:nvSpPr>
        <p:spPr>
          <a:xfrm>
            <a:off x="7132320" y="5440680"/>
            <a:ext cx="4526280" cy="457200"/>
          </a:xfrm>
          <a:prstGeom prst="rect">
            <a:avLst/>
          </a:prstGeom>
          <a:noFill/>
        </p:spPr>
        <p:txBody>
          <a:bodyPr wrap="square" lIns="0" rIns="0" tIns="0" bIns="0" anchor="ctr">
            <a:spAutoFit/>
          </a:bodyPr>
          <a:lstStyle/>
          <a:p>
            <a:r>
              <a:rPr sz="1700" b="0">
                <a:solidFill>
                  <a:srgbClr val="A9B1BA"/>
                </a:solidFill>
                <a:latin typeface="Calibri"/>
              </a:rPr>
              <a:t>When to use which?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10515600" cy="548640"/>
          </a:xfrm>
          <a:prstGeom prst="rect">
            <a:avLst/>
          </a:prstGeom>
          <a:noFill/>
        </p:spPr>
        <p:txBody>
          <a:bodyPr wrap="square" lIns="0" rIns="0" tIns="0" bIns="0" anchor="ctr">
            <a:spAutoFit/>
          </a:bodyPr>
          <a:lstStyle/>
          <a:p>
            <a:pPr algn="l"/>
            <a:r>
              <a:rPr sz="3600" b="1">
                <a:solidFill>
                  <a:srgbClr val="FFFFFF"/>
                </a:solidFill>
                <a:latin typeface="Calibri"/>
              </a:rPr>
              <a:t>The Button </a:t>
            </a:r>
            <a:r>
              <a:rPr sz="3600" b="1">
                <a:solidFill>
                  <a:srgbClr val="5FD38D"/>
                </a:solidFill>
                <a:latin typeface="Calibri"/>
              </a:rPr>
              <a:t>Example</a:t>
            </a:r>
          </a:p>
        </p:txBody>
      </p:sp>
      <p:sp>
        <p:nvSpPr>
          <p:cNvPr id="16" name="Bullet 1 number"/>
          <p:cNvSpPr txBox="1"/>
          <p:nvPr/>
        </p:nvSpPr>
        <p:spPr>
          <a:xfrm>
            <a:off x="548640" y="1691640"/>
            <a:ext cx="640080" cy="365760"/>
          </a:xfrm>
          <a:prstGeom prst="rect">
            <a:avLst/>
          </a:prstGeom>
          <a:noFill/>
        </p:spPr>
        <p:txBody>
          <a:bodyPr wrap="square" lIns="0" rIns="0" tIns="0" bIns="0">
            <a:spAutoFit/>
          </a:bodyPr>
          <a:lstStyle/>
          <a:p>
            <a:pPr algn="l"/>
            <a:r>
              <a:rPr sz="2000" b="1">
                <a:solidFill>
                  <a:srgbClr val="5FD38D"/>
                </a:solidFill>
                <a:latin typeface="Consolas"/>
              </a:rPr>
              <a:t>01</a:t>
            </a:r>
          </a:p>
        </p:txBody>
      </p:sp>
      <p:sp>
        <p:nvSpPr>
          <p:cNvPr id="17" name="Bullet 1"/>
          <p:cNvSpPr txBox="1"/>
          <p:nvPr/>
        </p:nvSpPr>
        <p:spPr>
          <a:xfrm>
            <a:off x="1234440" y="1673352"/>
            <a:ext cx="4754880" cy="365760"/>
          </a:xfrm>
          <a:prstGeom prst="rect">
            <a:avLst/>
          </a:prstGeom>
          <a:noFill/>
        </p:spPr>
        <p:txBody>
          <a:bodyPr wrap="square" lIns="0" rIns="0" tIns="0" bIns="0">
            <a:spAutoFit/>
          </a:bodyPr>
          <a:lstStyle/>
          <a:p>
            <a:pPr algn="l"/>
            <a:r>
              <a:rPr sz="2000" b="0">
                <a:solidFill>
                  <a:srgbClr val="FFFFFF"/>
                </a:solidFill>
                <a:latin typeface="Calibri"/>
              </a:rPr>
              <a:t>Most used control, simple in both</a:t>
            </a:r>
          </a:p>
        </p:txBody>
      </p:sp>
      <p:sp>
        <p:nvSpPr>
          <p:cNvPr id="18" name="Bullet 2 number"/>
          <p:cNvSpPr txBox="1"/>
          <p:nvPr/>
        </p:nvSpPr>
        <p:spPr>
          <a:xfrm>
            <a:off x="548640" y="2770632"/>
            <a:ext cx="640080" cy="365760"/>
          </a:xfrm>
          <a:prstGeom prst="rect">
            <a:avLst/>
          </a:prstGeom>
          <a:noFill/>
        </p:spPr>
        <p:txBody>
          <a:bodyPr wrap="square" lIns="0" rIns="0" tIns="0" bIns="0">
            <a:spAutoFit/>
          </a:bodyPr>
          <a:lstStyle/>
          <a:p>
            <a:pPr algn="l"/>
            <a:r>
              <a:rPr sz="2000" b="1">
                <a:solidFill>
                  <a:srgbClr val="F0B35A"/>
                </a:solidFill>
                <a:latin typeface="Consolas"/>
              </a:rPr>
              <a:t>02</a:t>
            </a:r>
          </a:p>
        </p:txBody>
      </p:sp>
      <p:sp>
        <p:nvSpPr>
          <p:cNvPr id="19" name="Bullet 2"/>
          <p:cNvSpPr txBox="1"/>
          <p:nvPr/>
        </p:nvSpPr>
        <p:spPr>
          <a:xfrm>
            <a:off x="1234440" y="2752344"/>
            <a:ext cx="4754880" cy="365760"/>
          </a:xfrm>
          <a:prstGeom prst="rect">
            <a:avLst/>
          </a:prstGeom>
          <a:noFill/>
        </p:spPr>
        <p:txBody>
          <a:bodyPr wrap="square" lIns="0" rIns="0" tIns="0" bIns="0">
            <a:spAutoFit/>
          </a:bodyPr>
          <a:lstStyle/>
          <a:p>
            <a:pPr algn="l"/>
            <a:r>
              <a:rPr sz="2000" b="1">
                <a:solidFill>
                  <a:srgbClr val="F0B35A"/>
                </a:solidFill>
                <a:latin typeface="Calibri"/>
              </a:rPr>
              <a:t>What if the shape changes?</a:t>
            </a:r>
          </a:p>
        </p:txBody>
      </p:sp>
      <p:pic>
        <p:nvPicPr>
          <p:cNvPr id="20" name="Normal button" descr="image.png"/>
          <p:cNvPicPr>
            <a:picLocks noChangeAspect="1"/>
          </p:cNvPicPr>
          <p:nvPr/>
        </p:nvPicPr>
        <p:blipFill>
          <a:blip r:embed="rId2"/>
          <a:stretch>
            <a:fillRect/>
          </a:stretch>
        </p:blipFill>
        <p:spPr>
          <a:xfrm>
            <a:off x="5623560" y="3246120"/>
            <a:ext cx="2560320" cy="967232"/>
          </a:xfrm>
          <a:prstGeom prst="rect">
            <a:avLst/>
          </a:prstGeom>
        </p:spPr>
      </p:pic>
      <p:sp>
        <p:nvSpPr>
          <p:cNvPr id="21" name="Normal caption"/>
          <p:cNvSpPr txBox="1"/>
          <p:nvPr/>
        </p:nvSpPr>
        <p:spPr>
          <a:xfrm>
            <a:off x="5623560" y="4343400"/>
            <a:ext cx="2560320" cy="320040"/>
          </a:xfrm>
          <a:prstGeom prst="rect">
            <a:avLst/>
          </a:prstGeom>
          <a:noFill/>
        </p:spPr>
        <p:txBody>
          <a:bodyPr wrap="square" lIns="0" rIns="0" tIns="0" bIns="0">
            <a:spAutoFit/>
          </a:bodyPr>
          <a:lstStyle/>
          <a:p>
            <a:pPr algn="ctr"/>
            <a:r>
              <a:rPr sz="1300" b="0">
                <a:solidFill>
                  <a:srgbClr val="5FD38D"/>
                </a:solidFill>
                <a:latin typeface="Consolas"/>
              </a:rPr>
              <a:t>QPushButton · Button {}</a:t>
            </a:r>
          </a:p>
        </p:txBody>
      </p:sp>
      <p:sp>
        <p:nvSpPr>
          <p:cNvPr id="22" name="Arrow"/>
          <p:cNvSpPr txBox="1"/>
          <p:nvPr/>
        </p:nvSpPr>
        <p:spPr>
          <a:xfrm>
            <a:off x="8183879" y="3291840"/>
            <a:ext cx="548640" cy="731520"/>
          </a:xfrm>
          <a:prstGeom prst="rect">
            <a:avLst/>
          </a:prstGeom>
          <a:noFill/>
        </p:spPr>
        <p:txBody>
          <a:bodyPr wrap="square" lIns="0" rIns="0" tIns="0" bIns="0">
            <a:spAutoFit/>
          </a:bodyPr>
          <a:lstStyle/>
          <a:p>
            <a:pPr algn="ctr"/>
            <a:r>
              <a:rPr sz="4000" b="1">
                <a:solidFill>
                  <a:srgbClr val="F0B35A"/>
                </a:solidFill>
                <a:latin typeface="Calibri"/>
              </a:rPr>
              <a:t>→</a:t>
            </a:r>
          </a:p>
        </p:txBody>
      </p:sp>
      <p:pic>
        <p:nvPicPr>
          <p:cNvPr id="23" name="Shaped button" descr="image.png"/>
          <p:cNvPicPr>
            <a:picLocks noChangeAspect="1"/>
          </p:cNvPicPr>
          <p:nvPr/>
        </p:nvPicPr>
        <p:blipFill>
          <a:blip r:embed="rId3"/>
          <a:stretch>
            <a:fillRect/>
          </a:stretch>
        </p:blipFill>
        <p:spPr>
          <a:xfrm>
            <a:off x="8503920" y="2377440"/>
            <a:ext cx="2526632" cy="274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53" presetClass="entr" presetSubtype="16"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Effect transition="in" filter="fad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1f22"/>
        </a:solidFill>
      </p:bgPr>
    </p:bg>
    <p:spTree>
      <p:nvGrpSpPr>
        <p:cNvPr id="1" name=""/>
        <p:cNvGrpSpPr/>
        <p:nvPr/>
      </p:nvGrpSpPr>
      <p:grpSpPr>
        <a:xfrm>
          <a:off x="0" y="0"/>
          <a:ext cx="0" cy="0"/>
          <a:chOff x="0" y="0"/>
          <a:chExt cx="0" cy="0"/>
        </a:xfrm>
      </p:grpSpPr>
      <p:sp>
        <p:nvSpPr>
          <p:cNvPr id="75" name="Title"/>
          <p:cNvSpPr/>
          <p:nvPr/>
        </p:nvSpPr>
        <p:spPr>
          <a:xfrm>
            <a:off x="548640" y="411480"/>
            <a:ext cx="868644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ffffff"/>
                </a:solidFill>
                <a:latin typeface="Calibri"/>
              </a:rPr>
              <a:t>Custom Component </a:t>
            </a:r>
            <a:r>
              <a:rPr b="1" lang="en-US" sz="3600" spc="-1" strike="noStrike">
                <a:solidFill>
                  <a:srgbClr val="5fd38d"/>
                </a:solidFill>
                <a:latin typeface="Calibri"/>
              </a:rPr>
              <a:t>(Widgets)</a:t>
            </a:r>
            <a:endParaRPr b="0" lang="en-US" sz="3600" spc="-1" strike="noStrike">
              <a:solidFill>
                <a:srgbClr val="ffffff"/>
              </a:solidFill>
              <a:latin typeface="Arial"/>
            </a:endParaRPr>
          </a:p>
        </p:txBody>
      </p:sp>
      <p:sp>
        <p:nvSpPr>
          <p:cNvPr id="76" name="Bullet 1 number"/>
          <p:cNvSpPr txBox="1"/>
          <p:nvPr/>
        </p:nvSpPr>
        <p:spPr>
          <a:xfrm>
            <a:off x="548640" y="1600200"/>
            <a:ext cx="640080" cy="365760"/>
          </a:xfrm>
          <a:prstGeom prst="rect">
            <a:avLst/>
          </a:prstGeom>
          <a:noFill/>
        </p:spPr>
        <p:txBody>
          <a:bodyPr wrap="square" lIns="0" rIns="0" tIns="0" bIns="0">
            <a:spAutoFit/>
          </a:bodyPr>
          <a:lstStyle/>
          <a:p>
            <a:r>
              <a:rPr sz="2000" b="1">
                <a:solidFill>
                  <a:srgbClr val="5FD38D"/>
                </a:solidFill>
                <a:latin typeface="Consolas"/>
              </a:rPr>
              <a:t>01</a:t>
            </a:r>
          </a:p>
        </p:txBody>
      </p:sp>
      <p:sp>
        <p:nvSpPr>
          <p:cNvPr id="77" name="Bullet 1"/>
          <p:cNvSpPr txBox="1"/>
          <p:nvPr/>
        </p:nvSpPr>
        <p:spPr>
          <a:xfrm>
            <a:off x="1234440" y="1581912"/>
            <a:ext cx="4754880" cy="365760"/>
          </a:xfrm>
          <a:prstGeom prst="rect">
            <a:avLst/>
          </a:prstGeom>
          <a:noFill/>
        </p:spPr>
        <p:txBody>
          <a:bodyPr wrap="square" lIns="0" rIns="0" tIns="0" bIns="0">
            <a:spAutoFit/>
          </a:bodyPr>
          <a:lstStyle/>
          <a:p>
            <a:r>
              <a:rPr sz="2000" b="0">
                <a:solidFill>
                  <a:srgbClr val="FFFFFF"/>
                </a:solidFill>
                <a:latin typeface="Calibri"/>
              </a:rPr>
              <a:t>Create </a:t>
            </a:r>
            <a:r>
              <a:rPr sz="2000" b="0">
                <a:solidFill>
                  <a:srgbClr val="5FD38D"/>
                </a:solidFill>
                <a:latin typeface="Consolas"/>
              </a:rPr>
              <a:t>MyButton</a:t>
            </a:r>
            <a:r>
              <a:rPr sz="2000" b="0">
                <a:solidFill>
                  <a:srgbClr val="FFFFFF"/>
                </a:solidFill>
                <a:latin typeface="Calibri"/>
              </a:rPr>
              <a:t> from </a:t>
            </a:r>
            <a:r>
              <a:rPr sz="2000" b="0">
                <a:solidFill>
                  <a:srgbClr val="5FD38D"/>
                </a:solidFill>
                <a:latin typeface="Consolas"/>
              </a:rPr>
              <a:t>QPushButton</a:t>
            </a:r>
          </a:p>
        </p:txBody>
      </p:sp>
      <p:sp>
        <p:nvSpPr>
          <p:cNvPr id="78" name="Bullet 2 number"/>
          <p:cNvSpPr txBox="1"/>
          <p:nvPr/>
        </p:nvSpPr>
        <p:spPr>
          <a:xfrm>
            <a:off x="548640" y="2377440"/>
            <a:ext cx="640080" cy="365760"/>
          </a:xfrm>
          <a:prstGeom prst="rect">
            <a:avLst/>
          </a:prstGeom>
          <a:noFill/>
        </p:spPr>
        <p:txBody>
          <a:bodyPr wrap="square" lIns="0" rIns="0" tIns="0" bIns="0">
            <a:spAutoFit/>
          </a:bodyPr>
          <a:lstStyle/>
          <a:p>
            <a:r>
              <a:rPr sz="2000" b="1">
                <a:solidFill>
                  <a:srgbClr val="5FD38D"/>
                </a:solidFill>
                <a:latin typeface="Consolas"/>
              </a:rPr>
              <a:t>02</a:t>
            </a:r>
          </a:p>
        </p:txBody>
      </p:sp>
      <p:sp>
        <p:nvSpPr>
          <p:cNvPr id="79" name="Bullet 2"/>
          <p:cNvSpPr txBox="1"/>
          <p:nvPr/>
        </p:nvSpPr>
        <p:spPr>
          <a:xfrm>
            <a:off x="1234440" y="2359152"/>
            <a:ext cx="4754880" cy="365760"/>
          </a:xfrm>
          <a:prstGeom prst="rect">
            <a:avLst/>
          </a:prstGeom>
          <a:noFill/>
        </p:spPr>
        <p:txBody>
          <a:bodyPr wrap="square" lIns="0" rIns="0" tIns="0" bIns="0">
            <a:spAutoFit/>
          </a:bodyPr>
          <a:lstStyle/>
          <a:p>
            <a:r>
              <a:rPr sz="2000" b="0">
                <a:solidFill>
                  <a:srgbClr val="FFFFFF"/>
                </a:solidFill>
                <a:latin typeface="Calibri"/>
              </a:rPr>
              <a:t>Draw the path in </a:t>
            </a:r>
            <a:r>
              <a:rPr sz="2000" b="0">
                <a:solidFill>
                  <a:srgbClr val="5FD38D"/>
                </a:solidFill>
                <a:latin typeface="Consolas"/>
              </a:rPr>
              <a:t>paintEvent</a:t>
            </a:r>
          </a:p>
        </p:txBody>
      </p:sp>
      <p:sp>
        <p:nvSpPr>
          <p:cNvPr id="80" name="Bullet 3 number"/>
          <p:cNvSpPr txBox="1"/>
          <p:nvPr/>
        </p:nvSpPr>
        <p:spPr>
          <a:xfrm>
            <a:off x="548640" y="3154680"/>
            <a:ext cx="640080" cy="365760"/>
          </a:xfrm>
          <a:prstGeom prst="rect">
            <a:avLst/>
          </a:prstGeom>
          <a:noFill/>
        </p:spPr>
        <p:txBody>
          <a:bodyPr wrap="square" lIns="0" rIns="0" tIns="0" bIns="0">
            <a:spAutoFit/>
          </a:bodyPr>
          <a:lstStyle/>
          <a:p>
            <a:r>
              <a:rPr sz="2000" b="1">
                <a:solidFill>
                  <a:srgbClr val="5FD38D"/>
                </a:solidFill>
                <a:latin typeface="Consolas"/>
              </a:rPr>
              <a:t>03</a:t>
            </a:r>
          </a:p>
        </p:txBody>
      </p:sp>
      <p:sp>
        <p:nvSpPr>
          <p:cNvPr id="81" name="Bullet 3"/>
          <p:cNvSpPr txBox="1"/>
          <p:nvPr/>
        </p:nvSpPr>
        <p:spPr>
          <a:xfrm>
            <a:off x="1234440" y="3136392"/>
            <a:ext cx="4754880" cy="365760"/>
          </a:xfrm>
          <a:prstGeom prst="rect">
            <a:avLst/>
          </a:prstGeom>
          <a:noFill/>
        </p:spPr>
        <p:txBody>
          <a:bodyPr wrap="square" lIns="0" rIns="0" tIns="0" bIns="0">
            <a:spAutoFit/>
          </a:bodyPr>
          <a:lstStyle/>
          <a:p>
            <a:r>
              <a:rPr sz="2000" b="0">
                <a:solidFill>
                  <a:srgbClr val="FFFFFF"/>
                </a:solidFill>
                <a:latin typeface="Calibri"/>
              </a:rPr>
              <a:t>Add a </a:t>
            </a:r>
            <a:r>
              <a:rPr sz="2000" b="0">
                <a:solidFill>
                  <a:srgbClr val="5FD38D"/>
                </a:solidFill>
                <a:latin typeface="Consolas"/>
              </a:rPr>
              <a:t>QPushButton</a:t>
            </a:r>
            <a:r>
              <a:rPr sz="2000" b="0">
                <a:solidFill>
                  <a:srgbClr val="FFFFFF"/>
                </a:solidFill>
                <a:latin typeface="Calibri"/>
              </a:rPr>
              <a:t> in Designer</a:t>
            </a:r>
          </a:p>
        </p:txBody>
      </p:sp>
      <p:sp>
        <p:nvSpPr>
          <p:cNvPr id="82" name="Bullet 4 number"/>
          <p:cNvSpPr txBox="1"/>
          <p:nvPr/>
        </p:nvSpPr>
        <p:spPr>
          <a:xfrm>
            <a:off x="548640" y="3931920"/>
            <a:ext cx="640080" cy="365760"/>
          </a:xfrm>
          <a:prstGeom prst="rect">
            <a:avLst/>
          </a:prstGeom>
          <a:noFill/>
        </p:spPr>
        <p:txBody>
          <a:bodyPr wrap="square" lIns="0" rIns="0" tIns="0" bIns="0">
            <a:spAutoFit/>
          </a:bodyPr>
          <a:lstStyle/>
          <a:p>
            <a:r>
              <a:rPr sz="2000" b="1">
                <a:solidFill>
                  <a:srgbClr val="5FD38D"/>
                </a:solidFill>
                <a:latin typeface="Consolas"/>
              </a:rPr>
              <a:t>04</a:t>
            </a:r>
          </a:p>
        </p:txBody>
      </p:sp>
      <p:sp>
        <p:nvSpPr>
          <p:cNvPr id="83" name="Bullet 4"/>
          <p:cNvSpPr txBox="1"/>
          <p:nvPr/>
        </p:nvSpPr>
        <p:spPr>
          <a:xfrm>
            <a:off x="1234440" y="3913632"/>
            <a:ext cx="4754880" cy="365760"/>
          </a:xfrm>
          <a:prstGeom prst="rect">
            <a:avLst/>
          </a:prstGeom>
          <a:noFill/>
        </p:spPr>
        <p:txBody>
          <a:bodyPr wrap="square" lIns="0" rIns="0" tIns="0" bIns="0">
            <a:spAutoFit/>
          </a:bodyPr>
          <a:lstStyle/>
          <a:p>
            <a:r>
              <a:rPr sz="2000" b="0">
                <a:solidFill>
                  <a:srgbClr val="FFFFFF"/>
                </a:solidFill>
                <a:latin typeface="Calibri"/>
              </a:rPr>
              <a:t>Right-click → </a:t>
            </a:r>
            <a:r>
              <a:rPr sz="2000" b="1">
                <a:solidFill>
                  <a:srgbClr val="FFFFFF"/>
                </a:solidFill>
                <a:latin typeface="Calibri"/>
              </a:rPr>
              <a:t>Promote</a:t>
            </a:r>
            <a:r>
              <a:rPr sz="2000" b="0">
                <a:solidFill>
                  <a:srgbClr val="FFFFFF"/>
                </a:solidFill>
                <a:latin typeface="Calibri"/>
              </a:rPr>
              <a:t> to </a:t>
            </a:r>
            <a:r>
              <a:rPr sz="2000" b="0">
                <a:solidFill>
                  <a:srgbClr val="5FD38D"/>
                </a:solidFill>
                <a:latin typeface="Consolas"/>
              </a:rPr>
              <a:t>MyButton</a:t>
            </a:r>
          </a:p>
        </p:txBody>
      </p:sp>
      <p:sp>
        <p:nvSpPr>
          <p:cNvPr id="84" name="Bullet 5 number"/>
          <p:cNvSpPr txBox="1"/>
          <p:nvPr/>
        </p:nvSpPr>
        <p:spPr>
          <a:xfrm>
            <a:off x="548640" y="4709160"/>
            <a:ext cx="640080" cy="365760"/>
          </a:xfrm>
          <a:prstGeom prst="rect">
            <a:avLst/>
          </a:prstGeom>
          <a:noFill/>
        </p:spPr>
        <p:txBody>
          <a:bodyPr wrap="square" lIns="0" rIns="0" tIns="0" bIns="0">
            <a:spAutoFit/>
          </a:bodyPr>
          <a:lstStyle/>
          <a:p>
            <a:r>
              <a:rPr sz="2000" b="1">
                <a:solidFill>
                  <a:srgbClr val="F0B35A"/>
                </a:solidFill>
                <a:latin typeface="Consolas"/>
              </a:rPr>
              <a:t>05</a:t>
            </a:r>
          </a:p>
        </p:txBody>
      </p:sp>
      <p:sp>
        <p:nvSpPr>
          <p:cNvPr id="85" name="Bullet 5"/>
          <p:cNvSpPr txBox="1"/>
          <p:nvPr/>
        </p:nvSpPr>
        <p:spPr>
          <a:xfrm>
            <a:off x="1234440" y="4690872"/>
            <a:ext cx="4754880" cy="365760"/>
          </a:xfrm>
          <a:prstGeom prst="rect">
            <a:avLst/>
          </a:prstGeom>
          <a:noFill/>
        </p:spPr>
        <p:txBody>
          <a:bodyPr wrap="square" lIns="0" rIns="0" tIns="0" bIns="0">
            <a:spAutoFit/>
          </a:bodyPr>
          <a:lstStyle/>
          <a:p>
            <a:r>
              <a:rPr sz="2000" b="1">
                <a:solidFill>
                  <a:srgbClr val="F0B35A"/>
                </a:solidFill>
                <a:latin typeface="Calibri"/>
              </a:rPr>
              <a:t>Issue: </a:t>
            </a:r>
            <a:r>
              <a:rPr sz="2000" b="0">
                <a:solidFill>
                  <a:srgbClr val="FFFFFF"/>
                </a:solidFill>
                <a:latin typeface="Calibri"/>
              </a:rPr>
              <a:t>shape visible only at runtime</a:t>
            </a:r>
          </a:p>
        </p:txBody>
      </p:sp>
      <p:sp>
        <p:nvSpPr>
          <p:cNvPr id="86" name="Question"/>
          <p:cNvSpPr txBox="1"/>
          <p:nvPr/>
        </p:nvSpPr>
        <p:spPr>
          <a:xfrm>
            <a:off x="1234440" y="5623560"/>
            <a:ext cx="4754880" cy="411480"/>
          </a:xfrm>
          <a:prstGeom prst="rect">
            <a:avLst/>
          </a:prstGeom>
          <a:noFill/>
        </p:spPr>
        <p:txBody>
          <a:bodyPr wrap="square" lIns="0" rIns="0" tIns="0" bIns="0">
            <a:spAutoFit/>
          </a:bodyPr>
          <a:lstStyle/>
          <a:p>
            <a:r>
              <a:rPr sz="2200" b="1">
                <a:solidFill>
                  <a:srgbClr val="F0B35A"/>
                </a:solidFill>
                <a:latin typeface="Calibri"/>
              </a:rPr>
              <a:t>How do we solve this?</a:t>
            </a:r>
          </a:p>
        </p:txBody>
      </p:sp>
      <p:pic>
        <p:nvPicPr>
          <p:cNvPr id="87" name="code" descr="code.png"/>
          <p:cNvPicPr>
            <a:picLocks noChangeAspect="1"/>
          </p:cNvPicPr>
          <p:nvPr/>
        </p:nvPicPr>
        <p:blipFill>
          <a:blip r:embed="rId5"/>
          <a:stretch>
            <a:fillRect/>
          </a:stretch>
        </p:blipFill>
        <p:spPr>
          <a:xfrm>
            <a:off x="6395732" y="1508760"/>
            <a:ext cx="5039334" cy="4663440"/>
          </a:xfrm>
          <a:prstGeom prst="rect">
            <a:avLst/>
          </a:prstGeom>
          <a:ln w="12700">
            <a:solidFill>
              <a:srgbClr val="34373D"/>
            </a:solidFill>
          </a:ln>
        </p:spPr>
      </p:pic>
      <p:pic>
        <p:nvPicPr>
          <p:cNvPr id="88" name="promote" descr="promote.png"/>
          <p:cNvPicPr>
            <a:picLocks noChangeAspect="1"/>
          </p:cNvPicPr>
          <p:nvPr/>
        </p:nvPicPr>
        <p:blipFill>
          <a:blip r:embed="rId6"/>
          <a:stretch>
            <a:fillRect/>
          </a:stretch>
        </p:blipFill>
        <p:spPr>
          <a:xfrm>
            <a:off x="6263640" y="1574898"/>
            <a:ext cx="5303520" cy="4531163"/>
          </a:xfrm>
          <a:prstGeom prst="rect">
            <a:avLst/>
          </a:prstGeom>
          <a:ln w="12700">
            <a:solidFill>
              <a:srgbClr val="34373D"/>
            </a:solidFill>
          </a:ln>
        </p:spPr>
      </p:pic>
      <p:pic>
        <p:nvPicPr>
          <p:cNvPr id="89" name="run" descr="run.png"/>
          <p:cNvPicPr>
            <a:picLocks noChangeAspect="1"/>
          </p:cNvPicPr>
          <p:nvPr/>
        </p:nvPicPr>
        <p:blipFill>
          <a:blip r:embed="rId7"/>
          <a:stretch>
            <a:fillRect/>
          </a:stretch>
        </p:blipFill>
        <p:spPr>
          <a:xfrm>
            <a:off x="6263640" y="1718401"/>
            <a:ext cx="5303520" cy="4244157"/>
          </a:xfrm>
          <a:prstGeom prst="rect">
            <a:avLst/>
          </a:prstGeom>
          <a:ln w="12700">
            <a:solidFill>
              <a:srgbClr val="34373D"/>
            </a:solidFill>
          </a:ln>
        </p:spPr>
      </p:pic>
    </p:spTree>
  </p:cSld>
  <mc:AlternateContent>
    <mc:Choice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4" presetID="1" presetClass="entr" presetSubtype="0" fill="hold" grpId="0" nodeType="clickEffect">
                                  <p:stCondLst>
                                    <p:cond delay="0"/>
                                  </p:stCondLst>
                                  <p:childTnLst>
                                    <p:set>
                                      <p:cBhvr>
                                        <p:cTn id="3" dur="1" fill="hold">
                                          <p:stCondLst>
                                            <p:cond delay="0"/>
                                          </p:stCondLst>
                                        </p:cTn>
                                        <p:tgtEl>
                                          <p:spTgt spid="76"/>
                                        </p:tgtEl>
                                        <p:attrNameLst>
                                          <p:attrName>style.visibility</p:attrName>
                                        </p:attrNameLst>
                                      </p:cBhvr>
                                      <p:to>
                                        <p:strVal val="visible"/>
                                      </p:to>
                                    </p:set>
                                  </p:childTnLst>
                                </p:cTn>
                              </p:par>
                              <p:par>
                                <p:cTn id="6" presetID="1" presetClass="entr" presetSubtype="0" fill="hold" grpId="0" nodeType="withEffect">
                                  <p:stCondLst>
                                    <p:cond delay="0"/>
                                  </p:stCondLst>
                                  <p:childTnLst>
                                    <p:set>
                                      <p:cBhvr>
                                        <p:cTn id="5" dur="1" fill="hold">
                                          <p:stCondLst>
                                            <p:cond delay="0"/>
                                          </p:stCondLst>
                                        </p:cTn>
                                        <p:tgtEl>
                                          <p:spTgt spid="77"/>
                                        </p:tgtEl>
                                        <p:attrNameLst>
                                          <p:attrName>style.visibility</p:attrName>
                                        </p:attrNameLst>
                                      </p:cBhvr>
                                      <p:to>
                                        <p:strVal val="visible"/>
                                      </p:to>
                                    </p:set>
                                  </p:childTnLst>
                                </p:cTn>
                              </p:par>
                              <p:par>
                                <p:cTn id="11" presetID="53" presetClass="entr" presetSubtype="16" fill="hold" grpId="0" nodeType="withEffect">
                                  <p:stCondLst>
                                    <p:cond delay="0"/>
                                  </p:stCondLst>
                                  <p:childTnLst>
                                    <p:set>
                                      <p:cBhvr>
                                        <p:cTn id="7" dur="1" fill="hold">
                                          <p:stCondLst>
                                            <p:cond delay="0"/>
                                          </p:stCondLst>
                                        </p:cTn>
                                        <p:tgtEl>
                                          <p:spTgt spid="87"/>
                                        </p:tgtEl>
                                        <p:attrNameLst>
                                          <p:attrName>style.visibility</p:attrName>
                                        </p:attrNameLst>
                                      </p:cBhvr>
                                      <p:to>
                                        <p:strVal val="visible"/>
                                      </p:to>
                                    </p:set>
                                    <p:anim calcmode="lin" valueType="num">
                                      <p:cBhvr>
                                        <p:cTn id="8" dur="450" fill="hold"/>
                                        <p:tgtEl>
                                          <p:spTgt spid="87"/>
                                        </p:tgtEl>
                                        <p:attrNameLst>
                                          <p:attrName>ppt_w</p:attrName>
                                        </p:attrNameLst>
                                      </p:cBhvr>
                                      <p:tavLst>
                                        <p:tav tm="0">
                                          <p:val>
                                            <p:fltVal val="0"/>
                                          </p:val>
                                        </p:tav>
                                        <p:tav tm="100000">
                                          <p:val>
                                            <p:strVal val="#ppt_w"/>
                                          </p:val>
                                        </p:tav>
                                      </p:tavLst>
                                    </p:anim>
                                    <p:anim calcmode="lin" valueType="num">
                                      <p:cBhvr>
                                        <p:cTn id="9" dur="450" fill="hold"/>
                                        <p:tgtEl>
                                          <p:spTgt spid="87"/>
                                        </p:tgtEl>
                                        <p:attrNameLst>
                                          <p:attrName>ppt_h</p:attrName>
                                        </p:attrNameLst>
                                      </p:cBhvr>
                                      <p:tavLst>
                                        <p:tav tm="0">
                                          <p:val>
                                            <p:fltVal val="0"/>
                                          </p:val>
                                        </p:tav>
                                        <p:tav tm="100000">
                                          <p:val>
                                            <p:strVal val="#ppt_h"/>
                                          </p:val>
                                        </p:tav>
                                      </p:tavLst>
                                    </p:anim>
                                    <p:animEffect transition="in" filter="fade">
                                      <p:cBhvr>
                                        <p:cTn id="10" dur="450"/>
                                        <p:tgtEl>
                                          <p:spTgt spid="87"/>
                                        </p:tgtEl>
                                      </p:cBhvr>
                                    </p:animEffect>
                                  </p:childTnLst>
                                </p:cTn>
                              </p:par>
                            </p:childTnLst>
                          </p:cTn>
                        </p:par>
                      </p:childTnLst>
                    </p:cTn>
                  </p:par>
                  <p:par>
                    <p:cTn id="18" fill="hold">
                      <p:stCondLst>
                        <p:cond delay="indefinite"/>
                      </p:stCondLst>
                      <p:childTnLst>
                        <p:par>
                          <p:cTn id="19" fill="hold">
                            <p:stCondLst>
                              <p:cond delay="0"/>
                            </p:stCondLst>
                            <p:childTnLst>
                              <p:par>
                                <p:cTn id="15" presetID="1" presetClass="entr" presetSubtype="0" fill="hold" grpId="0"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21" presetID="1" presetClass="entr" presetSubtype="0"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8" presetID="53" presetClass="exit" presetSubtype="16" fill="hold" grpId="1" nodeType="withEffect">
                                  <p:stCondLst>
                                    <p:cond delay="0"/>
                                  </p:stCondLst>
                                  <p:childTnLst>
                                    <p:anim calcmode="lin" valueType="num">
                                      <p:cBhvr>
                                        <p:cTn id="24" dur="350" fill="hold"/>
                                        <p:tgtEl>
                                          <p:spTgt spid="87"/>
                                        </p:tgtEl>
                                        <p:attrNameLst>
                                          <p:attrName>ppt_w</p:attrName>
                                        </p:attrNameLst>
                                      </p:cBhvr>
                                      <p:tavLst>
                                        <p:tav tm="0">
                                          <p:val>
                                            <p:strVal val="ppt_w"/>
                                          </p:val>
                                        </p:tav>
                                        <p:tav tm="100000">
                                          <p:val>
                                            <p:fltVal val="0"/>
                                          </p:val>
                                        </p:tav>
                                      </p:tavLst>
                                    </p:anim>
                                    <p:anim calcmode="lin" valueType="num">
                                      <p:cBhvr>
                                        <p:cTn id="25" dur="350" fill="hold"/>
                                        <p:tgtEl>
                                          <p:spTgt spid="87"/>
                                        </p:tgtEl>
                                        <p:attrNameLst>
                                          <p:attrName>ppt_h</p:attrName>
                                        </p:attrNameLst>
                                      </p:cBhvr>
                                      <p:tavLst>
                                        <p:tav tm="0">
                                          <p:val>
                                            <p:strVal val="ppt_h"/>
                                          </p:val>
                                        </p:tav>
                                        <p:tav tm="100000">
                                          <p:val>
                                            <p:fltVal val="0"/>
                                          </p:val>
                                        </p:tav>
                                      </p:tavLst>
                                    </p:anim>
                                    <p:animEffect transition="out" filter="fade">
                                      <p:cBhvr>
                                        <p:cTn id="26" dur="350"/>
                                        <p:tgtEl>
                                          <p:spTgt spid="87"/>
                                        </p:tgtEl>
                                      </p:cBhvr>
                                    </p:animEffect>
                                    <p:set>
                                      <p:cBhvr>
                                        <p:cTn id="27" dur="1" fill="hold">
                                          <p:stCondLst>
                                            <p:cond delay="349"/>
                                          </p:stCondLst>
                                        </p:cTn>
                                        <p:tgtEl>
                                          <p:spTgt spid="87"/>
                                        </p:tgtEl>
                                        <p:attrNameLst>
                                          <p:attrName>style.visibility</p:attrName>
                                        </p:attrNameLst>
                                      </p:cBhvr>
                                      <p:to>
                                        <p:strVal val="hidden"/>
                                      </p:to>
                                    </p:set>
                                  </p:childTnLst>
                                </p:cTn>
                              </p:par>
                              <p:par>
                                <p:cTn id="33" presetID="53" presetClass="entr" presetSubtype="16" fill="hold" grpId="0" nodeType="withEffect">
                                  <p:stCondLst>
                                    <p:cond delay="0"/>
                                  </p:stCondLst>
                                  <p:childTnLst>
                                    <p:set>
                                      <p:cBhvr>
                                        <p:cTn id="29" dur="1" fill="hold">
                                          <p:stCondLst>
                                            <p:cond delay="0"/>
                                          </p:stCondLst>
                                        </p:cTn>
                                        <p:tgtEl>
                                          <p:spTgt spid="88"/>
                                        </p:tgtEl>
                                        <p:attrNameLst>
                                          <p:attrName>style.visibility</p:attrName>
                                        </p:attrNameLst>
                                      </p:cBhvr>
                                      <p:to>
                                        <p:strVal val="visible"/>
                                      </p:to>
                                    </p:set>
                                    <p:anim calcmode="lin" valueType="num">
                                      <p:cBhvr>
                                        <p:cTn id="30" dur="450" fill="hold"/>
                                        <p:tgtEl>
                                          <p:spTgt spid="88"/>
                                        </p:tgtEl>
                                        <p:attrNameLst>
                                          <p:attrName>ppt_w</p:attrName>
                                        </p:attrNameLst>
                                      </p:cBhvr>
                                      <p:tavLst>
                                        <p:tav tm="0">
                                          <p:val>
                                            <p:fltVal val="0"/>
                                          </p:val>
                                        </p:tav>
                                        <p:tav tm="100000">
                                          <p:val>
                                            <p:strVal val="#ppt_w"/>
                                          </p:val>
                                        </p:tav>
                                      </p:tavLst>
                                    </p:anim>
                                    <p:anim calcmode="lin" valueType="num">
                                      <p:cBhvr>
                                        <p:cTn id="31" dur="450" fill="hold"/>
                                        <p:tgtEl>
                                          <p:spTgt spid="88"/>
                                        </p:tgtEl>
                                        <p:attrNameLst>
                                          <p:attrName>ppt_h</p:attrName>
                                        </p:attrNameLst>
                                      </p:cBhvr>
                                      <p:tavLst>
                                        <p:tav tm="0">
                                          <p:val>
                                            <p:fltVal val="0"/>
                                          </p:val>
                                        </p:tav>
                                        <p:tav tm="100000">
                                          <p:val>
                                            <p:strVal val="#ppt_h"/>
                                          </p:val>
                                        </p:tav>
                                      </p:tavLst>
                                    </p:anim>
                                    <p:animEffect transition="in" filter="fade">
                                      <p:cBhvr>
                                        <p:cTn id="32" dur="450"/>
                                        <p:tgtEl>
                                          <p:spTgt spid="88"/>
                                        </p:tgtEl>
                                      </p:cBhvr>
                                    </p:animEffect>
                                  </p:childTnLst>
                                </p:cTn>
                              </p:par>
                            </p:childTnLst>
                          </p:cTn>
                        </p:par>
                      </p:childTnLst>
                    </p:cTn>
                  </p:par>
                  <p:par>
                    <p:cTn id="40" fill="hold">
                      <p:stCondLst>
                        <p:cond delay="indefinite"/>
                      </p:stCondLst>
                      <p:childTnLst>
                        <p:par>
                          <p:cTn id="41" fill="hold">
                            <p:stCondLst>
                              <p:cond delay="0"/>
                            </p:stCondLst>
                            <p:childTnLst>
                              <p:par>
                                <p:cTn id="37" presetID="1" presetClass="entr" presetSubtype="0" fill="hold" grpId="0" nodeType="click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38" dur="1" fill="hold">
                                          <p:stCondLst>
                                            <p:cond delay="0"/>
                                          </p:stCondLst>
                                        </p:cTn>
                                        <p:tgtEl>
                                          <p:spTgt spid="8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43" presetID="1" presetClass="entr" presetSubtype="0" fill="hold" grpId="0" nodeType="click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4" dur="1" fill="hold">
                                          <p:stCondLst>
                                            <p:cond delay="0"/>
                                          </p:stCondLst>
                                        </p:cTn>
                                        <p:tgtEl>
                                          <p:spTgt spid="85"/>
                                        </p:tgtEl>
                                        <p:attrNameLst>
                                          <p:attrName>style.visibility</p:attrName>
                                        </p:attrNameLst>
                                      </p:cBhvr>
                                      <p:to>
                                        <p:strVal val="visible"/>
                                      </p:to>
                                    </p:set>
                                  </p:childTnLst>
                                </p:cTn>
                              </p:par>
                              <p:par>
                                <p:cTn id="50" presetID="53" presetClass="exit" presetSubtype="16" fill="hold" grpId="1" nodeType="withEffect">
                                  <p:stCondLst>
                                    <p:cond delay="0"/>
                                  </p:stCondLst>
                                  <p:childTnLst>
                                    <p:anim calcmode="lin" valueType="num">
                                      <p:cBhvr>
                                        <p:cTn id="46" dur="350" fill="hold"/>
                                        <p:tgtEl>
                                          <p:spTgt spid="88"/>
                                        </p:tgtEl>
                                        <p:attrNameLst>
                                          <p:attrName>ppt_w</p:attrName>
                                        </p:attrNameLst>
                                      </p:cBhvr>
                                      <p:tavLst>
                                        <p:tav tm="0">
                                          <p:val>
                                            <p:strVal val="ppt_w"/>
                                          </p:val>
                                        </p:tav>
                                        <p:tav tm="100000">
                                          <p:val>
                                            <p:fltVal val="0"/>
                                          </p:val>
                                        </p:tav>
                                      </p:tavLst>
                                    </p:anim>
                                    <p:anim calcmode="lin" valueType="num">
                                      <p:cBhvr>
                                        <p:cTn id="47" dur="350" fill="hold"/>
                                        <p:tgtEl>
                                          <p:spTgt spid="88"/>
                                        </p:tgtEl>
                                        <p:attrNameLst>
                                          <p:attrName>ppt_h</p:attrName>
                                        </p:attrNameLst>
                                      </p:cBhvr>
                                      <p:tavLst>
                                        <p:tav tm="0">
                                          <p:val>
                                            <p:strVal val="ppt_h"/>
                                          </p:val>
                                        </p:tav>
                                        <p:tav tm="100000">
                                          <p:val>
                                            <p:fltVal val="0"/>
                                          </p:val>
                                        </p:tav>
                                      </p:tavLst>
                                    </p:anim>
                                    <p:animEffect transition="out" filter="fade">
                                      <p:cBhvr>
                                        <p:cTn id="48" dur="350"/>
                                        <p:tgtEl>
                                          <p:spTgt spid="88"/>
                                        </p:tgtEl>
                                      </p:cBhvr>
                                    </p:animEffect>
                                    <p:set>
                                      <p:cBhvr>
                                        <p:cTn id="49" dur="1" fill="hold">
                                          <p:stCondLst>
                                            <p:cond delay="349"/>
                                          </p:stCondLst>
                                        </p:cTn>
                                        <p:tgtEl>
                                          <p:spTgt spid="88"/>
                                        </p:tgtEl>
                                        <p:attrNameLst>
                                          <p:attrName>style.visibility</p:attrName>
                                        </p:attrNameLst>
                                      </p:cBhvr>
                                      <p:to>
                                        <p:strVal val="hidden"/>
                                      </p:to>
                                    </p:set>
                                  </p:childTnLst>
                                </p:cTn>
                              </p:par>
                              <p:par>
                                <p:cTn id="55" presetID="53" presetClass="entr" presetSubtype="16" fill="hold" grpId="0" nodeType="withEffect">
                                  <p:stCondLst>
                                    <p:cond delay="0"/>
                                  </p:stCondLst>
                                  <p:childTnLst>
                                    <p:set>
                                      <p:cBhvr>
                                        <p:cTn id="51" dur="1" fill="hold">
                                          <p:stCondLst>
                                            <p:cond delay="0"/>
                                          </p:stCondLst>
                                        </p:cTn>
                                        <p:tgtEl>
                                          <p:spTgt spid="89"/>
                                        </p:tgtEl>
                                        <p:attrNameLst>
                                          <p:attrName>style.visibility</p:attrName>
                                        </p:attrNameLst>
                                      </p:cBhvr>
                                      <p:to>
                                        <p:strVal val="visible"/>
                                      </p:to>
                                    </p:set>
                                    <p:anim calcmode="lin" valueType="num">
                                      <p:cBhvr>
                                        <p:cTn id="52" dur="450" fill="hold"/>
                                        <p:tgtEl>
                                          <p:spTgt spid="89"/>
                                        </p:tgtEl>
                                        <p:attrNameLst>
                                          <p:attrName>ppt_w</p:attrName>
                                        </p:attrNameLst>
                                      </p:cBhvr>
                                      <p:tavLst>
                                        <p:tav tm="0">
                                          <p:val>
                                            <p:fltVal val="0"/>
                                          </p:val>
                                        </p:tav>
                                        <p:tav tm="100000">
                                          <p:val>
                                            <p:strVal val="#ppt_w"/>
                                          </p:val>
                                        </p:tav>
                                      </p:tavLst>
                                    </p:anim>
                                    <p:anim calcmode="lin" valueType="num">
                                      <p:cBhvr>
                                        <p:cTn id="53" dur="450" fill="hold"/>
                                        <p:tgtEl>
                                          <p:spTgt spid="89"/>
                                        </p:tgtEl>
                                        <p:attrNameLst>
                                          <p:attrName>ppt_h</p:attrName>
                                        </p:attrNameLst>
                                      </p:cBhvr>
                                      <p:tavLst>
                                        <p:tav tm="0">
                                          <p:val>
                                            <p:fltVal val="0"/>
                                          </p:val>
                                        </p:tav>
                                        <p:tav tm="100000">
                                          <p:val>
                                            <p:strVal val="#ppt_h"/>
                                          </p:val>
                                        </p:tav>
                                      </p:tavLst>
                                    </p:anim>
                                    <p:animEffect transition="in" filter="fade">
                                      <p:cBhvr>
                                        <p:cTn id="54" dur="450"/>
                                        <p:tgtEl>
                                          <p:spTgt spid="89"/>
                                        </p:tgtEl>
                                      </p:cBhvr>
                                    </p:animEffect>
                                  </p:childTnLst>
                                </p:cTn>
                              </p:par>
                            </p:childTnLst>
                          </p:cTn>
                        </p:par>
                      </p:childTnLst>
                    </p:cTn>
                  </p:par>
                  <p:par>
                    <p:cTn id="60" fill="hold">
                      <p:stCondLst>
                        <p:cond delay="indefinite"/>
                      </p:stCondLst>
                      <p:childTnLst>
                        <p:par>
                          <p:cTn id="61" fill="hold">
                            <p:stCondLst>
                              <p:cond delay="0"/>
                            </p:stCondLst>
                            <p:childTnLst>
                              <p:par>
                                <p:cTn id="59" presetID="1" presetClass="entr" presetSubtype="0" fill="hold" grpId="0" nodeType="click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8686800" cy="548640"/>
          </a:xfrm>
          <a:prstGeom prst="rect">
            <a:avLst/>
          </a:prstGeom>
          <a:noFill/>
        </p:spPr>
        <p:txBody>
          <a:bodyPr wrap="square" lIns="0" rIns="0" tIns="0" bIns="0">
            <a:spAutoFit/>
          </a:bodyPr>
          <a:lstStyle/>
          <a:p>
            <a:r>
              <a:rPr sz="3600" b="1">
                <a:solidFill>
                  <a:srgbClr val="FFFFFF"/>
                </a:solidFill>
                <a:latin typeface="Calibri"/>
              </a:rPr>
              <a:t>Designer Plugin </a:t>
            </a:r>
            <a:r>
              <a:rPr sz="3600" b="1">
                <a:solidFill>
                  <a:srgbClr val="5FD38D"/>
                </a:solidFill>
                <a:latin typeface="Calibri"/>
              </a:rPr>
              <a:t>(Widgets)</a:t>
            </a:r>
          </a:p>
        </p:txBody>
      </p:sp>
      <p:sp>
        <p:nvSpPr>
          <p:cNvPr id="3" name="Bullet 1 number"/>
          <p:cNvSpPr txBox="1"/>
          <p:nvPr/>
        </p:nvSpPr>
        <p:spPr>
          <a:xfrm>
            <a:off x="548640" y="1600200"/>
            <a:ext cx="640080" cy="365760"/>
          </a:xfrm>
          <a:prstGeom prst="rect">
            <a:avLst/>
          </a:prstGeom>
          <a:noFill/>
        </p:spPr>
        <p:txBody>
          <a:bodyPr wrap="square" lIns="0" rIns="0" tIns="0" bIns="0">
            <a:spAutoFit/>
          </a:bodyPr>
          <a:lstStyle/>
          <a:p>
            <a:r>
              <a:rPr sz="2000" b="1">
                <a:solidFill>
                  <a:srgbClr val="5FD38D"/>
                </a:solidFill>
                <a:latin typeface="Consolas"/>
              </a:rPr>
              <a:t>01</a:t>
            </a:r>
          </a:p>
        </p:txBody>
      </p:sp>
      <p:sp>
        <p:nvSpPr>
          <p:cNvPr id="4" name="Bullet 1"/>
          <p:cNvSpPr txBox="1"/>
          <p:nvPr/>
        </p:nvSpPr>
        <p:spPr>
          <a:xfrm>
            <a:off x="1234440" y="1581912"/>
            <a:ext cx="4754880" cy="365760"/>
          </a:xfrm>
          <a:prstGeom prst="rect">
            <a:avLst/>
          </a:prstGeom>
          <a:noFill/>
        </p:spPr>
        <p:txBody>
          <a:bodyPr wrap="square" lIns="0" rIns="0" tIns="0" bIns="0">
            <a:spAutoFit/>
          </a:bodyPr>
          <a:lstStyle/>
          <a:p>
            <a:r>
              <a:rPr sz="2000" b="0">
                <a:solidFill>
                  <a:srgbClr val="FFFFFF"/>
                </a:solidFill>
                <a:latin typeface="Calibri"/>
              </a:rPr>
              <a:t>Plugin as a separate sub-project</a:t>
            </a:r>
          </a:p>
        </p:txBody>
      </p:sp>
      <p:sp>
        <p:nvSpPr>
          <p:cNvPr id="5" name="Bullet 2 number"/>
          <p:cNvSpPr txBox="1"/>
          <p:nvPr/>
        </p:nvSpPr>
        <p:spPr>
          <a:xfrm>
            <a:off x="548640" y="2377440"/>
            <a:ext cx="640080" cy="365760"/>
          </a:xfrm>
          <a:prstGeom prst="rect">
            <a:avLst/>
          </a:prstGeom>
          <a:noFill/>
        </p:spPr>
        <p:txBody>
          <a:bodyPr wrap="square" lIns="0" rIns="0" tIns="0" bIns="0">
            <a:spAutoFit/>
          </a:bodyPr>
          <a:lstStyle/>
          <a:p>
            <a:r>
              <a:rPr sz="2000" b="1">
                <a:solidFill>
                  <a:srgbClr val="5FD38D"/>
                </a:solidFill>
                <a:latin typeface="Consolas"/>
              </a:rPr>
              <a:t>02</a:t>
            </a:r>
          </a:p>
        </p:txBody>
      </p:sp>
      <p:sp>
        <p:nvSpPr>
          <p:cNvPr id="6" name="Bullet 2"/>
          <p:cNvSpPr txBox="1"/>
          <p:nvPr/>
        </p:nvSpPr>
        <p:spPr>
          <a:xfrm>
            <a:off x="1234440" y="2359152"/>
            <a:ext cx="4754880" cy="365760"/>
          </a:xfrm>
          <a:prstGeom prst="rect">
            <a:avLst/>
          </a:prstGeom>
          <a:noFill/>
        </p:spPr>
        <p:txBody>
          <a:bodyPr wrap="square" lIns="0" rIns="0" tIns="0" bIns="0">
            <a:spAutoFit/>
          </a:bodyPr>
          <a:lstStyle/>
          <a:p>
            <a:r>
              <a:rPr sz="2000" b="0">
                <a:solidFill>
                  <a:srgbClr val="FFFFFF"/>
                </a:solidFill>
                <a:latin typeface="Calibri"/>
              </a:rPr>
              <a:t>Implement the Designer interface</a:t>
            </a:r>
          </a:p>
        </p:txBody>
      </p:sp>
      <p:sp>
        <p:nvSpPr>
          <p:cNvPr id="7" name="Bullet 3 number"/>
          <p:cNvSpPr txBox="1"/>
          <p:nvPr/>
        </p:nvSpPr>
        <p:spPr>
          <a:xfrm>
            <a:off x="548640" y="3154680"/>
            <a:ext cx="640080" cy="365760"/>
          </a:xfrm>
          <a:prstGeom prst="rect">
            <a:avLst/>
          </a:prstGeom>
          <a:noFill/>
        </p:spPr>
        <p:txBody>
          <a:bodyPr wrap="square" lIns="0" rIns="0" tIns="0" bIns="0">
            <a:spAutoFit/>
          </a:bodyPr>
          <a:lstStyle/>
          <a:p>
            <a:r>
              <a:rPr sz="2000" b="1">
                <a:solidFill>
                  <a:srgbClr val="5FD38D"/>
                </a:solidFill>
                <a:latin typeface="Consolas"/>
              </a:rPr>
              <a:t>03</a:t>
            </a:r>
          </a:p>
        </p:txBody>
      </p:sp>
      <p:sp>
        <p:nvSpPr>
          <p:cNvPr id="8" name="Bullet 3"/>
          <p:cNvSpPr txBox="1"/>
          <p:nvPr/>
        </p:nvSpPr>
        <p:spPr>
          <a:xfrm>
            <a:off x="1234440" y="3136392"/>
            <a:ext cx="4754880" cy="365760"/>
          </a:xfrm>
          <a:prstGeom prst="rect">
            <a:avLst/>
          </a:prstGeom>
          <a:noFill/>
        </p:spPr>
        <p:txBody>
          <a:bodyPr wrap="square" lIns="0" rIns="0" tIns="0" bIns="0">
            <a:spAutoFit/>
          </a:bodyPr>
          <a:lstStyle/>
          <a:p>
            <a:r>
              <a:rPr sz="2000" b="0">
                <a:solidFill>
                  <a:srgbClr val="FFFFFF"/>
                </a:solidFill>
                <a:latin typeface="Calibri"/>
              </a:rPr>
              <a:t>Build </a:t>
            </a:r>
            <a:r>
              <a:rPr sz="2000" b="0">
                <a:solidFill>
                  <a:srgbClr val="5FD38D"/>
                </a:solidFill>
                <a:latin typeface="Consolas"/>
              </a:rPr>
              <a:t>.so</a:t>
            </a:r>
            <a:r>
              <a:rPr sz="2000" b="0">
                <a:solidFill>
                  <a:srgbClr val="FFFFFF"/>
                </a:solidFill>
                <a:latin typeface="Calibri"/>
              </a:rPr>
              <a:t>, copy, restart Creator</a:t>
            </a:r>
          </a:p>
        </p:txBody>
      </p:sp>
      <p:sp>
        <p:nvSpPr>
          <p:cNvPr id="9" name="Bullet 4 number"/>
          <p:cNvSpPr txBox="1"/>
          <p:nvPr/>
        </p:nvSpPr>
        <p:spPr>
          <a:xfrm>
            <a:off x="548640" y="3931920"/>
            <a:ext cx="640080" cy="365760"/>
          </a:xfrm>
          <a:prstGeom prst="rect">
            <a:avLst/>
          </a:prstGeom>
          <a:noFill/>
        </p:spPr>
        <p:txBody>
          <a:bodyPr wrap="square" lIns="0" rIns="0" tIns="0" bIns="0">
            <a:spAutoFit/>
          </a:bodyPr>
          <a:lstStyle/>
          <a:p>
            <a:r>
              <a:rPr sz="2000" b="1">
                <a:solidFill>
                  <a:srgbClr val="5FD38D"/>
                </a:solidFill>
                <a:latin typeface="Consolas"/>
              </a:rPr>
              <a:t>04</a:t>
            </a:r>
          </a:p>
        </p:txBody>
      </p:sp>
      <p:sp>
        <p:nvSpPr>
          <p:cNvPr id="10" name="Bullet 4"/>
          <p:cNvSpPr txBox="1"/>
          <p:nvPr/>
        </p:nvSpPr>
        <p:spPr>
          <a:xfrm>
            <a:off x="1234440" y="3913632"/>
            <a:ext cx="4754880" cy="365760"/>
          </a:xfrm>
          <a:prstGeom prst="rect">
            <a:avLst/>
          </a:prstGeom>
          <a:noFill/>
        </p:spPr>
        <p:txBody>
          <a:bodyPr wrap="square" lIns="0" rIns="0" tIns="0" bIns="0">
            <a:spAutoFit/>
          </a:bodyPr>
          <a:lstStyle/>
          <a:p>
            <a:r>
              <a:rPr sz="2000" b="0">
                <a:solidFill>
                  <a:srgbClr val="5FD38D"/>
                </a:solidFill>
                <a:latin typeface="Consolas"/>
              </a:rPr>
              <a:t>MyButton</a:t>
            </a:r>
            <a:r>
              <a:rPr sz="2000" b="0">
                <a:solidFill>
                  <a:srgbClr val="FFFFFF"/>
                </a:solidFill>
                <a:latin typeface="Calibri"/>
              </a:rPr>
              <a:t> in Widget Box, shape visible</a:t>
            </a:r>
          </a:p>
        </p:txBody>
      </p:sp>
      <p:sp>
        <p:nvSpPr>
          <p:cNvPr id="11" name="Bullet 5 number"/>
          <p:cNvSpPr txBox="1"/>
          <p:nvPr/>
        </p:nvSpPr>
        <p:spPr>
          <a:xfrm>
            <a:off x="548640" y="4709160"/>
            <a:ext cx="640080" cy="365760"/>
          </a:xfrm>
          <a:prstGeom prst="rect">
            <a:avLst/>
          </a:prstGeom>
          <a:noFill/>
        </p:spPr>
        <p:txBody>
          <a:bodyPr wrap="square" lIns="0" rIns="0" tIns="0" bIns="0">
            <a:spAutoFit/>
          </a:bodyPr>
          <a:lstStyle/>
          <a:p>
            <a:r>
              <a:rPr sz="2000" b="1">
                <a:solidFill>
                  <a:srgbClr val="F0B35A"/>
                </a:solidFill>
                <a:latin typeface="Consolas"/>
              </a:rPr>
              <a:t>05</a:t>
            </a:r>
          </a:p>
        </p:txBody>
      </p:sp>
      <p:sp>
        <p:nvSpPr>
          <p:cNvPr id="12" name="Bullet 5"/>
          <p:cNvSpPr txBox="1"/>
          <p:nvPr/>
        </p:nvSpPr>
        <p:spPr>
          <a:xfrm>
            <a:off x="1234440" y="4690872"/>
            <a:ext cx="4754880" cy="365760"/>
          </a:xfrm>
          <a:prstGeom prst="rect">
            <a:avLst/>
          </a:prstGeom>
          <a:noFill/>
        </p:spPr>
        <p:txBody>
          <a:bodyPr wrap="square" lIns="0" rIns="0" tIns="0" bIns="0">
            <a:spAutoFit/>
          </a:bodyPr>
          <a:lstStyle/>
          <a:p>
            <a:r>
              <a:rPr sz="2000" b="1">
                <a:solidFill>
                  <a:srgbClr val="F0B35A"/>
                </a:solidFill>
                <a:latin typeface="Calibri"/>
              </a:rPr>
              <a:t>Issue: </a:t>
            </a:r>
            <a:r>
              <a:rPr sz="2000" b="0">
                <a:solidFill>
                  <a:srgbClr val="FFFFFF"/>
                </a:solidFill>
                <a:latin typeface="Calibri"/>
              </a:rPr>
              <a:t>whole rectangle is clickable</a:t>
            </a:r>
          </a:p>
        </p:txBody>
      </p:sp>
      <p:sp>
        <p:nvSpPr>
          <p:cNvPr id="13" name="Closing"/>
          <p:cNvSpPr txBox="1"/>
          <p:nvPr/>
        </p:nvSpPr>
        <p:spPr>
          <a:xfrm>
            <a:off x="1234440" y="5623560"/>
            <a:ext cx="4754880" cy="411480"/>
          </a:xfrm>
          <a:prstGeom prst="rect">
            <a:avLst/>
          </a:prstGeom>
          <a:noFill/>
        </p:spPr>
        <p:txBody>
          <a:bodyPr wrap="square" lIns="0" rIns="0" tIns="0" bIns="0">
            <a:spAutoFit/>
          </a:bodyPr>
          <a:lstStyle/>
          <a:p>
            <a:r>
              <a:rPr sz="2200" b="1">
                <a:solidFill>
                  <a:srgbClr val="F0B35A"/>
                </a:solidFill>
                <a:latin typeface="Calibri"/>
              </a:rPr>
              <a:t>Possible, but a lot of effort</a:t>
            </a:r>
          </a:p>
        </p:txBody>
      </p:sp>
      <p:pic>
        <p:nvPicPr>
          <p:cNvPr id="14" name="plugin code" descr="Screenshot from 2026-10-11 20-39-53.png"/>
          <p:cNvPicPr>
            <a:picLocks noChangeAspect="1"/>
          </p:cNvPicPr>
          <p:nvPr/>
        </p:nvPicPr>
        <p:blipFill>
          <a:blip r:embed="rId2"/>
          <a:stretch>
            <a:fillRect/>
          </a:stretch>
        </p:blipFill>
        <p:spPr>
          <a:xfrm>
            <a:off x="6263640" y="1821617"/>
            <a:ext cx="5303520" cy="4037725"/>
          </a:xfrm>
          <a:prstGeom prst="rect">
            <a:avLst/>
          </a:prstGeom>
          <a:ln w="12700">
            <a:solidFill>
              <a:srgbClr val="34373D"/>
            </a:solidFill>
          </a:ln>
        </p:spPr>
      </p:pic>
      <p:pic>
        <p:nvPicPr>
          <p:cNvPr id="15" name="designer" descr="Screenshot from 2026-10-11 20-40-22.png"/>
          <p:cNvPicPr>
            <a:picLocks noChangeAspect="1"/>
          </p:cNvPicPr>
          <p:nvPr/>
        </p:nvPicPr>
        <p:blipFill>
          <a:blip r:embed="rId3"/>
          <a:stretch>
            <a:fillRect/>
          </a:stretch>
        </p:blipFill>
        <p:spPr>
          <a:xfrm>
            <a:off x="6420527" y="1508760"/>
            <a:ext cx="4989744" cy="4663439"/>
          </a:xfrm>
          <a:prstGeom prst="rect">
            <a:avLst/>
          </a:prstGeom>
          <a:ln w="12700">
            <a:solidFill>
              <a:srgbClr val="34373D"/>
            </a:solidFill>
          </a:ln>
        </p:spPr>
      </p:pic>
      <p:pic>
        <p:nvPicPr>
          <p:cNvPr id="16" name="run" descr="Screenshot from 2026-10-11 20-41-47.png"/>
          <p:cNvPicPr>
            <a:picLocks noChangeAspect="1"/>
          </p:cNvPicPr>
          <p:nvPr/>
        </p:nvPicPr>
        <p:blipFill>
          <a:blip r:embed="rId4"/>
          <a:stretch>
            <a:fillRect/>
          </a:stretch>
        </p:blipFill>
        <p:spPr>
          <a:xfrm>
            <a:off x="6263640" y="1709002"/>
            <a:ext cx="5303520" cy="4262956"/>
          </a:xfrm>
          <a:prstGeom prst="rect">
            <a:avLst/>
          </a:prstGeom>
          <a:ln w="12700">
            <a:solidFill>
              <a:srgbClr val="34373D"/>
            </a:solidFill>
          </a:ln>
        </p:spPr>
      </p:pic>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4" presetID="1"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childTnLst>
                                </p:cTn>
                              </p:par>
                              <p:par>
                                <p:cTn id="6" presetID="1" presetClass="entr" presetSubtype="0" fill="hold" grpId="0" nodeType="withEffect">
                                  <p:stCondLst>
                                    <p:cond delay="0"/>
                                  </p:stCondLst>
                                  <p:childTnLst>
                                    <p:set>
                                      <p:cBhvr>
                                        <p:cTn id="5"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10" presetID="1" presetClass="entr" presetSubtype="0" fill="hold" grpId="0" nodeType="clickEffect">
                                  <p:stCondLst>
                                    <p:cond delay="0"/>
                                  </p:stCondLst>
                                  <p:childTnLst>
                                    <p:set>
                                      <p:cBhvr>
                                        <p:cTn id="9"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7" presetID="53" presetClass="entr" presetSubtype="16"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450" fill="hold"/>
                                        <p:tgtEl>
                                          <p:spTgt spid="14"/>
                                        </p:tgtEl>
                                        <p:attrNameLst>
                                          <p:attrName>ppt_w</p:attrName>
                                        </p:attrNameLst>
                                      </p:cBhvr>
                                      <p:tavLst>
                                        <p:tav tm="0">
                                          <p:val>
                                            <p:fltVal val="0"/>
                                          </p:val>
                                        </p:tav>
                                        <p:tav tm="100000">
                                          <p:val>
                                            <p:strVal val="#ppt_w"/>
                                          </p:val>
                                        </p:tav>
                                      </p:tavLst>
                                    </p:anim>
                                    <p:anim calcmode="lin" valueType="num">
                                      <p:cBhvr>
                                        <p:cTn id="15" dur="450" fill="hold"/>
                                        <p:tgtEl>
                                          <p:spTgt spid="14"/>
                                        </p:tgtEl>
                                        <p:attrNameLst>
                                          <p:attrName>ppt_h</p:attrName>
                                        </p:attrNameLst>
                                      </p:cBhvr>
                                      <p:tavLst>
                                        <p:tav tm="0">
                                          <p:val>
                                            <p:fltVal val="0"/>
                                          </p:val>
                                        </p:tav>
                                        <p:tav tm="100000">
                                          <p:val>
                                            <p:strVal val="#ppt_h"/>
                                          </p:val>
                                        </p:tav>
                                      </p:tavLst>
                                    </p:anim>
                                    <p:animEffect transition="in" filter="fade">
                                      <p:cBhvr>
                                        <p:cTn id="16" dur="4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1"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27"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34" presetID="53" presetClass="exit" presetSubtype="16" fill="hold" grpId="1" nodeType="withEffect">
                                  <p:stCondLst>
                                    <p:cond delay="0"/>
                                  </p:stCondLst>
                                  <p:childTnLst>
                                    <p:anim calcmode="lin" valueType="num">
                                      <p:cBhvr>
                                        <p:cTn id="30" dur="350" fill="hold"/>
                                        <p:tgtEl>
                                          <p:spTgt spid="14"/>
                                        </p:tgtEl>
                                        <p:attrNameLst>
                                          <p:attrName>ppt_w</p:attrName>
                                        </p:attrNameLst>
                                      </p:cBhvr>
                                      <p:tavLst>
                                        <p:tav tm="0">
                                          <p:val>
                                            <p:strVal val="ppt_w"/>
                                          </p:val>
                                        </p:tav>
                                        <p:tav tm="100000">
                                          <p:val>
                                            <p:fltVal val="0"/>
                                          </p:val>
                                        </p:tav>
                                      </p:tavLst>
                                    </p:anim>
                                    <p:anim calcmode="lin" valueType="num">
                                      <p:cBhvr>
                                        <p:cTn id="31" dur="350" fill="hold"/>
                                        <p:tgtEl>
                                          <p:spTgt spid="14"/>
                                        </p:tgtEl>
                                        <p:attrNameLst>
                                          <p:attrName>ppt_h</p:attrName>
                                        </p:attrNameLst>
                                      </p:cBhvr>
                                      <p:tavLst>
                                        <p:tav tm="0">
                                          <p:val>
                                            <p:strVal val="ppt_h"/>
                                          </p:val>
                                        </p:tav>
                                        <p:tav tm="100000">
                                          <p:val>
                                            <p:fltVal val="0"/>
                                          </p:val>
                                        </p:tav>
                                      </p:tavLst>
                                    </p:anim>
                                    <p:animEffect transition="out" filter="fade">
                                      <p:cBhvr>
                                        <p:cTn id="32" dur="350"/>
                                        <p:tgtEl>
                                          <p:spTgt spid="14"/>
                                        </p:tgtEl>
                                      </p:cBhvr>
                                    </p:animEffect>
                                    <p:set>
                                      <p:cBhvr>
                                        <p:cTn id="33" dur="1" fill="hold">
                                          <p:stCondLst>
                                            <p:cond delay="349"/>
                                          </p:stCondLst>
                                        </p:cTn>
                                        <p:tgtEl>
                                          <p:spTgt spid="14"/>
                                        </p:tgtEl>
                                        <p:attrNameLst>
                                          <p:attrName>style.visibility</p:attrName>
                                        </p:attrNameLst>
                                      </p:cBhvr>
                                      <p:to>
                                        <p:strVal val="hidden"/>
                                      </p:to>
                                    </p:set>
                                  </p:childTnLst>
                                </p:cTn>
                              </p:par>
                              <p:par>
                                <p:cTn id="39" presetID="53"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450" fill="hold"/>
                                        <p:tgtEl>
                                          <p:spTgt spid="15"/>
                                        </p:tgtEl>
                                        <p:attrNameLst>
                                          <p:attrName>ppt_w</p:attrName>
                                        </p:attrNameLst>
                                      </p:cBhvr>
                                      <p:tavLst>
                                        <p:tav tm="0">
                                          <p:val>
                                            <p:fltVal val="0"/>
                                          </p:val>
                                        </p:tav>
                                        <p:tav tm="100000">
                                          <p:val>
                                            <p:strVal val="#ppt_w"/>
                                          </p:val>
                                        </p:tav>
                                      </p:tavLst>
                                    </p:anim>
                                    <p:anim calcmode="lin" valueType="num">
                                      <p:cBhvr>
                                        <p:cTn id="37" dur="450" fill="hold"/>
                                        <p:tgtEl>
                                          <p:spTgt spid="15"/>
                                        </p:tgtEl>
                                        <p:attrNameLst>
                                          <p:attrName>ppt_h</p:attrName>
                                        </p:attrNameLst>
                                      </p:cBhvr>
                                      <p:tavLst>
                                        <p:tav tm="0">
                                          <p:val>
                                            <p:fltVal val="0"/>
                                          </p:val>
                                        </p:tav>
                                        <p:tav tm="100000">
                                          <p:val>
                                            <p:strVal val="#ppt_h"/>
                                          </p:val>
                                        </p:tav>
                                      </p:tavLst>
                                    </p:anim>
                                    <p:animEffect transition="in" filter="fade">
                                      <p:cBhvr>
                                        <p:cTn id="38" dur="450"/>
                                        <p:tgtEl>
                                          <p:spTgt spid="15"/>
                                        </p:tgtEl>
                                      </p:cBhvr>
                                    </p:animEffect>
                                  </p:childTnLst>
                                </p:cTn>
                              </p:par>
                            </p:childTnLst>
                          </p:cTn>
                        </p:par>
                      </p:childTnLst>
                    </p:cTn>
                  </p:par>
                  <p:par>
                    <p:cTn id="56" fill="hold">
                      <p:stCondLst>
                        <p:cond delay="indefinite"/>
                      </p:stCondLst>
                      <p:childTnLst>
                        <p:par>
                          <p:cTn id="57" fill="hold">
                            <p:stCondLst>
                              <p:cond delay="0"/>
                            </p:stCondLst>
                            <p:childTnLst>
                              <p:par>
                                <p:cTn id="43"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50" presetID="53" presetClass="exit" presetSubtype="16" fill="hold" grpId="1" nodeType="withEffect">
                                  <p:stCondLst>
                                    <p:cond delay="0"/>
                                  </p:stCondLst>
                                  <p:childTnLst>
                                    <p:anim calcmode="lin" valueType="num">
                                      <p:cBhvr>
                                        <p:cTn id="46" dur="350" fill="hold"/>
                                        <p:tgtEl>
                                          <p:spTgt spid="15"/>
                                        </p:tgtEl>
                                        <p:attrNameLst>
                                          <p:attrName>ppt_w</p:attrName>
                                        </p:attrNameLst>
                                      </p:cBhvr>
                                      <p:tavLst>
                                        <p:tav tm="0">
                                          <p:val>
                                            <p:strVal val="ppt_w"/>
                                          </p:val>
                                        </p:tav>
                                        <p:tav tm="100000">
                                          <p:val>
                                            <p:fltVal val="0"/>
                                          </p:val>
                                        </p:tav>
                                      </p:tavLst>
                                    </p:anim>
                                    <p:anim calcmode="lin" valueType="num">
                                      <p:cBhvr>
                                        <p:cTn id="47" dur="350" fill="hold"/>
                                        <p:tgtEl>
                                          <p:spTgt spid="15"/>
                                        </p:tgtEl>
                                        <p:attrNameLst>
                                          <p:attrName>ppt_h</p:attrName>
                                        </p:attrNameLst>
                                      </p:cBhvr>
                                      <p:tavLst>
                                        <p:tav tm="0">
                                          <p:val>
                                            <p:strVal val="ppt_h"/>
                                          </p:val>
                                        </p:tav>
                                        <p:tav tm="100000">
                                          <p:val>
                                            <p:fltVal val="0"/>
                                          </p:val>
                                        </p:tav>
                                      </p:tavLst>
                                    </p:anim>
                                    <p:animEffect transition="out" filter="fade">
                                      <p:cBhvr>
                                        <p:cTn id="48" dur="350"/>
                                        <p:tgtEl>
                                          <p:spTgt spid="15"/>
                                        </p:tgtEl>
                                      </p:cBhvr>
                                    </p:animEffect>
                                    <p:set>
                                      <p:cBhvr>
                                        <p:cTn id="49" dur="1" fill="hold">
                                          <p:stCondLst>
                                            <p:cond delay="349"/>
                                          </p:stCondLst>
                                        </p:cTn>
                                        <p:tgtEl>
                                          <p:spTgt spid="15"/>
                                        </p:tgtEl>
                                        <p:attrNameLst>
                                          <p:attrName>style.visibility</p:attrName>
                                        </p:attrNameLst>
                                      </p:cBhvr>
                                      <p:to>
                                        <p:strVal val="hidden"/>
                                      </p:to>
                                    </p:set>
                                  </p:childTnLst>
                                </p:cTn>
                              </p:par>
                              <p:par>
                                <p:cTn id="55" presetID="53" presetClass="entr" presetSubtype="16"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450" fill="hold"/>
                                        <p:tgtEl>
                                          <p:spTgt spid="16"/>
                                        </p:tgtEl>
                                        <p:attrNameLst>
                                          <p:attrName>ppt_w</p:attrName>
                                        </p:attrNameLst>
                                      </p:cBhvr>
                                      <p:tavLst>
                                        <p:tav tm="0">
                                          <p:val>
                                            <p:fltVal val="0"/>
                                          </p:val>
                                        </p:tav>
                                        <p:tav tm="100000">
                                          <p:val>
                                            <p:strVal val="#ppt_w"/>
                                          </p:val>
                                        </p:tav>
                                      </p:tavLst>
                                    </p:anim>
                                    <p:anim calcmode="lin" valueType="num">
                                      <p:cBhvr>
                                        <p:cTn id="53" dur="450" fill="hold"/>
                                        <p:tgtEl>
                                          <p:spTgt spid="16"/>
                                        </p:tgtEl>
                                        <p:attrNameLst>
                                          <p:attrName>ppt_h</p:attrName>
                                        </p:attrNameLst>
                                      </p:cBhvr>
                                      <p:tavLst>
                                        <p:tav tm="0">
                                          <p:val>
                                            <p:fltVal val="0"/>
                                          </p:val>
                                        </p:tav>
                                        <p:tav tm="100000">
                                          <p:val>
                                            <p:strVal val="#ppt_h"/>
                                          </p:val>
                                        </p:tav>
                                      </p:tavLst>
                                    </p:anim>
                                    <p:animEffect transition="in" filter="fade">
                                      <p:cBhvr>
                                        <p:cTn id="54" dur="450"/>
                                        <p:tgtEl>
                                          <p:spTgt spid="16"/>
                                        </p:tgtEl>
                                      </p:cBhvr>
                                    </p:animEffect>
                                  </p:childTnLst>
                                </p:cTn>
                              </p:par>
                            </p:childTnLst>
                          </p:cTn>
                        </p:par>
                      </p:childTnLst>
                    </p:cTn>
                  </p:par>
                  <p:par>
                    <p:cTn id="60" fill="hold">
                      <p:stCondLst>
                        <p:cond delay="indefinite"/>
                      </p:stCondLst>
                      <p:childTnLst>
                        <p:par>
                          <p:cTn id="61" fill="hold">
                            <p:stCondLst>
                              <p:cond delay="0"/>
                            </p:stCondLst>
                            <p:childTnLst>
                              <p:par>
                                <p:cTn id="59"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8686800" cy="548640"/>
          </a:xfrm>
          <a:prstGeom prst="rect">
            <a:avLst/>
          </a:prstGeom>
          <a:noFill/>
        </p:spPr>
        <p:txBody>
          <a:bodyPr wrap="square" lIns="0" rIns="0" tIns="0" bIns="0">
            <a:spAutoFit/>
          </a:bodyPr>
          <a:lstStyle/>
          <a:p>
            <a:r>
              <a:rPr sz="3600" b="1">
                <a:solidFill>
                  <a:srgbClr val="FFFFFF"/>
                </a:solidFill>
                <a:latin typeface="Calibri"/>
              </a:rPr>
              <a:t>Custom Component </a:t>
            </a:r>
            <a:r>
              <a:rPr sz="3600" b="1">
                <a:solidFill>
                  <a:srgbClr val="5FD38D"/>
                </a:solidFill>
                <a:latin typeface="Calibri"/>
              </a:rPr>
              <a:t>(QML)</a:t>
            </a:r>
          </a:p>
        </p:txBody>
      </p:sp>
      <p:sp>
        <p:nvSpPr>
          <p:cNvPr id="3" name="Bullet 1 number"/>
          <p:cNvSpPr txBox="1"/>
          <p:nvPr/>
        </p:nvSpPr>
        <p:spPr>
          <a:xfrm>
            <a:off x="548640" y="1600200"/>
            <a:ext cx="640080" cy="365760"/>
          </a:xfrm>
          <a:prstGeom prst="rect">
            <a:avLst/>
          </a:prstGeom>
          <a:noFill/>
        </p:spPr>
        <p:txBody>
          <a:bodyPr wrap="square" lIns="0" rIns="0" tIns="0" bIns="0">
            <a:spAutoFit/>
          </a:bodyPr>
          <a:lstStyle/>
          <a:p>
            <a:r>
              <a:rPr sz="2000" b="1">
                <a:solidFill>
                  <a:srgbClr val="5FD38D"/>
                </a:solidFill>
                <a:latin typeface="Consolas"/>
              </a:rPr>
              <a:t>01</a:t>
            </a:r>
          </a:p>
        </p:txBody>
      </p:sp>
      <p:sp>
        <p:nvSpPr>
          <p:cNvPr id="4" name="Bullet 1"/>
          <p:cNvSpPr txBox="1"/>
          <p:nvPr/>
        </p:nvSpPr>
        <p:spPr>
          <a:xfrm>
            <a:off x="1234440" y="1581912"/>
            <a:ext cx="4754880" cy="365760"/>
          </a:xfrm>
          <a:prstGeom prst="rect">
            <a:avLst/>
          </a:prstGeom>
          <a:noFill/>
        </p:spPr>
        <p:txBody>
          <a:bodyPr wrap="square" lIns="0" rIns="0" tIns="0" bIns="0">
            <a:spAutoFit/>
          </a:bodyPr>
          <a:lstStyle/>
          <a:p>
            <a:r>
              <a:rPr sz="2000" b="0">
                <a:solidFill>
                  <a:srgbClr val="5FD38D"/>
                </a:solidFill>
                <a:latin typeface="Consolas"/>
              </a:rPr>
              <a:t>Shape</a:t>
            </a:r>
            <a:r>
              <a:rPr sz="2000" b="0">
                <a:solidFill>
                  <a:srgbClr val="FFFFFF"/>
                </a:solidFill>
                <a:latin typeface="Calibri"/>
              </a:rPr>
              <a:t> + </a:t>
            </a:r>
            <a:r>
              <a:rPr sz="2000" b="0">
                <a:solidFill>
                  <a:srgbClr val="5FD38D"/>
                </a:solidFill>
                <a:latin typeface="Consolas"/>
              </a:rPr>
              <a:t>ShapePath</a:t>
            </a:r>
            <a:r>
              <a:rPr sz="2000" b="0">
                <a:solidFill>
                  <a:srgbClr val="FFFFFF"/>
                </a:solidFill>
                <a:latin typeface="Calibri"/>
              </a:rPr>
              <a:t> + </a:t>
            </a:r>
            <a:r>
              <a:rPr sz="2000" b="0">
                <a:solidFill>
                  <a:srgbClr val="5FD38D"/>
                </a:solidFill>
                <a:latin typeface="Consolas"/>
              </a:rPr>
              <a:t>PathSvg</a:t>
            </a:r>
          </a:p>
        </p:txBody>
      </p:sp>
      <p:sp>
        <p:nvSpPr>
          <p:cNvPr id="5" name="Bullet 2 number"/>
          <p:cNvSpPr txBox="1"/>
          <p:nvPr/>
        </p:nvSpPr>
        <p:spPr>
          <a:xfrm>
            <a:off x="548640" y="2377440"/>
            <a:ext cx="640080" cy="365760"/>
          </a:xfrm>
          <a:prstGeom prst="rect">
            <a:avLst/>
          </a:prstGeom>
          <a:noFill/>
        </p:spPr>
        <p:txBody>
          <a:bodyPr wrap="square" lIns="0" rIns="0" tIns="0" bIns="0">
            <a:spAutoFit/>
          </a:bodyPr>
          <a:lstStyle/>
          <a:p>
            <a:r>
              <a:rPr sz="2000" b="1">
                <a:solidFill>
                  <a:srgbClr val="5FD38D"/>
                </a:solidFill>
                <a:latin typeface="Consolas"/>
              </a:rPr>
              <a:t>02</a:t>
            </a:r>
          </a:p>
        </p:txBody>
      </p:sp>
      <p:sp>
        <p:nvSpPr>
          <p:cNvPr id="6" name="Bullet 2"/>
          <p:cNvSpPr txBox="1"/>
          <p:nvPr/>
        </p:nvSpPr>
        <p:spPr>
          <a:xfrm>
            <a:off x="1234440" y="2359152"/>
            <a:ext cx="4754880" cy="365760"/>
          </a:xfrm>
          <a:prstGeom prst="rect">
            <a:avLst/>
          </a:prstGeom>
          <a:noFill/>
        </p:spPr>
        <p:txBody>
          <a:bodyPr wrap="square" lIns="0" rIns="0" tIns="0" bIns="0">
            <a:spAutoFit/>
          </a:bodyPr>
          <a:lstStyle/>
          <a:p>
            <a:r>
              <a:rPr sz="2000" b="0">
                <a:solidFill>
                  <a:srgbClr val="FFFFFF"/>
                </a:solidFill>
                <a:latin typeface="Calibri"/>
              </a:rPr>
              <a:t>SVG path pasted as is, no math</a:t>
            </a:r>
          </a:p>
        </p:txBody>
      </p:sp>
      <p:sp>
        <p:nvSpPr>
          <p:cNvPr id="7" name="Bullet 3 number"/>
          <p:cNvSpPr txBox="1"/>
          <p:nvPr/>
        </p:nvSpPr>
        <p:spPr>
          <a:xfrm>
            <a:off x="548640" y="3154680"/>
            <a:ext cx="640080" cy="365760"/>
          </a:xfrm>
          <a:prstGeom prst="rect">
            <a:avLst/>
          </a:prstGeom>
          <a:noFill/>
        </p:spPr>
        <p:txBody>
          <a:bodyPr wrap="square" lIns="0" rIns="0" tIns="0" bIns="0">
            <a:spAutoFit/>
          </a:bodyPr>
          <a:lstStyle/>
          <a:p>
            <a:r>
              <a:rPr sz="2000" b="1">
                <a:solidFill>
                  <a:srgbClr val="5FD38D"/>
                </a:solidFill>
                <a:latin typeface="Consolas"/>
              </a:rPr>
              <a:t>03</a:t>
            </a:r>
          </a:p>
        </p:txBody>
      </p:sp>
      <p:sp>
        <p:nvSpPr>
          <p:cNvPr id="8" name="Bullet 3"/>
          <p:cNvSpPr txBox="1"/>
          <p:nvPr/>
        </p:nvSpPr>
        <p:spPr>
          <a:xfrm>
            <a:off x="1234440" y="3136392"/>
            <a:ext cx="4754880" cy="365760"/>
          </a:xfrm>
          <a:prstGeom prst="rect">
            <a:avLst/>
          </a:prstGeom>
          <a:noFill/>
        </p:spPr>
        <p:txBody>
          <a:bodyPr wrap="square" lIns="0" rIns="0" tIns="0" bIns="0">
            <a:spAutoFit/>
          </a:bodyPr>
          <a:lstStyle/>
          <a:p>
            <a:r>
              <a:rPr sz="2000" b="0">
                <a:solidFill>
                  <a:srgbClr val="FFFFFF"/>
                </a:solidFill>
                <a:latin typeface="Calibri"/>
              </a:rPr>
              <a:t>Runs directly, no plugin needed</a:t>
            </a:r>
          </a:p>
        </p:txBody>
      </p:sp>
      <p:sp>
        <p:nvSpPr>
          <p:cNvPr id="9" name="Bullet 4 number"/>
          <p:cNvSpPr txBox="1"/>
          <p:nvPr/>
        </p:nvSpPr>
        <p:spPr>
          <a:xfrm>
            <a:off x="548640" y="3931920"/>
            <a:ext cx="640080" cy="365760"/>
          </a:xfrm>
          <a:prstGeom prst="rect">
            <a:avLst/>
          </a:prstGeom>
          <a:noFill/>
        </p:spPr>
        <p:txBody>
          <a:bodyPr wrap="square" lIns="0" rIns="0" tIns="0" bIns="0">
            <a:spAutoFit/>
          </a:bodyPr>
          <a:lstStyle/>
          <a:p>
            <a:r>
              <a:rPr sz="2000" b="1">
                <a:solidFill>
                  <a:srgbClr val="5FD38D"/>
                </a:solidFill>
                <a:latin typeface="Consolas"/>
              </a:rPr>
              <a:t>04</a:t>
            </a:r>
          </a:p>
        </p:txBody>
      </p:sp>
      <p:sp>
        <p:nvSpPr>
          <p:cNvPr id="10" name="Bullet 4"/>
          <p:cNvSpPr txBox="1"/>
          <p:nvPr/>
        </p:nvSpPr>
        <p:spPr>
          <a:xfrm>
            <a:off x="1234440" y="3913632"/>
            <a:ext cx="4754880" cy="365760"/>
          </a:xfrm>
          <a:prstGeom prst="rect">
            <a:avLst/>
          </a:prstGeom>
          <a:noFill/>
        </p:spPr>
        <p:txBody>
          <a:bodyPr wrap="square" lIns="0" rIns="0" tIns="0" bIns="0">
            <a:spAutoFit/>
          </a:bodyPr>
          <a:lstStyle/>
          <a:p>
            <a:r>
              <a:rPr sz="2000" b="0">
                <a:solidFill>
                  <a:srgbClr val="FFFFFF"/>
                </a:solidFill>
                <a:latin typeface="Calibri"/>
              </a:rPr>
              <a:t>Clickable area: inside the border</a:t>
            </a:r>
          </a:p>
        </p:txBody>
      </p:sp>
      <p:sp>
        <p:nvSpPr>
          <p:cNvPr id="11" name="Closing widgets"/>
          <p:cNvSpPr txBox="1"/>
          <p:nvPr/>
        </p:nvSpPr>
        <p:spPr>
          <a:xfrm>
            <a:off x="1234440" y="4937760"/>
            <a:ext cx="4937760" cy="411480"/>
          </a:xfrm>
          <a:prstGeom prst="rect">
            <a:avLst/>
          </a:prstGeom>
          <a:noFill/>
        </p:spPr>
        <p:txBody>
          <a:bodyPr wrap="square" lIns="0" rIns="0" tIns="0" bIns="0">
            <a:spAutoFit/>
          </a:bodyPr>
          <a:lstStyle/>
          <a:p>
            <a:r>
              <a:rPr sz="2200" b="1">
                <a:solidFill>
                  <a:srgbClr val="F0B35A"/>
                </a:solidFill>
                <a:latin typeface="Calibri"/>
              </a:rPr>
              <a:t>Widgets: </a:t>
            </a:r>
            <a:r>
              <a:rPr sz="2200" b="1">
                <a:solidFill>
                  <a:srgbClr val="FFFFFF"/>
                </a:solidFill>
                <a:latin typeface="Calibri"/>
              </a:rPr>
              <a:t>~160 lines C++ + plugin</a:t>
            </a:r>
          </a:p>
        </p:txBody>
      </p:sp>
      <p:sp>
        <p:nvSpPr>
          <p:cNvPr id="12" name="Closing qml"/>
          <p:cNvSpPr txBox="1"/>
          <p:nvPr/>
        </p:nvSpPr>
        <p:spPr>
          <a:xfrm>
            <a:off x="1234440" y="5440680"/>
            <a:ext cx="4937760" cy="411480"/>
          </a:xfrm>
          <a:prstGeom prst="rect">
            <a:avLst/>
          </a:prstGeom>
          <a:noFill/>
        </p:spPr>
        <p:txBody>
          <a:bodyPr wrap="square" lIns="0" rIns="0" tIns="0" bIns="0">
            <a:spAutoFit/>
          </a:bodyPr>
          <a:lstStyle/>
          <a:p>
            <a:r>
              <a:rPr sz="2200" b="1">
                <a:solidFill>
                  <a:srgbClr val="5FD38D"/>
                </a:solidFill>
                <a:latin typeface="Calibri"/>
              </a:rPr>
              <a:t>QML: </a:t>
            </a:r>
            <a:r>
              <a:rPr sz="2200" b="1">
                <a:solidFill>
                  <a:srgbClr val="FFFFFF"/>
                </a:solidFill>
                <a:latin typeface="Calibri"/>
              </a:rPr>
              <a:t>~50 lines, one file</a:t>
            </a:r>
          </a:p>
        </p:txBody>
      </p:sp>
      <p:pic>
        <p:nvPicPr>
          <p:cNvPr id="13" name="qml code" descr="qml1.png"/>
          <p:cNvPicPr>
            <a:picLocks noChangeAspect="1"/>
          </p:cNvPicPr>
          <p:nvPr/>
        </p:nvPicPr>
        <p:blipFill>
          <a:blip r:embed="rId2"/>
          <a:stretch>
            <a:fillRect/>
          </a:stretch>
        </p:blipFill>
        <p:spPr>
          <a:xfrm>
            <a:off x="6596943" y="1508760"/>
            <a:ext cx="4636913" cy="4663440"/>
          </a:xfrm>
          <a:prstGeom prst="rect">
            <a:avLst/>
          </a:prstGeom>
          <a:ln w="12700">
            <a:solidFill>
              <a:srgbClr val="34373D"/>
            </a:solidFill>
          </a:ln>
        </p:spPr>
      </p:pic>
      <p:pic>
        <p:nvPicPr>
          <p:cNvPr id="14" name="qml run" descr="qml2.png"/>
          <p:cNvPicPr>
            <a:picLocks noChangeAspect="1"/>
          </p:cNvPicPr>
          <p:nvPr/>
        </p:nvPicPr>
        <p:blipFill>
          <a:blip r:embed="rId3"/>
          <a:stretch>
            <a:fillRect/>
          </a:stretch>
        </p:blipFill>
        <p:spPr>
          <a:xfrm>
            <a:off x="6263640" y="1980996"/>
            <a:ext cx="5303520" cy="3718967"/>
          </a:xfrm>
          <a:prstGeom prst="rect">
            <a:avLst/>
          </a:prstGeom>
          <a:ln w="12700">
            <a:solidFill>
              <a:srgbClr val="34373D"/>
            </a:solidFill>
          </a:ln>
        </p:spPr>
      </p:pic>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4" presetID="1"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childTnLst>
                                </p:cTn>
                              </p:par>
                              <p:par>
                                <p:cTn id="6" presetID="1" presetClass="entr" presetSubtype="0" fill="hold" grpId="0" nodeType="withEffect">
                                  <p:stCondLst>
                                    <p:cond delay="0"/>
                                  </p:stCondLst>
                                  <p:childTnLst>
                                    <p:set>
                                      <p:cBhvr>
                                        <p:cTn id="5" dur="1" fill="hold">
                                          <p:stCondLst>
                                            <p:cond delay="0"/>
                                          </p:stCondLst>
                                        </p:cTn>
                                        <p:tgtEl>
                                          <p:spTgt spid="4"/>
                                        </p:tgtEl>
                                        <p:attrNameLst>
                                          <p:attrName>style.visibility</p:attrName>
                                        </p:attrNameLst>
                                      </p:cBhvr>
                                      <p:to>
                                        <p:strVal val="visible"/>
                                      </p:to>
                                    </p:set>
                                  </p:childTnLst>
                                </p:cTn>
                              </p:par>
                              <p:par>
                                <p:cTn id="11" presetID="53" presetClass="entr" presetSubtype="16"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 calcmode="lin" valueType="num">
                                      <p:cBhvr>
                                        <p:cTn id="8" dur="450" fill="hold"/>
                                        <p:tgtEl>
                                          <p:spTgt spid="13"/>
                                        </p:tgtEl>
                                        <p:attrNameLst>
                                          <p:attrName>ppt_w</p:attrName>
                                        </p:attrNameLst>
                                      </p:cBhvr>
                                      <p:tavLst>
                                        <p:tav tm="0">
                                          <p:val>
                                            <p:fltVal val="0"/>
                                          </p:val>
                                        </p:tav>
                                        <p:tav tm="100000">
                                          <p:val>
                                            <p:strVal val="#ppt_w"/>
                                          </p:val>
                                        </p:tav>
                                      </p:tavLst>
                                    </p:anim>
                                    <p:anim calcmode="lin" valueType="num">
                                      <p:cBhvr>
                                        <p:cTn id="9" dur="450" fill="hold"/>
                                        <p:tgtEl>
                                          <p:spTgt spid="13"/>
                                        </p:tgtEl>
                                        <p:attrNameLst>
                                          <p:attrName>ppt_h</p:attrName>
                                        </p:attrNameLst>
                                      </p:cBhvr>
                                      <p:tavLst>
                                        <p:tav tm="0">
                                          <p:val>
                                            <p:fltVal val="0"/>
                                          </p:val>
                                        </p:tav>
                                        <p:tav tm="100000">
                                          <p:val>
                                            <p:strVal val="#ppt_h"/>
                                          </p:val>
                                        </p:tav>
                                      </p:tavLst>
                                    </p:anim>
                                    <p:animEffect transition="in" filter="fade">
                                      <p:cBhvr>
                                        <p:cTn id="10" dur="450"/>
                                        <p:tgtEl>
                                          <p:spTgt spid="13"/>
                                        </p:tgtEl>
                                      </p:cBhvr>
                                    </p:animEffect>
                                  </p:childTnLst>
                                </p:cTn>
                              </p:par>
                            </p:childTnLst>
                          </p:cTn>
                        </p:par>
                      </p:childTnLst>
                    </p:cTn>
                  </p:par>
                  <p:par>
                    <p:cTn id="18" fill="hold">
                      <p:stCondLst>
                        <p:cond delay="indefinite"/>
                      </p:stCondLst>
                      <p:childTnLst>
                        <p:par>
                          <p:cTn id="19" fill="hold">
                            <p:stCondLst>
                              <p:cond delay="0"/>
                            </p:stCondLst>
                            <p:childTnLst>
                              <p:par>
                                <p:cTn id="15"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21"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8" presetID="53" presetClass="exit" presetSubtype="16" fill="hold" grpId="1" nodeType="withEffect">
                                  <p:stCondLst>
                                    <p:cond delay="0"/>
                                  </p:stCondLst>
                                  <p:childTnLst>
                                    <p:anim calcmode="lin" valueType="num">
                                      <p:cBhvr>
                                        <p:cTn id="24" dur="350" fill="hold"/>
                                        <p:tgtEl>
                                          <p:spTgt spid="13"/>
                                        </p:tgtEl>
                                        <p:attrNameLst>
                                          <p:attrName>ppt_w</p:attrName>
                                        </p:attrNameLst>
                                      </p:cBhvr>
                                      <p:tavLst>
                                        <p:tav tm="0">
                                          <p:val>
                                            <p:strVal val="ppt_w"/>
                                          </p:val>
                                        </p:tav>
                                        <p:tav tm="100000">
                                          <p:val>
                                            <p:fltVal val="0"/>
                                          </p:val>
                                        </p:tav>
                                      </p:tavLst>
                                    </p:anim>
                                    <p:anim calcmode="lin" valueType="num">
                                      <p:cBhvr>
                                        <p:cTn id="25" dur="350" fill="hold"/>
                                        <p:tgtEl>
                                          <p:spTgt spid="13"/>
                                        </p:tgtEl>
                                        <p:attrNameLst>
                                          <p:attrName>ppt_h</p:attrName>
                                        </p:attrNameLst>
                                      </p:cBhvr>
                                      <p:tavLst>
                                        <p:tav tm="0">
                                          <p:val>
                                            <p:strVal val="ppt_h"/>
                                          </p:val>
                                        </p:tav>
                                        <p:tav tm="100000">
                                          <p:val>
                                            <p:fltVal val="0"/>
                                          </p:val>
                                        </p:tav>
                                      </p:tavLst>
                                    </p:anim>
                                    <p:animEffect transition="out" filter="fade">
                                      <p:cBhvr>
                                        <p:cTn id="26" dur="350"/>
                                        <p:tgtEl>
                                          <p:spTgt spid="13"/>
                                        </p:tgtEl>
                                      </p:cBhvr>
                                    </p:animEffect>
                                    <p:set>
                                      <p:cBhvr>
                                        <p:cTn id="27" dur="1" fill="hold">
                                          <p:stCondLst>
                                            <p:cond delay="349"/>
                                          </p:stCondLst>
                                        </p:cTn>
                                        <p:tgtEl>
                                          <p:spTgt spid="13"/>
                                        </p:tgtEl>
                                        <p:attrNameLst>
                                          <p:attrName>style.visibility</p:attrName>
                                        </p:attrNameLst>
                                      </p:cBhvr>
                                      <p:to>
                                        <p:strVal val="hidden"/>
                                      </p:to>
                                    </p:set>
                                  </p:childTnLst>
                                </p:cTn>
                              </p:par>
                              <p:par>
                                <p:cTn id="33" presetID="53" presetClass="entr" presetSubtype="16"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450" fill="hold"/>
                                        <p:tgtEl>
                                          <p:spTgt spid="14"/>
                                        </p:tgtEl>
                                        <p:attrNameLst>
                                          <p:attrName>ppt_w</p:attrName>
                                        </p:attrNameLst>
                                      </p:cBhvr>
                                      <p:tavLst>
                                        <p:tav tm="0">
                                          <p:val>
                                            <p:fltVal val="0"/>
                                          </p:val>
                                        </p:tav>
                                        <p:tav tm="100000">
                                          <p:val>
                                            <p:strVal val="#ppt_w"/>
                                          </p:val>
                                        </p:tav>
                                      </p:tavLst>
                                    </p:anim>
                                    <p:anim calcmode="lin" valueType="num">
                                      <p:cBhvr>
                                        <p:cTn id="31" dur="450" fill="hold"/>
                                        <p:tgtEl>
                                          <p:spTgt spid="14"/>
                                        </p:tgtEl>
                                        <p:attrNameLst>
                                          <p:attrName>ppt_h</p:attrName>
                                        </p:attrNameLst>
                                      </p:cBhvr>
                                      <p:tavLst>
                                        <p:tav tm="0">
                                          <p:val>
                                            <p:fltVal val="0"/>
                                          </p:val>
                                        </p:tav>
                                        <p:tav tm="100000">
                                          <p:val>
                                            <p:strVal val="#ppt_h"/>
                                          </p:val>
                                        </p:tav>
                                      </p:tavLst>
                                    </p:anim>
                                    <p:animEffect transition="in" filter="fade">
                                      <p:cBhvr>
                                        <p:cTn id="32" dur="450"/>
                                        <p:tgtEl>
                                          <p:spTgt spid="14"/>
                                        </p:tgtEl>
                                      </p:cBhvr>
                                    </p:animEffect>
                                  </p:childTnLst>
                                </p:cTn>
                              </p:par>
                            </p:childTnLst>
                          </p:cTn>
                        </p:par>
                      </p:childTnLst>
                    </p:cTn>
                  </p:par>
                  <p:par>
                    <p:cTn id="40" fill="hold">
                      <p:stCondLst>
                        <p:cond delay="indefinite"/>
                      </p:stCondLst>
                      <p:childTnLst>
                        <p:par>
                          <p:cTn id="41" fill="hold">
                            <p:stCondLst>
                              <p:cond delay="0"/>
                            </p:stCondLst>
                            <p:childTnLst>
                              <p:par>
                                <p:cTn id="37"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3"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10058400" cy="548640"/>
          </a:xfrm>
          <a:prstGeom prst="rect">
            <a:avLst/>
          </a:prstGeom>
          <a:noFill/>
        </p:spPr>
        <p:txBody>
          <a:bodyPr wrap="square" lIns="0" rIns="0" tIns="0" bIns="0">
            <a:spAutoFit/>
          </a:bodyPr>
          <a:lstStyle/>
          <a:p>
            <a:r>
              <a:rPr sz="3600" b="1">
                <a:solidFill>
                  <a:srgbClr val="FFFFFF"/>
                </a:solidFill>
                <a:latin typeface="Calibri"/>
              </a:rPr>
              <a:t>Rendering: CPU vs GPU</a:t>
            </a:r>
          </a:p>
        </p:txBody>
      </p:sp>
      <p:graphicFrame>
        <p:nvGraphicFramePr>
          <p:cNvPr id="3" name="qt docs table"/>
          <p:cNvGraphicFramePr>
            <a:graphicFrameLocks noGrp="1"/>
          </p:cNvGraphicFramePr>
          <p:nvPr/>
        </p:nvGraphicFramePr>
        <p:xfrm>
          <a:off x="548640" y="1234440"/>
          <a:ext cx="11091672" cy="4434840"/>
        </p:xfrm>
        <a:graphic>
          <a:graphicData uri="http://schemas.openxmlformats.org/drawingml/2006/table">
            <a:tbl>
              <a:tblPr>
                <a:tableStyleId>{5C22544A-7EE6-4342-B048-85BDC9FD1C3A}</a:tableStyleId>
              </a:tblPr>
              <a:tblGrid>
                <a:gridCol w="2194560"/>
                <a:gridCol w="2834640"/>
                <a:gridCol w="3108960"/>
                <a:gridCol w="2953512"/>
              </a:tblGrid>
              <a:tr h="457200">
                <a:tc>
                  <a:txBody>
                    <a:bodyPr/>
                    <a:lstStyle/>
                    <a:p>
                      <a:r>
                        <a:rPr sz="1300" b="1">
                          <a:solidFill>
                            <a:srgbClr val="9AA0A6"/>
                          </a:solidFill>
                          <a:latin typeface="Calibri"/>
                        </a:rPr>
                        <a:t>Feature</a:t>
                      </a:r>
                    </a:p>
                  </a:txBody>
                  <a:tcPr marL="109728" marR="109728" marT="45720" marB="45720" anchor="ctr">
                    <a:solidFill>
                      <a:srgbClr val="2E3135"/>
                    </a:solidFill>
                  </a:tcPr>
                </a:tc>
                <a:tc>
                  <a:txBody>
                    <a:bodyPr/>
                    <a:lstStyle/>
                    <a:p>
                      <a:r>
                        <a:rPr sz="1300" b="1">
                          <a:solidFill>
                            <a:srgbClr val="9AA0A6"/>
                          </a:solidFill>
                          <a:latin typeface="Calibri"/>
                        </a:rPr>
                        <a:t>Qt Quick and Qt Quick Controls</a:t>
                      </a:r>
                    </a:p>
                  </a:txBody>
                  <a:tcPr marL="109728" marR="109728" marT="45720" marB="45720" anchor="ctr">
                    <a:solidFill>
                      <a:srgbClr val="2E3135"/>
                    </a:solidFill>
                  </a:tcPr>
                </a:tc>
                <a:tc>
                  <a:txBody>
                    <a:bodyPr/>
                    <a:lstStyle/>
                    <a:p>
                      <a:r>
                        <a:rPr sz="1300" b="1">
                          <a:solidFill>
                            <a:srgbClr val="9AA0A6"/>
                          </a:solidFill>
                          <a:latin typeface="Calibri"/>
                        </a:rPr>
                        <a:t>Qt Widgets</a:t>
                      </a:r>
                    </a:p>
                  </a:txBody>
                  <a:tcPr marL="109728" marR="109728" marT="45720" marB="45720" anchor="ctr">
                    <a:solidFill>
                      <a:srgbClr val="2E3135"/>
                    </a:solidFill>
                  </a:tcPr>
                </a:tc>
                <a:tc>
                  <a:txBody>
                    <a:bodyPr/>
                    <a:lstStyle/>
                    <a:p>
                      <a:r>
                        <a:rPr sz="1300" b="1">
                          <a:solidFill>
                            <a:srgbClr val="9AA0A6"/>
                          </a:solidFill>
                          <a:latin typeface="Calibri"/>
                        </a:rPr>
                        <a:t>Explanation</a:t>
                      </a:r>
                    </a:p>
                  </a:txBody>
                  <a:tcPr marL="109728" marR="109728" marT="45720" marB="45720" anchor="ctr">
                    <a:solidFill>
                      <a:srgbClr val="2E3135"/>
                    </a:solidFill>
                  </a:tcPr>
                </a:tc>
              </a:tr>
              <a:tr h="1325880">
                <a:tc>
                  <a:txBody>
                    <a:bodyPr/>
                    <a:lstStyle/>
                    <a:p>
                      <a:r>
                        <a:rPr sz="1500" b="1">
                          <a:solidFill>
                            <a:srgbClr val="FFFFFF"/>
                          </a:solidFill>
                          <a:latin typeface="Calibri"/>
                        </a:rPr>
                        <a:t>Hardware-accelerated graphics</a:t>
                      </a:r>
                    </a:p>
                  </a:txBody>
                  <a:tcPr marL="109728" marR="109728" marT="45720" marB="45720" anchor="ctr">
                    <a:solidFill>
                      <a:srgbClr val="26282C"/>
                    </a:solidFill>
                  </a:tcPr>
                </a:tc>
                <a:tc>
                  <a:txBody>
                    <a:bodyPr/>
                    <a:lstStyle/>
                    <a:p>
                      <a:r>
                        <a:rPr sz="1500" b="1">
                          <a:solidFill>
                            <a:srgbClr val="5FD38D"/>
                          </a:solidFill>
                          <a:latin typeface="Calibri"/>
                        </a:rPr>
                        <a:t>Yes (GPU-accelerated via Qt Quick Scene Graph).</a:t>
                      </a:r>
                    </a:p>
                  </a:txBody>
                  <a:tcPr marL="109728" marR="109728" marT="45720" marB="45720" anchor="ctr">
                    <a:solidFill>
                      <a:srgbClr val="26282C"/>
                    </a:solidFill>
                  </a:tcPr>
                </a:tc>
                <a:tc>
                  <a:txBody>
                    <a:bodyPr/>
                    <a:lstStyle/>
                    <a:p>
                      <a:r>
                        <a:rPr sz="1500" b="1">
                          <a:solidFill>
                            <a:srgbClr val="F0B35A"/>
                          </a:solidFill>
                          <a:latin typeface="Calibri"/>
                        </a:rPr>
                        <a:t>Partially (widgets render in software. OpenGL widgets possible but isolated).</a:t>
                      </a:r>
                    </a:p>
                  </a:txBody>
                  <a:tcPr marL="109728" marR="109728" marT="45720" marB="45720" anchor="ctr">
                    <a:solidFill>
                      <a:srgbClr val="26282C"/>
                    </a:solidFill>
                  </a:tcPr>
                </a:tc>
                <a:tc>
                  <a:txBody>
                    <a:bodyPr/>
                    <a:lstStyle/>
                    <a:p>
                      <a:r>
                        <a:rPr sz="1500" b="0">
                          <a:solidFill>
                            <a:srgbClr val="FFFFFF"/>
                          </a:solidFill>
                          <a:latin typeface="Calibri"/>
                        </a:rPr>
                        <a:t>Only Qt Quick provides built-in full-scene GPU acceleration.</a:t>
                      </a:r>
                    </a:p>
                  </a:txBody>
                  <a:tcPr marL="109728" marR="109728" marT="45720" marB="45720" anchor="ctr">
                    <a:solidFill>
                      <a:srgbClr val="26282C"/>
                    </a:solidFill>
                  </a:tcPr>
                </a:tc>
              </a:tr>
              <a:tr h="1325880">
                <a:tc>
                  <a:txBody>
                    <a:bodyPr/>
                    <a:lstStyle/>
                    <a:p>
                      <a:r>
                        <a:rPr sz="1500" b="1">
                          <a:solidFill>
                            <a:srgbClr val="FFFFFF"/>
                          </a:solidFill>
                          <a:latin typeface="Calibri"/>
                        </a:rPr>
                        <a:t>Fluid animations and transitions</a:t>
                      </a:r>
                    </a:p>
                  </a:txBody>
                  <a:tcPr marL="109728" marR="109728" marT="45720" marB="45720" anchor="ctr">
                    <a:solidFill>
                      <a:srgbClr val="26282C"/>
                    </a:solidFill>
                  </a:tcPr>
                </a:tc>
                <a:tc>
                  <a:txBody>
                    <a:bodyPr/>
                    <a:lstStyle/>
                    <a:p>
                      <a:r>
                        <a:rPr sz="1500" b="1">
                          <a:solidFill>
                            <a:srgbClr val="5FD38D"/>
                          </a:solidFill>
                          <a:latin typeface="Calibri"/>
                        </a:rPr>
                        <a:t>Yes (GPU-accelerated animations built-in).</a:t>
                      </a:r>
                    </a:p>
                  </a:txBody>
                  <a:tcPr marL="109728" marR="109728" marT="45720" marB="45720" anchor="ctr">
                    <a:solidFill>
                      <a:srgbClr val="26282C"/>
                    </a:solidFill>
                  </a:tcPr>
                </a:tc>
                <a:tc>
                  <a:txBody>
                    <a:bodyPr/>
                    <a:lstStyle/>
                    <a:p>
                      <a:r>
                        <a:rPr sz="1500" b="1">
                          <a:solidFill>
                            <a:srgbClr val="F0B35A"/>
                          </a:solidFill>
                          <a:latin typeface="Calibri"/>
                        </a:rPr>
                        <a:t>Limited (supported via QPropertyAnimation, but not designed for fluid UI animation).</a:t>
                      </a:r>
                    </a:p>
                  </a:txBody>
                  <a:tcPr marL="109728" marR="109728" marT="45720" marB="45720" anchor="ctr">
                    <a:solidFill>
                      <a:srgbClr val="26282C"/>
                    </a:solidFill>
                  </a:tcPr>
                </a:tc>
                <a:tc>
                  <a:txBody>
                    <a:bodyPr/>
                    <a:lstStyle/>
                    <a:p>
                      <a:r>
                        <a:rPr sz="1500" b="0">
                          <a:solidFill>
                            <a:srgbClr val="FFFFFF"/>
                          </a:solidFill>
                          <a:latin typeface="Calibri"/>
                        </a:rPr>
                        <a:t>Qt Quick is designed for animated, modern UIs. Qt Widgets are not.</a:t>
                      </a:r>
                    </a:p>
                  </a:txBody>
                  <a:tcPr marL="109728" marR="109728" marT="45720" marB="45720" anchor="ctr">
                    <a:solidFill>
                      <a:srgbClr val="26282C"/>
                    </a:solidFill>
                  </a:tcPr>
                </a:tc>
              </a:tr>
              <a:tr h="1325880">
                <a:tc>
                  <a:txBody>
                    <a:bodyPr/>
                    <a:lstStyle/>
                    <a:p>
                      <a:r>
                        <a:rPr sz="1500" b="1">
                          <a:solidFill>
                            <a:srgbClr val="FFFFFF"/>
                          </a:solidFill>
                          <a:latin typeface="Calibri"/>
                        </a:rPr>
                        <a:t>Graphical effects</a:t>
                      </a:r>
                    </a:p>
                  </a:txBody>
                  <a:tcPr marL="109728" marR="109728" marT="45720" marB="45720" anchor="ctr">
                    <a:solidFill>
                      <a:srgbClr val="26282C"/>
                    </a:solidFill>
                  </a:tcPr>
                </a:tc>
                <a:tc>
                  <a:txBody>
                    <a:bodyPr/>
                    <a:lstStyle/>
                    <a:p>
                      <a:r>
                        <a:rPr sz="1500" b="1">
                          <a:solidFill>
                            <a:srgbClr val="5FD38D"/>
                          </a:solidFill>
                          <a:latin typeface="Calibri"/>
                        </a:rPr>
                        <a:t>Yes (shader-based blur, glow, drop shadow, color effects, and more).</a:t>
                      </a:r>
                    </a:p>
                  </a:txBody>
                  <a:tcPr marL="109728" marR="109728" marT="45720" marB="45720" anchor="ctr">
                    <a:solidFill>
                      <a:srgbClr val="26282C"/>
                    </a:solidFill>
                  </a:tcPr>
                </a:tc>
                <a:tc>
                  <a:txBody>
                    <a:bodyPr/>
                    <a:lstStyle/>
                    <a:p>
                      <a:r>
                        <a:rPr sz="1500" b="1">
                          <a:solidFill>
                            <a:srgbClr val="F0B35A"/>
                          </a:solidFill>
                          <a:latin typeface="Calibri"/>
                        </a:rPr>
                        <a:t>Limited (basic effects via Qt GUI only).</a:t>
                      </a:r>
                    </a:p>
                  </a:txBody>
                  <a:tcPr marL="109728" marR="109728" marT="45720" marB="45720" anchor="ctr">
                    <a:solidFill>
                      <a:srgbClr val="26282C"/>
                    </a:solidFill>
                  </a:tcPr>
                </a:tc>
                <a:tc>
                  <a:txBody>
                    <a:bodyPr/>
                    <a:lstStyle/>
                    <a:p>
                      <a:r>
                        <a:rPr sz="1500" b="0">
                          <a:solidFill>
                            <a:srgbClr val="FFFFFF"/>
                          </a:solidFill>
                          <a:latin typeface="Calibri"/>
                        </a:rPr>
                        <a:t>Qt Quick offers rich, GPU-driven visual effects. Qt Widgets offer only simple CPU effects.</a:t>
                      </a:r>
                    </a:p>
                  </a:txBody>
                  <a:tcPr marL="109728" marR="109728" marT="45720" marB="45720" anchor="ctr">
                    <a:solidFill>
                      <a:srgbClr val="26282C"/>
                    </a:solidFill>
                  </a:tcPr>
                </a:tc>
              </a:tr>
            </a:tbl>
          </a:graphicData>
        </a:graphic>
      </p:graphicFrame>
      <p:sp>
        <p:nvSpPr>
          <p:cNvPr id="4" name="Source"/>
          <p:cNvSpPr txBox="1"/>
          <p:nvPr/>
        </p:nvSpPr>
        <p:spPr>
          <a:xfrm>
            <a:off x="8641080" y="685800"/>
            <a:ext cx="3017520" cy="274320"/>
          </a:xfrm>
          <a:prstGeom prst="rect">
            <a:avLst/>
          </a:prstGeom>
          <a:noFill/>
        </p:spPr>
        <p:txBody>
          <a:bodyPr wrap="square" lIns="0" rIns="0" tIns="0" bIns="0">
            <a:spAutoFit/>
          </a:bodyPr>
          <a:lstStyle/>
          <a:p>
            <a:r>
              <a:rPr sz="1200" b="0">
                <a:solidFill>
                  <a:srgbClr val="9AA0A6"/>
                </a:solidFill>
                <a:latin typeface="Calibri"/>
              </a:rPr>
              <a:t>Source: doc.qt.io/qt-6/topics-ui.html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10058400" cy="548640"/>
          </a:xfrm>
          <a:prstGeom prst="rect">
            <a:avLst/>
          </a:prstGeom>
          <a:noFill/>
        </p:spPr>
        <p:txBody>
          <a:bodyPr wrap="square" lIns="0" rIns="0" tIns="0" bIns="0">
            <a:spAutoFit/>
          </a:bodyPr>
          <a:lstStyle/>
          <a:p>
            <a:r>
              <a:rPr sz="3600" b="1" i="0">
                <a:solidFill>
                  <a:srgbClr val="FFFFFF"/>
                </a:solidFill>
                <a:latin typeface="Calibri"/>
              </a:rPr>
              <a:t>Under Load</a:t>
            </a:r>
          </a:p>
        </p:txBody>
      </p:sp>
      <p:pic>
        <p:nvPicPr>
          <p:cNvPr id="3" name="side by side 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15771" y="1280160"/>
            <a:ext cx="10360152" cy="4023360"/>
          </a:xfrm>
          <a:prstGeom prst="rect">
            <a:avLst/>
          </a:prstGeom>
        </p:spPr>
      </p:pic>
      <p:sp>
        <p:nvSpPr>
          <p:cNvPr id="4" name="Qt Widgets label"/>
          <p:cNvSpPr txBox="1"/>
          <p:nvPr/>
        </p:nvSpPr>
        <p:spPr>
          <a:xfrm>
            <a:off x="550011" y="5413248"/>
            <a:ext cx="5760720" cy="365760"/>
          </a:xfrm>
          <a:prstGeom prst="rect">
            <a:avLst/>
          </a:prstGeom>
          <a:noFill/>
        </p:spPr>
        <p:txBody>
          <a:bodyPr wrap="square" lIns="0" rIns="0" tIns="0" bIns="0">
            <a:spAutoFit/>
          </a:bodyPr>
          <a:lstStyle/>
          <a:p>
            <a:pPr algn="ctr"/>
            <a:r>
              <a:rPr sz="2200" b="1" i="0">
                <a:solidFill>
                  <a:srgbClr val="F0B35A"/>
                </a:solidFill>
                <a:latin typeface="Calibri"/>
              </a:rPr>
              <a:t>Qt Widgets</a:t>
            </a:r>
          </a:p>
        </p:txBody>
      </p:sp>
      <p:sp>
        <p:nvSpPr>
          <p:cNvPr id="5" name="Qt Widgets result"/>
          <p:cNvSpPr txBox="1"/>
          <p:nvPr/>
        </p:nvSpPr>
        <p:spPr>
          <a:xfrm>
            <a:off x="550011" y="5779008"/>
            <a:ext cx="5760720" cy="320040"/>
          </a:xfrm>
          <a:prstGeom prst="rect">
            <a:avLst/>
          </a:prstGeom>
          <a:noFill/>
        </p:spPr>
        <p:txBody>
          <a:bodyPr wrap="square" lIns="0" rIns="0" tIns="0" bIns="0">
            <a:spAutoFit/>
          </a:bodyPr>
          <a:lstStyle/>
          <a:p>
            <a:pPr algn="ctr"/>
            <a:r>
              <a:rPr sz="1600" b="0" i="0">
                <a:solidFill>
                  <a:srgbClr val="FFFFFF"/>
                </a:solidFill>
                <a:latin typeface="Calibri"/>
              </a:rPr>
              <a:t>2000 buttons  ·  28 FPS  ·  CPU 100%</a:t>
            </a:r>
          </a:p>
        </p:txBody>
      </p:sp>
      <p:sp>
        <p:nvSpPr>
          <p:cNvPr id="6" name="Qt Quick (QML) label"/>
          <p:cNvSpPr txBox="1"/>
          <p:nvPr/>
        </p:nvSpPr>
        <p:spPr>
          <a:xfrm>
            <a:off x="5880963" y="5413248"/>
            <a:ext cx="5760720" cy="365760"/>
          </a:xfrm>
          <a:prstGeom prst="rect">
            <a:avLst/>
          </a:prstGeom>
          <a:noFill/>
        </p:spPr>
        <p:txBody>
          <a:bodyPr wrap="square" lIns="0" rIns="0" tIns="0" bIns="0">
            <a:spAutoFit/>
          </a:bodyPr>
          <a:lstStyle/>
          <a:p>
            <a:pPr algn="ctr"/>
            <a:r>
              <a:rPr sz="2200" b="1" i="0">
                <a:solidFill>
                  <a:srgbClr val="5FD38D"/>
                </a:solidFill>
                <a:latin typeface="Calibri"/>
              </a:rPr>
              <a:t>Qt Quick (QML)</a:t>
            </a:r>
          </a:p>
        </p:txBody>
      </p:sp>
      <p:sp>
        <p:nvSpPr>
          <p:cNvPr id="7" name="Qt Quick (QML) result"/>
          <p:cNvSpPr txBox="1"/>
          <p:nvPr/>
        </p:nvSpPr>
        <p:spPr>
          <a:xfrm>
            <a:off x="5880963" y="5779008"/>
            <a:ext cx="5760720" cy="320040"/>
          </a:xfrm>
          <a:prstGeom prst="rect">
            <a:avLst/>
          </a:prstGeom>
          <a:noFill/>
        </p:spPr>
        <p:txBody>
          <a:bodyPr wrap="square" lIns="0" rIns="0" tIns="0" bIns="0">
            <a:spAutoFit/>
          </a:bodyPr>
          <a:lstStyle/>
          <a:p>
            <a:pPr algn="ctr"/>
            <a:r>
              <a:rPr sz="1600" b="0" i="0">
                <a:solidFill>
                  <a:srgbClr val="FFFFFF"/>
                </a:solidFill>
                <a:latin typeface="Calibri"/>
              </a:rPr>
              <a:t>3000 buttons  ·  60 FPS  ·  CPU 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8229600" cy="548640"/>
          </a:xfrm>
          <a:prstGeom prst="rect">
            <a:avLst/>
          </a:prstGeom>
          <a:noFill/>
        </p:spPr>
        <p:txBody>
          <a:bodyPr wrap="square" lIns="0" rIns="0" tIns="0" bIns="0">
            <a:spAutoFit/>
          </a:bodyPr>
          <a:lstStyle/>
          <a:p>
            <a:r>
              <a:rPr sz="3600" b="1" i="0">
                <a:solidFill>
                  <a:srgbClr val="FFFFFF"/>
                </a:solidFill>
                <a:latin typeface="Calibri"/>
              </a:rPr>
              <a:t>Blur on Android </a:t>
            </a:r>
            <a:r>
              <a:rPr sz="3600" b="1" i="0">
                <a:solidFill>
                  <a:srgbClr val="5FD38D"/>
                </a:solidFill>
                <a:latin typeface="Calibri"/>
              </a:rPr>
              <a:t>(Phone)</a:t>
            </a:r>
          </a:p>
        </p:txBody>
      </p:sp>
      <p:sp>
        <p:nvSpPr>
          <p:cNvPr id="3" name="Source"/>
          <p:cNvSpPr txBox="1"/>
          <p:nvPr/>
        </p:nvSpPr>
        <p:spPr>
          <a:xfrm>
            <a:off x="8641080" y="685800"/>
            <a:ext cx="3017520" cy="274320"/>
          </a:xfrm>
          <a:prstGeom prst="rect">
            <a:avLst/>
          </a:prstGeom>
          <a:noFill/>
        </p:spPr>
        <p:txBody>
          <a:bodyPr wrap="square" lIns="0" rIns="0" tIns="0" bIns="0">
            <a:spAutoFit/>
          </a:bodyPr>
          <a:lstStyle/>
          <a:p>
            <a:r>
              <a:rPr sz="1200" b="0" i="0">
                <a:solidFill>
                  <a:srgbClr val="9AA0A6"/>
                </a:solidFill>
                <a:latin typeface="Calibri"/>
              </a:rPr>
              <a:t>Source: doc.qt.io/qt-6/topics-ui.html</a:t>
            </a:r>
          </a:p>
        </p:txBody>
      </p:sp>
      <p:sp>
        <p:nvSpPr>
          <p:cNvPr id="4" name="Qt docs quote"/>
          <p:cNvSpPr txBox="1"/>
          <p:nvPr/>
        </p:nvSpPr>
        <p:spPr>
          <a:xfrm>
            <a:off x="548640" y="1188720"/>
            <a:ext cx="11091672" cy="457200"/>
          </a:xfrm>
          <a:prstGeom prst="rect">
            <a:avLst/>
          </a:prstGeom>
          <a:noFill/>
        </p:spPr>
        <p:txBody>
          <a:bodyPr wrap="square" lIns="0" rIns="0" tIns="0" bIns="0">
            <a:spAutoFit/>
          </a:bodyPr>
          <a:lstStyle/>
          <a:p>
            <a:pPr algn="ctr"/>
            <a:r>
              <a:rPr sz="2200" b="0" i="1">
                <a:solidFill>
                  <a:srgbClr val="FFFFFF"/>
                </a:solidFill>
                <a:latin typeface="Calibri"/>
              </a:rPr>
              <a:t>“Qt Quick is designed for animated, modern UIs. Qt Widgets are not.”</a:t>
            </a:r>
          </a:p>
        </p:txBody>
      </p:sp>
      <p:pic>
        <p:nvPicPr>
          <p:cNvPr id="5" name="side by side 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08100" y="1783080"/>
            <a:ext cx="4175493" cy="3703320"/>
          </a:xfrm>
          <a:prstGeom prst="rect">
            <a:avLst/>
          </a:prstGeom>
        </p:spPr>
      </p:pic>
      <p:sp>
        <p:nvSpPr>
          <p:cNvPr id="6" name="Qt Widgets label"/>
          <p:cNvSpPr txBox="1"/>
          <p:nvPr/>
        </p:nvSpPr>
        <p:spPr>
          <a:xfrm>
            <a:off x="3642340" y="5596128"/>
            <a:ext cx="2634100" cy="365760"/>
          </a:xfrm>
          <a:prstGeom prst="rect">
            <a:avLst/>
          </a:prstGeom>
          <a:noFill/>
        </p:spPr>
        <p:txBody>
          <a:bodyPr wrap="square" lIns="0" rIns="0" tIns="0" bIns="0">
            <a:spAutoFit/>
          </a:bodyPr>
          <a:lstStyle/>
          <a:p>
            <a:pPr algn="ctr"/>
            <a:r>
              <a:rPr sz="2200" b="1" i="0">
                <a:solidFill>
                  <a:srgbClr val="F0B35A"/>
                </a:solidFill>
                <a:latin typeface="Calibri"/>
              </a:rPr>
              <a:t>Qt Widgets</a:t>
            </a:r>
          </a:p>
        </p:txBody>
      </p:sp>
      <p:sp>
        <p:nvSpPr>
          <p:cNvPr id="7" name="Qt Widgets result"/>
          <p:cNvSpPr txBox="1"/>
          <p:nvPr/>
        </p:nvSpPr>
        <p:spPr>
          <a:xfrm>
            <a:off x="3642340" y="5961888"/>
            <a:ext cx="2634100" cy="320040"/>
          </a:xfrm>
          <a:prstGeom prst="rect">
            <a:avLst/>
          </a:prstGeom>
          <a:noFill/>
        </p:spPr>
        <p:txBody>
          <a:bodyPr wrap="square" lIns="0" rIns="0" tIns="0" bIns="0">
            <a:spAutoFit/>
          </a:bodyPr>
          <a:lstStyle/>
          <a:p>
            <a:pPr algn="ctr"/>
            <a:r>
              <a:rPr sz="1600" b="0" i="0">
                <a:solidFill>
                  <a:srgbClr val="FFFFFF"/>
                </a:solidFill>
                <a:latin typeface="Calibri"/>
              </a:rPr>
              <a:t>~30 FPS  ·  CPU</a:t>
            </a:r>
          </a:p>
        </p:txBody>
      </p:sp>
      <p:sp>
        <p:nvSpPr>
          <p:cNvPr id="8" name="Qt Quick (QML) label"/>
          <p:cNvSpPr txBox="1"/>
          <p:nvPr/>
        </p:nvSpPr>
        <p:spPr>
          <a:xfrm>
            <a:off x="5915253" y="5596128"/>
            <a:ext cx="2634100" cy="365760"/>
          </a:xfrm>
          <a:prstGeom prst="rect">
            <a:avLst/>
          </a:prstGeom>
          <a:noFill/>
        </p:spPr>
        <p:txBody>
          <a:bodyPr wrap="square" lIns="0" rIns="0" tIns="0" bIns="0">
            <a:spAutoFit/>
          </a:bodyPr>
          <a:lstStyle/>
          <a:p>
            <a:pPr algn="ctr"/>
            <a:r>
              <a:rPr sz="2200" b="1" i="0">
                <a:solidFill>
                  <a:srgbClr val="5FD38D"/>
                </a:solidFill>
                <a:latin typeface="Calibri"/>
              </a:rPr>
              <a:t>Qt Quick (QML)</a:t>
            </a:r>
          </a:p>
        </p:txBody>
      </p:sp>
      <p:sp>
        <p:nvSpPr>
          <p:cNvPr id="9" name="Qt Quick (QML) result"/>
          <p:cNvSpPr txBox="1"/>
          <p:nvPr/>
        </p:nvSpPr>
        <p:spPr>
          <a:xfrm>
            <a:off x="5915253" y="5961888"/>
            <a:ext cx="2634100" cy="320040"/>
          </a:xfrm>
          <a:prstGeom prst="rect">
            <a:avLst/>
          </a:prstGeom>
          <a:noFill/>
        </p:spPr>
        <p:txBody>
          <a:bodyPr wrap="square" lIns="0" rIns="0" tIns="0" bIns="0">
            <a:spAutoFit/>
          </a:bodyPr>
          <a:lstStyle/>
          <a:p>
            <a:pPr algn="ctr"/>
            <a:r>
              <a:rPr sz="1600" b="0" i="0">
                <a:solidFill>
                  <a:srgbClr val="FFFFFF"/>
                </a:solidFill>
                <a:latin typeface="Calibri"/>
              </a:rPr>
              <a:t>60 FPS  ·  GPU</a:t>
            </a:r>
          </a:p>
        </p:txBody>
      </p:sp>
      <p:sp>
        <p:nvSpPr>
          <p:cNvPr id="10" name="Note"/>
          <p:cNvSpPr txBox="1"/>
          <p:nvPr/>
        </p:nvSpPr>
        <p:spPr>
          <a:xfrm>
            <a:off x="548640" y="6446520"/>
            <a:ext cx="11091672" cy="274320"/>
          </a:xfrm>
          <a:prstGeom prst="rect">
            <a:avLst/>
          </a:prstGeom>
          <a:noFill/>
        </p:spPr>
        <p:txBody>
          <a:bodyPr wrap="square" lIns="0" rIns="0" tIns="0" bIns="0">
            <a:spAutoFit/>
          </a:bodyPr>
          <a:lstStyle/>
          <a:p>
            <a:pPr algn="ctr"/>
            <a:r>
              <a:rPr sz="1200" b="0" i="0">
                <a:solidFill>
                  <a:srgbClr val="9AA0A6"/>
                </a:solidFill>
                <a:latin typeface="Calibri"/>
              </a:rPr>
              <a:t>Recorded at 60 Hz (the screen recorder can't capture 120 Hz). At 120 Hz, QML runs at 120 FPS.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F22"/>
        </a:solidFill>
        <a:effectLst/>
      </p:bgPr>
    </p:bg>
    <p:spTree>
      <p:nvGrpSpPr>
        <p:cNvPr id="1" name=""/>
        <p:cNvGrpSpPr/>
        <p:nvPr/>
      </p:nvGrpSpPr>
      <p:grpSpPr/>
      <p:sp>
        <p:nvSpPr>
          <p:cNvPr id="2" name="Title"/>
          <p:cNvSpPr txBox="1"/>
          <p:nvPr/>
        </p:nvSpPr>
        <p:spPr>
          <a:xfrm>
            <a:off x="548640" y="411480"/>
            <a:ext cx="8229600" cy="548640"/>
          </a:xfrm>
          <a:prstGeom prst="rect">
            <a:avLst/>
          </a:prstGeom>
          <a:noFill/>
        </p:spPr>
        <p:txBody>
          <a:bodyPr wrap="square" lIns="0" rIns="0" tIns="0" bIns="0">
            <a:spAutoFit/>
          </a:bodyPr>
          <a:lstStyle/>
          <a:p>
            <a:r>
              <a:rPr sz="3600" b="1">
                <a:solidFill>
                  <a:srgbClr val="FFFFFF"/>
                </a:solidFill>
                <a:latin typeface="Calibri"/>
              </a:rPr>
              <a:t>Learning Curve</a:t>
            </a:r>
          </a:p>
        </p:txBody>
      </p:sp>
      <p:sp>
        <p:nvSpPr>
          <p:cNvPr id="3" name="Source"/>
          <p:cNvSpPr txBox="1"/>
          <p:nvPr/>
        </p:nvSpPr>
        <p:spPr>
          <a:xfrm>
            <a:off x="8641080" y="685800"/>
            <a:ext cx="3017520" cy="274320"/>
          </a:xfrm>
          <a:prstGeom prst="rect">
            <a:avLst/>
          </a:prstGeom>
          <a:noFill/>
        </p:spPr>
        <p:txBody>
          <a:bodyPr wrap="square" lIns="0" rIns="0" tIns="0" bIns="0">
            <a:spAutoFit/>
          </a:bodyPr>
          <a:lstStyle/>
          <a:p>
            <a:r>
              <a:rPr sz="1200" b="0">
                <a:solidFill>
                  <a:srgbClr val="9AA0A6"/>
                </a:solidFill>
                <a:latin typeface="Calibri"/>
              </a:rPr>
              <a:t>Source: doc.qt.io/qt-6/topics-ui.html</a:t>
            </a:r>
          </a:p>
        </p:txBody>
      </p:sp>
      <p:sp>
        <p:nvSpPr>
          <p:cNvPr id="4" name="Scenario"/>
          <p:cNvSpPr txBox="1"/>
          <p:nvPr/>
        </p:nvSpPr>
        <p:spPr>
          <a:xfrm>
            <a:off x="548640" y="1143000"/>
            <a:ext cx="11091672" cy="365760"/>
          </a:xfrm>
          <a:prstGeom prst="rect">
            <a:avLst/>
          </a:prstGeom>
          <a:noFill/>
        </p:spPr>
        <p:txBody>
          <a:bodyPr wrap="square" lIns="0" rIns="0" tIns="0" bIns="0">
            <a:spAutoFit/>
          </a:bodyPr>
          <a:lstStyle/>
          <a:p>
            <a:r>
              <a:rPr sz="1600" b="0">
                <a:solidFill>
                  <a:srgbClr val="9AA0A6"/>
                </a:solidFill>
                <a:latin typeface="Calibri"/>
              </a:rPr>
              <a:t>Scenario: a simple tool (e.g. a USART simulator) — input, output, parse data, save to a table. Short deadline.</a:t>
            </a:r>
          </a:p>
        </p:txBody>
      </p:sp>
      <p:sp>
        <p:nvSpPr>
          <p:cNvPr id="5" name="Qt Widgets header"/>
          <p:cNvSpPr txBox="1"/>
          <p:nvPr/>
        </p:nvSpPr>
        <p:spPr>
          <a:xfrm>
            <a:off x="548640" y="1645920"/>
            <a:ext cx="5394960" cy="411480"/>
          </a:xfrm>
          <a:prstGeom prst="rect">
            <a:avLst/>
          </a:prstGeom>
          <a:noFill/>
        </p:spPr>
        <p:txBody>
          <a:bodyPr wrap="square" lIns="0" rIns="0" tIns="0" bIns="0">
            <a:spAutoFit/>
          </a:bodyPr>
          <a:lstStyle/>
          <a:p>
            <a:r>
              <a:rPr sz="2400" b="1">
                <a:solidFill>
                  <a:srgbClr val="5FD38D"/>
                </a:solidFill>
                <a:latin typeface="Calibri"/>
              </a:rPr>
              <a:t>Qt Widgets</a:t>
            </a:r>
          </a:p>
        </p:txBody>
      </p:sp>
      <p:sp>
        <p:nvSpPr>
          <p:cNvPr id="6" name="Qt Widgets 1"/>
          <p:cNvSpPr txBox="1"/>
          <p:nvPr/>
        </p:nvSpPr>
        <p:spPr>
          <a:xfrm>
            <a:off x="548640" y="2121408"/>
            <a:ext cx="5394960" cy="365760"/>
          </a:xfrm>
          <a:prstGeom prst="rect">
            <a:avLst/>
          </a:prstGeom>
          <a:noFill/>
        </p:spPr>
        <p:txBody>
          <a:bodyPr wrap="square" lIns="0" rIns="0" tIns="0" bIns="0">
            <a:spAutoFit/>
          </a:bodyPr>
          <a:lstStyle/>
          <a:p>
            <a:r>
              <a:rPr sz="1800" b="0">
                <a:solidFill>
                  <a:srgbClr val="5FD38D"/>
                </a:solidFill>
                <a:latin typeface="Calibri"/>
              </a:rPr>
              <a:t>•  </a:t>
            </a:r>
            <a:r>
              <a:rPr sz="1800" b="0">
                <a:solidFill>
                  <a:srgbClr val="FFFFFF"/>
                </a:solidFill>
                <a:latin typeface="Calibri"/>
              </a:rPr>
              <a:t>Drag &amp; drop in Designer</a:t>
            </a:r>
          </a:p>
        </p:txBody>
      </p:sp>
      <p:sp>
        <p:nvSpPr>
          <p:cNvPr id="7" name="Qt Widgets 2"/>
          <p:cNvSpPr txBox="1"/>
          <p:nvPr/>
        </p:nvSpPr>
        <p:spPr>
          <a:xfrm>
            <a:off x="548640" y="2532888"/>
            <a:ext cx="5394960" cy="365760"/>
          </a:xfrm>
          <a:prstGeom prst="rect">
            <a:avLst/>
          </a:prstGeom>
          <a:noFill/>
        </p:spPr>
        <p:txBody>
          <a:bodyPr wrap="square" lIns="0" rIns="0" tIns="0" bIns="0">
            <a:spAutoFit/>
          </a:bodyPr>
          <a:lstStyle/>
          <a:p>
            <a:r>
              <a:rPr sz="1800" b="0">
                <a:solidFill>
                  <a:srgbClr val="5FD38D"/>
                </a:solidFill>
                <a:latin typeface="Calibri"/>
              </a:rPr>
              <a:t>•  </a:t>
            </a:r>
            <a:r>
              <a:rPr sz="1800" b="0">
                <a:solidFill>
                  <a:srgbClr val="FFFFFF"/>
                </a:solidFill>
                <a:latin typeface="Calibri"/>
              </a:rPr>
              <a:t>Tables and text fields ready to use</a:t>
            </a:r>
          </a:p>
        </p:txBody>
      </p:sp>
      <p:sp>
        <p:nvSpPr>
          <p:cNvPr id="8" name="Qt Widgets 3"/>
          <p:cNvSpPr txBox="1"/>
          <p:nvPr/>
        </p:nvSpPr>
        <p:spPr>
          <a:xfrm>
            <a:off x="548640" y="2944368"/>
            <a:ext cx="5394960" cy="365760"/>
          </a:xfrm>
          <a:prstGeom prst="rect">
            <a:avLst/>
          </a:prstGeom>
          <a:noFill/>
        </p:spPr>
        <p:txBody>
          <a:bodyPr wrap="square" lIns="0" rIns="0" tIns="0" bIns="0">
            <a:spAutoFit/>
          </a:bodyPr>
          <a:lstStyle/>
          <a:p>
            <a:r>
              <a:rPr sz="1800" b="0">
                <a:solidFill>
                  <a:srgbClr val="5FD38D"/>
                </a:solidFill>
                <a:latin typeface="Calibri"/>
              </a:rPr>
              <a:t>•  </a:t>
            </a:r>
            <a:r>
              <a:rPr sz="1800" b="0">
                <a:solidFill>
                  <a:srgbClr val="FFFFFF"/>
                </a:solidFill>
                <a:latin typeface="Calibri"/>
              </a:rPr>
              <a:t>One language: </a:t>
            </a:r>
            <a:r>
              <a:rPr sz="1800" b="0">
                <a:solidFill>
                  <a:srgbClr val="5FD38D"/>
                </a:solidFill>
                <a:latin typeface="Consolas"/>
              </a:rPr>
              <a:t>C++</a:t>
            </a:r>
          </a:p>
        </p:txBody>
      </p:sp>
      <p:sp>
        <p:nvSpPr>
          <p:cNvPr id="9" name="Qt Widgets 4"/>
          <p:cNvSpPr txBox="1"/>
          <p:nvPr/>
        </p:nvSpPr>
        <p:spPr>
          <a:xfrm>
            <a:off x="548640" y="3355848"/>
            <a:ext cx="5394960" cy="365760"/>
          </a:xfrm>
          <a:prstGeom prst="rect">
            <a:avLst/>
          </a:prstGeom>
          <a:noFill/>
        </p:spPr>
        <p:txBody>
          <a:bodyPr wrap="square" lIns="0" rIns="0" tIns="0" bIns="0">
            <a:spAutoFit/>
          </a:bodyPr>
          <a:lstStyle/>
          <a:p>
            <a:r>
              <a:rPr sz="1800" b="0">
                <a:solidFill>
                  <a:srgbClr val="5FD38D"/>
                </a:solidFill>
                <a:latin typeface="Calibri"/>
              </a:rPr>
              <a:t>•  </a:t>
            </a:r>
            <a:r>
              <a:rPr sz="1800" b="0">
                <a:solidFill>
                  <a:srgbClr val="FFFFFF"/>
                </a:solidFill>
                <a:latin typeface="Calibri"/>
              </a:rPr>
              <a:t>Button → function: one </a:t>
            </a:r>
            <a:r>
              <a:rPr sz="1800" b="0">
                <a:solidFill>
                  <a:srgbClr val="5FD38D"/>
                </a:solidFill>
                <a:latin typeface="Consolas"/>
              </a:rPr>
              <a:t>connect</a:t>
            </a:r>
          </a:p>
        </p:txBody>
      </p:sp>
      <p:sp>
        <p:nvSpPr>
          <p:cNvPr id="10" name="Qt Quick (QML) header"/>
          <p:cNvSpPr txBox="1"/>
          <p:nvPr/>
        </p:nvSpPr>
        <p:spPr>
          <a:xfrm>
            <a:off x="6263640" y="1645920"/>
            <a:ext cx="5394960" cy="411480"/>
          </a:xfrm>
          <a:prstGeom prst="rect">
            <a:avLst/>
          </a:prstGeom>
          <a:noFill/>
        </p:spPr>
        <p:txBody>
          <a:bodyPr wrap="square" lIns="0" rIns="0" tIns="0" bIns="0">
            <a:spAutoFit/>
          </a:bodyPr>
          <a:lstStyle/>
          <a:p>
            <a:r>
              <a:rPr sz="2400" b="1">
                <a:solidFill>
                  <a:srgbClr val="F0B35A"/>
                </a:solidFill>
                <a:latin typeface="Calibri"/>
              </a:rPr>
              <a:t>Qt Quick (QML)</a:t>
            </a:r>
          </a:p>
        </p:txBody>
      </p:sp>
      <p:sp>
        <p:nvSpPr>
          <p:cNvPr id="11" name="Qt Quick (QML) 1"/>
          <p:cNvSpPr txBox="1"/>
          <p:nvPr/>
        </p:nvSpPr>
        <p:spPr>
          <a:xfrm>
            <a:off x="6263640" y="2121408"/>
            <a:ext cx="5394960" cy="365760"/>
          </a:xfrm>
          <a:prstGeom prst="rect">
            <a:avLst/>
          </a:prstGeom>
          <a:noFill/>
        </p:spPr>
        <p:txBody>
          <a:bodyPr wrap="square" lIns="0" rIns="0" tIns="0" bIns="0">
            <a:spAutoFit/>
          </a:bodyPr>
          <a:lstStyle/>
          <a:p>
            <a:r>
              <a:rPr sz="1800" b="0">
                <a:solidFill>
                  <a:srgbClr val="F0B35A"/>
                </a:solidFill>
                <a:latin typeface="Calibri"/>
              </a:rPr>
              <a:t>•  </a:t>
            </a:r>
            <a:r>
              <a:rPr sz="1800" b="0">
                <a:solidFill>
                  <a:srgbClr val="FFFFFF"/>
                </a:solidFill>
                <a:latin typeface="Calibri"/>
              </a:rPr>
              <a:t>Learn QML (+ JavaScript)</a:t>
            </a:r>
          </a:p>
        </p:txBody>
      </p:sp>
      <p:sp>
        <p:nvSpPr>
          <p:cNvPr id="12" name="Qt Quick (QML) 2"/>
          <p:cNvSpPr txBox="1"/>
          <p:nvPr/>
        </p:nvSpPr>
        <p:spPr>
          <a:xfrm>
            <a:off x="6263640" y="2532888"/>
            <a:ext cx="5394960" cy="365760"/>
          </a:xfrm>
          <a:prstGeom prst="rect">
            <a:avLst/>
          </a:prstGeom>
          <a:noFill/>
        </p:spPr>
        <p:txBody>
          <a:bodyPr wrap="square" lIns="0" rIns="0" tIns="0" bIns="0">
            <a:spAutoFit/>
          </a:bodyPr>
          <a:lstStyle/>
          <a:p>
            <a:r>
              <a:rPr sz="1800" b="0">
                <a:solidFill>
                  <a:srgbClr val="F0B35A"/>
                </a:solidFill>
                <a:latin typeface="Calibri"/>
              </a:rPr>
              <a:t>•  </a:t>
            </a:r>
            <a:r>
              <a:rPr sz="1800" b="0">
                <a:solidFill>
                  <a:srgbClr val="FFFFFF"/>
                </a:solidFill>
                <a:latin typeface="Calibri"/>
              </a:rPr>
              <a:t>Expose C++: </a:t>
            </a:r>
            <a:r>
              <a:rPr sz="1800" b="0">
                <a:solidFill>
                  <a:srgbClr val="5FD38D"/>
                </a:solidFill>
                <a:latin typeface="Consolas"/>
              </a:rPr>
              <a:t>Q_PROPERTY</a:t>
            </a:r>
            <a:r>
              <a:rPr sz="1800" b="0">
                <a:solidFill>
                  <a:srgbClr val="FFFFFF"/>
                </a:solidFill>
                <a:latin typeface="Calibri"/>
              </a:rPr>
              <a:t>, </a:t>
            </a:r>
            <a:r>
              <a:rPr sz="1800" b="0">
                <a:solidFill>
                  <a:srgbClr val="5FD38D"/>
                </a:solidFill>
                <a:latin typeface="Consolas"/>
              </a:rPr>
              <a:t>Q_INVOKABLE</a:t>
            </a:r>
          </a:p>
        </p:txBody>
      </p:sp>
      <p:sp>
        <p:nvSpPr>
          <p:cNvPr id="13" name="Qt Quick (QML) 3"/>
          <p:cNvSpPr txBox="1"/>
          <p:nvPr/>
        </p:nvSpPr>
        <p:spPr>
          <a:xfrm>
            <a:off x="6263640" y="2944368"/>
            <a:ext cx="5394960" cy="365760"/>
          </a:xfrm>
          <a:prstGeom prst="rect">
            <a:avLst/>
          </a:prstGeom>
          <a:noFill/>
        </p:spPr>
        <p:txBody>
          <a:bodyPr wrap="square" lIns="0" rIns="0" tIns="0" bIns="0">
            <a:spAutoFit/>
          </a:bodyPr>
          <a:lstStyle/>
          <a:p>
            <a:r>
              <a:rPr sz="1800" b="0">
                <a:solidFill>
                  <a:srgbClr val="F0B35A"/>
                </a:solidFill>
                <a:latin typeface="Calibri"/>
              </a:rPr>
              <a:t>•  </a:t>
            </a:r>
            <a:r>
              <a:rPr sz="1800" b="0">
                <a:solidFill>
                  <a:srgbClr val="FFFFFF"/>
                </a:solidFill>
                <a:latin typeface="Calibri"/>
              </a:rPr>
              <a:t>Signals + type registration: </a:t>
            </a:r>
            <a:r>
              <a:rPr sz="1800" b="0">
                <a:solidFill>
                  <a:srgbClr val="5FD38D"/>
                </a:solidFill>
                <a:latin typeface="Consolas"/>
              </a:rPr>
              <a:t>QML_ELEMENT</a:t>
            </a:r>
          </a:p>
        </p:txBody>
      </p:sp>
      <p:sp>
        <p:nvSpPr>
          <p:cNvPr id="14" name="Qt Quick (QML) 4"/>
          <p:cNvSpPr txBox="1"/>
          <p:nvPr/>
        </p:nvSpPr>
        <p:spPr>
          <a:xfrm>
            <a:off x="6263640" y="3355848"/>
            <a:ext cx="5394960" cy="365760"/>
          </a:xfrm>
          <a:prstGeom prst="rect">
            <a:avLst/>
          </a:prstGeom>
          <a:noFill/>
        </p:spPr>
        <p:txBody>
          <a:bodyPr wrap="square" lIns="0" rIns="0" tIns="0" bIns="0">
            <a:spAutoFit/>
          </a:bodyPr>
          <a:lstStyle/>
          <a:p>
            <a:r>
              <a:rPr sz="1800" b="0">
                <a:solidFill>
                  <a:srgbClr val="F0B35A"/>
                </a:solidFill>
                <a:latin typeface="Calibri"/>
              </a:rPr>
              <a:t>•  </a:t>
            </a:r>
            <a:r>
              <a:rPr sz="1800" b="0">
                <a:solidFill>
                  <a:srgbClr val="FFFFFF"/>
                </a:solidFill>
                <a:latin typeface="Calibri"/>
              </a:rPr>
              <a:t>Two languages + the bridge between them</a:t>
            </a:r>
          </a:p>
        </p:txBody>
      </p:sp>
      <p:graphicFrame>
        <p:nvGraphicFramePr>
          <p:cNvPr id="15" name="qt docs table"/>
          <p:cNvGraphicFramePr>
            <a:graphicFrameLocks noGrp="1"/>
          </p:cNvGraphicFramePr>
          <p:nvPr/>
        </p:nvGraphicFramePr>
        <p:xfrm>
          <a:off x="548640" y="3886200"/>
          <a:ext cx="11091672" cy="2240280"/>
        </p:xfrm>
        <a:graphic>
          <a:graphicData uri="http://schemas.openxmlformats.org/drawingml/2006/table">
            <a:tbl>
              <a:tblPr>
                <a:tableStyleId>{5C22544A-7EE6-4342-B048-85BDC9FD1C3A}</a:tableStyleId>
              </a:tblPr>
              <a:tblGrid>
                <a:gridCol w="1737360"/>
                <a:gridCol w="2286000"/>
                <a:gridCol w="2743200"/>
                <a:gridCol w="4325112"/>
              </a:tblGrid>
              <a:tr h="365760">
                <a:tc>
                  <a:txBody>
                    <a:bodyPr/>
                    <a:lstStyle/>
                    <a:p>
                      <a:r>
                        <a:rPr sz="1200" b="1">
                          <a:solidFill>
                            <a:srgbClr val="9AA0A6"/>
                          </a:solidFill>
                          <a:latin typeface="Calibri"/>
                        </a:rPr>
                        <a:t>Feature</a:t>
                      </a:r>
                    </a:p>
                  </a:txBody>
                  <a:tcPr marL="91440" marR="91440" marT="36576" marB="36576" anchor="ctr">
                    <a:solidFill>
                      <a:srgbClr val="2E3135"/>
                    </a:solidFill>
                  </a:tcPr>
                </a:tc>
                <a:tc>
                  <a:txBody>
                    <a:bodyPr/>
                    <a:lstStyle/>
                    <a:p>
                      <a:r>
                        <a:rPr sz="1200" b="1">
                          <a:solidFill>
                            <a:srgbClr val="9AA0A6"/>
                          </a:solidFill>
                          <a:latin typeface="Calibri"/>
                        </a:rPr>
                        <a:t>Qt Quick and Qt Quick Controls</a:t>
                      </a:r>
                    </a:p>
                  </a:txBody>
                  <a:tcPr marL="91440" marR="91440" marT="36576" marB="36576" anchor="ctr">
                    <a:solidFill>
                      <a:srgbClr val="2E3135"/>
                    </a:solidFill>
                  </a:tcPr>
                </a:tc>
                <a:tc>
                  <a:txBody>
                    <a:bodyPr/>
                    <a:lstStyle/>
                    <a:p>
                      <a:r>
                        <a:rPr sz="1200" b="1">
                          <a:solidFill>
                            <a:srgbClr val="9AA0A6"/>
                          </a:solidFill>
                          <a:latin typeface="Calibri"/>
                        </a:rPr>
                        <a:t>Qt Widgets</a:t>
                      </a:r>
                    </a:p>
                  </a:txBody>
                  <a:tcPr marL="91440" marR="91440" marT="36576" marB="36576" anchor="ctr">
                    <a:solidFill>
                      <a:srgbClr val="2E3135"/>
                    </a:solidFill>
                  </a:tcPr>
                </a:tc>
                <a:tc>
                  <a:txBody>
                    <a:bodyPr/>
                    <a:lstStyle/>
                    <a:p>
                      <a:r>
                        <a:rPr sz="1200" b="1">
                          <a:solidFill>
                            <a:srgbClr val="9AA0A6"/>
                          </a:solidFill>
                          <a:latin typeface="Calibri"/>
                        </a:rPr>
                        <a:t>Explanation</a:t>
                      </a:r>
                    </a:p>
                  </a:txBody>
                  <a:tcPr marL="91440" marR="91440" marT="36576" marB="36576" anchor="ctr">
                    <a:solidFill>
                      <a:srgbClr val="2E3135"/>
                    </a:solidFill>
                  </a:tcPr>
                </a:tc>
              </a:tr>
              <a:tr h="640080">
                <a:tc>
                  <a:txBody>
                    <a:bodyPr/>
                    <a:lstStyle/>
                    <a:p>
                      <a:r>
                        <a:rPr sz="1300" b="1">
                          <a:solidFill>
                            <a:srgbClr val="FFFFFF"/>
                          </a:solidFill>
                          <a:latin typeface="Calibri"/>
                        </a:rPr>
                        <a:t>Primary languages</a:t>
                      </a:r>
                    </a:p>
                  </a:txBody>
                  <a:tcPr marL="91440" marR="91440" marT="36576" marB="36576" anchor="ctr">
                    <a:solidFill>
                      <a:srgbClr val="26282C"/>
                    </a:solidFill>
                  </a:tcPr>
                </a:tc>
                <a:tc>
                  <a:txBody>
                    <a:bodyPr/>
                    <a:lstStyle/>
                    <a:p>
                      <a:r>
                        <a:rPr sz="1300" b="0">
                          <a:solidFill>
                            <a:srgbClr val="FFFFFF"/>
                          </a:solidFill>
                          <a:latin typeface="Calibri"/>
                        </a:rPr>
                        <a:t>QML and JavaScript</a:t>
                      </a:r>
                    </a:p>
                  </a:txBody>
                  <a:tcPr marL="91440" marR="91440" marT="36576" marB="36576" anchor="ctr">
                    <a:solidFill>
                      <a:srgbClr val="26282C"/>
                    </a:solidFill>
                  </a:tcPr>
                </a:tc>
                <a:tc>
                  <a:txBody>
                    <a:bodyPr/>
                    <a:lstStyle/>
                    <a:p>
                      <a:r>
                        <a:rPr sz="1300" b="0">
                          <a:solidFill>
                            <a:srgbClr val="5FD38D"/>
                          </a:solidFill>
                          <a:latin typeface="Calibri"/>
                        </a:rPr>
                        <a:t>C++</a:t>
                      </a:r>
                    </a:p>
                  </a:txBody>
                  <a:tcPr marL="91440" marR="91440" marT="36576" marB="36576" anchor="ctr">
                    <a:solidFill>
                      <a:srgbClr val="26282C"/>
                    </a:solidFill>
                  </a:tcPr>
                </a:tc>
                <a:tc>
                  <a:txBody>
                    <a:bodyPr/>
                    <a:lstStyle/>
                    <a:p>
                      <a:r>
                        <a:rPr sz="1300" b="0">
                          <a:solidFill>
                            <a:srgbClr val="FFFFFF"/>
                          </a:solidFill>
                          <a:latin typeface="Calibri"/>
                        </a:rPr>
                        <a:t>Qt Quick is declarative. Qt Widgets is imperative, classic C++.</a:t>
                      </a:r>
                    </a:p>
                  </a:txBody>
                  <a:tcPr marL="91440" marR="91440" marT="36576" marB="36576" anchor="ctr">
                    <a:solidFill>
                      <a:srgbClr val="26282C"/>
                    </a:solidFill>
                  </a:tcPr>
                </a:tc>
              </a:tr>
              <a:tr h="1234440">
                <a:tc>
                  <a:txBody>
                    <a:bodyPr/>
                    <a:lstStyle/>
                    <a:p>
                      <a:r>
                        <a:rPr sz="1300" b="1">
                          <a:solidFill>
                            <a:srgbClr val="FFFFFF"/>
                          </a:solidFill>
                          <a:latin typeface="Calibri"/>
                        </a:rPr>
                        <a:t>Rapid UI prototyping</a:t>
                      </a:r>
                    </a:p>
                  </a:txBody>
                  <a:tcPr marL="91440" marR="91440" marT="36576" marB="36576" anchor="ctr">
                    <a:solidFill>
                      <a:srgbClr val="26282C"/>
                    </a:solidFill>
                  </a:tcPr>
                </a:tc>
                <a:tc>
                  <a:txBody>
                    <a:bodyPr/>
                    <a:lstStyle/>
                    <a:p>
                      <a:r>
                        <a:rPr sz="1300" b="0">
                          <a:solidFill>
                            <a:srgbClr val="FFFFFF"/>
                          </a:solidFill>
                          <a:latin typeface="Calibri"/>
                        </a:rPr>
                        <a:t>Yes (very fast iteration in QML).</a:t>
                      </a:r>
                    </a:p>
                  </a:txBody>
                  <a:tcPr marL="91440" marR="91440" marT="36576" marB="36576" anchor="ctr">
                    <a:solidFill>
                      <a:srgbClr val="26282C"/>
                    </a:solidFill>
                  </a:tcPr>
                </a:tc>
                <a:tc>
                  <a:txBody>
                    <a:bodyPr/>
                    <a:lstStyle/>
                    <a:p>
                      <a:r>
                        <a:rPr sz="1300" b="0">
                          <a:solidFill>
                            <a:srgbClr val="5FD38D"/>
                          </a:solidFill>
                          <a:latin typeface="Calibri"/>
                        </a:rPr>
                        <a:t>Yes (fast for traditional UIs, escpecially with Qt Widgets Designer).</a:t>
                      </a:r>
                    </a:p>
                  </a:txBody>
                  <a:tcPr marL="91440" marR="91440" marT="36576" marB="36576" anchor="ctr">
                    <a:solidFill>
                      <a:srgbClr val="26282C"/>
                    </a:solidFill>
                  </a:tcPr>
                </a:tc>
                <a:tc>
                  <a:txBody>
                    <a:bodyPr/>
                    <a:lstStyle/>
                    <a:p>
                      <a:r>
                        <a:rPr sz="1300" b="0">
                          <a:solidFill>
                            <a:srgbClr val="FFFFFF"/>
                          </a:solidFill>
                          <a:latin typeface="Calibri"/>
                        </a:rPr>
                        <a:t>Qt Quick is particularly well-suited for rapid visual prototyping, while Qt Widgets allow quick assembly of classic desktop interfaces using Qt Widgets Designer.</a:t>
                      </a:r>
                    </a:p>
                  </a:txBody>
                  <a:tcPr marL="91440" marR="91440" marT="36576" marB="36576" anchor="ctr">
                    <a:solidFill>
                      <a:srgbClr val="26282C"/>
                    </a:solidFill>
                  </a:tcPr>
                </a:tc>
              </a:tr>
            </a:tbl>
          </a:graphicData>
        </a:graphic>
      </p:graphicFrame>
      <p:sp>
        <p:nvSpPr>
          <p:cNvPr id="16" name="Closing"/>
          <p:cNvSpPr txBox="1"/>
          <p:nvPr/>
        </p:nvSpPr>
        <p:spPr>
          <a:xfrm>
            <a:off x="548640" y="6382512"/>
            <a:ext cx="11091672" cy="365760"/>
          </a:xfrm>
          <a:prstGeom prst="rect">
            <a:avLst/>
          </a:prstGeom>
          <a:noFill/>
        </p:spPr>
        <p:txBody>
          <a:bodyPr wrap="square" lIns="0" rIns="0" tIns="0" bIns="0">
            <a:spAutoFit/>
          </a:bodyPr>
          <a:lstStyle/>
          <a:p>
            <a:pPr algn="ctr"/>
            <a:r>
              <a:rPr sz="2200" b="1">
                <a:solidFill>
                  <a:srgbClr val="5FD38D"/>
                </a:solidFill>
                <a:latin typeface="Calibri"/>
              </a:rPr>
              <a:t>Short deadline + a working tool → Qt Widgets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2026-10-10T22:05:52Z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