
<file path=[Content_Types].xml><?xml version="1.0" encoding="utf-8"?>
<Types xmlns="http://schemas.openxmlformats.org/package/2006/content-types"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notesMasterIdLst>
    <p:notesMasterId r:id="rId13"/>
  </p:notesMasterIdLst>
  <p:sldIdLst>
    <p:sldId id="256" r:id="rId14"/>
    <p:sldId id="258" r:id="rId17"/>
    <p:sldId id="259" r:id="rId18"/>
    <p:sldId id="266" r:id="rId25"/>
    <p:sldId id="267" r:id="rId19"/>
    <p:sldId id="262" r:id="rId21"/>
    <p:sldId id="263" r:id="rId22"/>
    <p:sldId id="264" r:id="rId23"/>
    <p:sldId id="265" r:id="rId24"/>
    <p:sldId id="268" r:id="rId20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1.xml"/><Relationship Id="rId16" Type="http://schemas.openxmlformats.org/officeDocument/2006/relationships/presProps" Target="presProps.xml"/><Relationship Id="rId17" Type="http://schemas.openxmlformats.org/officeDocument/2006/relationships/slide" Target="slides/slide2.xml"/><Relationship Id="rId18" Type="http://schemas.openxmlformats.org/officeDocument/2006/relationships/slide" Target="slides/slide3.xml"/><Relationship Id="rId19" Type="http://schemas.openxmlformats.org/officeDocument/2006/relationships/slide" Target="slides/slide5.xml"/><Relationship Id="rId20" Type="http://schemas.openxmlformats.org/officeDocument/2006/relationships/slide" Target="slides/slide10.xml"/><Relationship Id="rId21" Type="http://schemas.openxmlformats.org/officeDocument/2006/relationships/slide" Target="slides/slide6.xml"/><Relationship Id="rId22" Type="http://schemas.openxmlformats.org/officeDocument/2006/relationships/slide" Target="slides/slide7.xml"/><Relationship Id="rId23" Type="http://schemas.openxmlformats.org/officeDocument/2006/relationships/slide" Target="slides/slide8.xml"/><Relationship Id="rId24" Type="http://schemas.openxmlformats.org/officeDocument/2006/relationships/slide" Target="slides/slide9.xml"/><Relationship Id="rId25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DBE8655C-E804-4BCE-B9FD-053330576065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8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/>
        </p:txBody>
      </p:sp>
      <p:sp>
        <p:nvSpPr>
          <p:cNvPr id="86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3C044F9-984F-4C6F-A28A-2D0CCD0251C2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36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36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36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36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36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36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3FD790A-23CD-48EA-B368-D1717B08224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35BC0D21-36FF-4102-BD07-2E5884BED1C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6C820CF0-AD46-479D-9B1C-7716B7D7C8E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DD66A01E-822D-45A8-BB08-40BB8297608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90C00CAF-1C0D-4DA4-ABB1-D02C370F657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1CB4D43A-980B-4C21-8FAD-6502714C48B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95A48038-5AF7-44E8-BF0C-23D52C276CE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8B1C9294-2827-47E2-8E65-CB1B367C32A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966A7799-0A38-40EF-9C55-1688CD5E29A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934D64B3-5CE6-4BB3-A156-F84AF1DC9C5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FEAF89FB-92BA-4600-9C60-0F25C4A3E02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92CB371-47B4-49C7-A2E9-2D98DF4DBDA6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AD376C0-3181-42F1-A8A7-3210C0FAECF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3734217-D7D2-4CA2-B8BA-FB7E1A45E6E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5546029-1D55-4125-BCBD-A09DC49AF63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1FC8EEC-04DC-4332-87F3-04C5487E18F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461ADC8-E21E-460D-90BA-BD3F8EFD52D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4BBCDB5-55B2-4658-8EA6-1C838D2408D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C05C53F-DB8F-4876-86E7-9969DB571F1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84845E2-1299-4172-B556-A320AC5B173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EEBC2EB-BDCE-479C-94D1-6782892E82C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8DF08F8-87E9-4969-9721-66057291C2B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3.jp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14.jpg"/><Relationship Id="rId5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1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Title"/>
          <p:cNvSpPr/>
          <p:nvPr/>
        </p:nvSpPr>
        <p:spPr>
          <a:xfrm>
            <a:off x="822960" y="2011680"/>
            <a:ext cx="7497720" cy="73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4800" spc="-1" strike="noStrike">
                <a:solidFill>
                  <a:srgbClr val="ffffff"/>
                </a:solidFill>
                <a:latin typeface="Calibri"/>
              </a:rPr>
              <a:t>Qt Widgets </a:t>
            </a:r>
            <a:r>
              <a:rPr b="1" lang="en-US" sz="4800" spc="-1" strike="noStrike">
                <a:solidFill>
                  <a:srgbClr val="b2b2b2"/>
                </a:solidFill>
                <a:latin typeface="Calibri"/>
              </a:rPr>
              <a:t>vs </a:t>
            </a:r>
            <a:r>
              <a:rPr b="1" lang="en-US" sz="4800" spc="-1" strike="noStrike">
                <a:solidFill>
                  <a:srgbClr val="5fd38d"/>
                </a:solidFill>
                <a:latin typeface="Calibri"/>
              </a:rPr>
              <a:t>Qt Quick</a:t>
            </a:r>
            <a:endParaRPr b="0" lang="en-US" sz="4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Subtitle"/>
          <p:cNvSpPr/>
          <p:nvPr/>
        </p:nvSpPr>
        <p:spPr>
          <a:xfrm>
            <a:off x="914400" y="2971800"/>
            <a:ext cx="73148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400" spc="-1" strike="noStrike">
                <a:solidFill>
                  <a:srgbClr val="a9b1ba"/>
                </a:solidFill>
                <a:latin typeface="Calibri"/>
              </a:rPr>
              <a:t>UI Development &amp; Performance Scenarios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Author"/>
          <p:cNvSpPr txBox="1"/>
          <p:nvPr/>
        </p:nvSpPr>
        <p:spPr>
          <a:xfrm>
            <a:off x="914400" y="39319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Can Ahmet Acar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3" name="Topic 1 number"/>
          <p:cNvSpPr txBox="1"/>
          <p:nvPr/>
        </p:nvSpPr>
        <p:spPr>
          <a:xfrm>
            <a:off x="548640" y="155448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1">
                <a:solidFill>
                  <a:srgbClr val="5FD38D"/>
                </a:solidFill>
                <a:latin typeface="Consolas"/>
              </a:rPr>
              <a:t>01</a:t>
            </a:r>
          </a:p>
        </p:txBody>
      </p:sp>
      <p:sp>
        <p:nvSpPr>
          <p:cNvPr id="4" name="Topic 1"/>
          <p:cNvSpPr txBox="1"/>
          <p:nvPr/>
        </p:nvSpPr>
        <p:spPr>
          <a:xfrm>
            <a:off x="1234440" y="155448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Shape Complexity</a:t>
            </a:r>
          </a:p>
        </p:txBody>
      </p:sp>
      <p:sp>
        <p:nvSpPr>
          <p:cNvPr id="5" name="Topic 1 detail"/>
          <p:cNvSpPr txBox="1"/>
          <p:nvPr/>
        </p:nvSpPr>
        <p:spPr>
          <a:xfrm>
            <a:off x="7132320" y="1554480"/>
            <a:ext cx="4526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700" b="0">
                <a:solidFill>
                  <a:srgbClr val="A9B1BA"/>
                </a:solidFill>
                <a:latin typeface="Calibri"/>
              </a:rPr>
              <a:t>Custom, non-rectangular components</a:t>
            </a:r>
          </a:p>
        </p:txBody>
      </p:sp>
      <p:sp>
        <p:nvSpPr>
          <p:cNvPr id="6" name="Topic 2 number"/>
          <p:cNvSpPr txBox="1"/>
          <p:nvPr/>
        </p:nvSpPr>
        <p:spPr>
          <a:xfrm>
            <a:off x="548640" y="242316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1">
                <a:solidFill>
                  <a:srgbClr val="5FD38D"/>
                </a:solidFill>
                <a:latin typeface="Consolas"/>
              </a:rPr>
              <a:t>02</a:t>
            </a:r>
          </a:p>
        </p:txBody>
      </p:sp>
      <p:sp>
        <p:nvSpPr>
          <p:cNvPr id="7" name="Topic 2"/>
          <p:cNvSpPr txBox="1"/>
          <p:nvPr/>
        </p:nvSpPr>
        <p:spPr>
          <a:xfrm>
            <a:off x="1234440" y="242316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Rendering Performance</a:t>
            </a:r>
          </a:p>
        </p:txBody>
      </p:sp>
      <p:sp>
        <p:nvSpPr>
          <p:cNvPr id="8" name="Topic 2 detail"/>
          <p:cNvSpPr txBox="1"/>
          <p:nvPr/>
        </p:nvSpPr>
        <p:spPr>
          <a:xfrm>
            <a:off x="7132320" y="2423160"/>
            <a:ext cx="4526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700" b="0">
                <a:solidFill>
                  <a:srgbClr val="A9B1BA"/>
                </a:solidFill>
                <a:latin typeface="Calibri"/>
              </a:rPr>
              <a:t>CPU vs GPU, on desktop and phone</a:t>
            </a:r>
          </a:p>
        </p:txBody>
      </p:sp>
      <p:sp>
        <p:nvSpPr>
          <p:cNvPr id="9" name="Topic 3 number"/>
          <p:cNvSpPr txBox="1"/>
          <p:nvPr/>
        </p:nvSpPr>
        <p:spPr>
          <a:xfrm>
            <a:off x="548640" y="3291839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1">
                <a:solidFill>
                  <a:srgbClr val="5FD38D"/>
                </a:solidFill>
                <a:latin typeface="Consolas"/>
              </a:rPr>
              <a:t>03</a:t>
            </a:r>
          </a:p>
        </p:txBody>
      </p:sp>
      <p:sp>
        <p:nvSpPr>
          <p:cNvPr id="10" name="Topic 3"/>
          <p:cNvSpPr txBox="1"/>
          <p:nvPr/>
        </p:nvSpPr>
        <p:spPr>
          <a:xfrm>
            <a:off x="1234440" y="3291839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Learning Curve &amp; Development Speed</a:t>
            </a:r>
          </a:p>
        </p:txBody>
      </p:sp>
      <p:sp>
        <p:nvSpPr>
          <p:cNvPr id="11" name="Topic 3 detail"/>
          <p:cNvSpPr txBox="1"/>
          <p:nvPr/>
        </p:nvSpPr>
        <p:spPr>
          <a:xfrm>
            <a:off x="7132320" y="3291839"/>
            <a:ext cx="4526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700" b="0">
                <a:solidFill>
                  <a:srgbClr val="A9B1BA"/>
                </a:solidFill>
                <a:latin typeface="Calibri"/>
              </a:rPr>
              <a:t>How fast a team gets productive</a:t>
            </a:r>
          </a:p>
        </p:txBody>
      </p:sp>
      <p:sp>
        <p:nvSpPr>
          <p:cNvPr id="15" name="Conclusion marker"/>
          <p:cNvSpPr txBox="1"/>
          <p:nvPr/>
        </p:nvSpPr>
        <p:spPr>
          <a:xfrm>
            <a:off x="548640" y="457200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800" b="1">
                <a:solidFill>
                  <a:srgbClr val="F0B35A"/>
                </a:solidFill>
                <a:latin typeface="Calibri"/>
              </a:rPr>
              <a:t>→</a:t>
            </a:r>
          </a:p>
        </p:txBody>
      </p:sp>
      <p:sp>
        <p:nvSpPr>
          <p:cNvPr id="16" name="Conclusion"/>
          <p:cNvSpPr txBox="1"/>
          <p:nvPr/>
        </p:nvSpPr>
        <p:spPr>
          <a:xfrm>
            <a:off x="1234440" y="457200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200" b="1">
                <a:solidFill>
                  <a:srgbClr val="F0B35A"/>
                </a:solidFill>
                <a:latin typeface="Calibri"/>
              </a:rPr>
              <a:t>Conclusion</a:t>
            </a:r>
          </a:p>
        </p:txBody>
      </p:sp>
      <p:sp>
        <p:nvSpPr>
          <p:cNvPr id="17" name="Conclusion detail"/>
          <p:cNvSpPr txBox="1"/>
          <p:nvPr/>
        </p:nvSpPr>
        <p:spPr>
          <a:xfrm>
            <a:off x="7132320" y="4572000"/>
            <a:ext cx="4526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700" b="0">
                <a:solidFill>
                  <a:srgbClr val="A9B1BA"/>
                </a:solidFill>
                <a:latin typeface="Calibri"/>
              </a:rPr>
              <a:t>When to use which?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The Button </a:t>
            </a:r>
            <a:r>
              <a:rPr sz="3600" b="1">
                <a:solidFill>
                  <a:srgbClr val="5FD38D"/>
                </a:solidFill>
                <a:latin typeface="Calibri"/>
              </a:rPr>
              <a:t>Example</a:t>
            </a:r>
          </a:p>
        </p:txBody>
      </p:sp>
      <p:sp>
        <p:nvSpPr>
          <p:cNvPr id="16" name="Bullet 1 number"/>
          <p:cNvSpPr txBox="1"/>
          <p:nvPr/>
        </p:nvSpPr>
        <p:spPr>
          <a:xfrm>
            <a:off x="548640" y="169164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5FD38D"/>
                </a:solidFill>
                <a:latin typeface="Consolas"/>
              </a:rPr>
              <a:t>01</a:t>
            </a:r>
          </a:p>
        </p:txBody>
      </p:sp>
      <p:sp>
        <p:nvSpPr>
          <p:cNvPr id="17" name="Bullet 1"/>
          <p:cNvSpPr txBox="1"/>
          <p:nvPr/>
        </p:nvSpPr>
        <p:spPr>
          <a:xfrm>
            <a:off x="1234440" y="1673352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Most used control, simple in both</a:t>
            </a:r>
          </a:p>
        </p:txBody>
      </p:sp>
      <p:sp>
        <p:nvSpPr>
          <p:cNvPr id="18" name="Bullet 2 number"/>
          <p:cNvSpPr txBox="1"/>
          <p:nvPr/>
        </p:nvSpPr>
        <p:spPr>
          <a:xfrm>
            <a:off x="548640" y="2770632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F0B35A"/>
                </a:solidFill>
                <a:latin typeface="Consolas"/>
              </a:rPr>
              <a:t>02</a:t>
            </a:r>
          </a:p>
        </p:txBody>
      </p:sp>
      <p:sp>
        <p:nvSpPr>
          <p:cNvPr id="19" name="Bullet 2"/>
          <p:cNvSpPr txBox="1"/>
          <p:nvPr/>
        </p:nvSpPr>
        <p:spPr>
          <a:xfrm>
            <a:off x="1234440" y="2752344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F0B35A"/>
                </a:solidFill>
                <a:latin typeface="Calibri"/>
              </a:rPr>
              <a:t>What if the shape changes?</a:t>
            </a:r>
          </a:p>
        </p:txBody>
      </p:sp>
      <p:pic>
        <p:nvPicPr>
          <p:cNvPr id="20" name="Normal button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3246120"/>
            <a:ext cx="2560320" cy="967232"/>
          </a:xfrm>
          <a:prstGeom prst="rect">
            <a:avLst/>
          </a:prstGeom>
        </p:spPr>
      </p:pic>
      <p:sp>
        <p:nvSpPr>
          <p:cNvPr id="21" name="Normal caption"/>
          <p:cNvSpPr txBox="1"/>
          <p:nvPr/>
        </p:nvSpPr>
        <p:spPr>
          <a:xfrm>
            <a:off x="5623560" y="434340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FD38D"/>
                </a:solidFill>
                <a:latin typeface="Consolas"/>
              </a:rPr>
              <a:t>QPushButton · Button {}</a:t>
            </a:r>
          </a:p>
        </p:txBody>
      </p:sp>
      <p:sp>
        <p:nvSpPr>
          <p:cNvPr id="22" name="Arrow"/>
          <p:cNvSpPr txBox="1"/>
          <p:nvPr/>
        </p:nvSpPr>
        <p:spPr>
          <a:xfrm>
            <a:off x="8183879" y="3291840"/>
            <a:ext cx="548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0B35A"/>
                </a:solidFill>
                <a:latin typeface="Calibri"/>
              </a:rPr>
              <a:t>→</a:t>
            </a:r>
          </a:p>
        </p:txBody>
      </p:sp>
      <p:pic>
        <p:nvPicPr>
          <p:cNvPr id="23" name="Shaped button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2377440"/>
            <a:ext cx="2526632" cy="2743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Calibri"/>
              </a:rPr>
              <a:t>Custom Component </a:t>
            </a:r>
            <a:r>
              <a:rPr sz="3600" b="1">
                <a:solidFill>
                  <a:srgbClr val="5FD38D"/>
                </a:solidFill>
                <a:latin typeface="Calibri"/>
              </a:rPr>
              <a:t>(Widgets)</a:t>
            </a:r>
          </a:p>
        </p:txBody>
      </p:sp>
      <p:sp>
        <p:nvSpPr>
          <p:cNvPr id="3" name="Method 1 number"/>
          <p:cNvSpPr txBox="1"/>
          <p:nvPr/>
        </p:nvSpPr>
        <p:spPr>
          <a:xfrm>
            <a:off x="548640" y="1737360"/>
            <a:ext cx="640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5FD38D"/>
                </a:solidFill>
                <a:latin typeface="Consolas"/>
              </a:rPr>
              <a:t>01</a:t>
            </a:r>
          </a:p>
        </p:txBody>
      </p:sp>
      <p:sp>
        <p:nvSpPr>
          <p:cNvPr id="4" name="Method 1"/>
          <p:cNvSpPr txBox="1"/>
          <p:nvPr/>
        </p:nvSpPr>
        <p:spPr>
          <a:xfrm>
            <a:off x="1234440" y="1719072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Method 1: Promote</a:t>
            </a:r>
          </a:p>
        </p:txBody>
      </p:sp>
      <p:sp>
        <p:nvSpPr>
          <p:cNvPr id="5" name="Method 1 issue"/>
          <p:cNvSpPr txBox="1"/>
          <p:nvPr/>
        </p:nvSpPr>
        <p:spPr>
          <a:xfrm>
            <a:off x="1234440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F0B35A"/>
                </a:solidFill>
                <a:latin typeface="Calibri"/>
              </a:rPr>
              <a:t>Issue: </a:t>
            </a:r>
            <a:r>
              <a:rPr sz="1800" b="0">
                <a:solidFill>
                  <a:srgbClr val="FFFFFF"/>
                </a:solidFill>
                <a:latin typeface="Calibri"/>
              </a:rPr>
              <a:t>shape not visible in Designer</a:t>
            </a:r>
          </a:p>
        </p:txBody>
      </p:sp>
      <p:sp>
        <p:nvSpPr>
          <p:cNvPr id="6" name="Method 2 number"/>
          <p:cNvSpPr txBox="1"/>
          <p:nvPr/>
        </p:nvSpPr>
        <p:spPr>
          <a:xfrm>
            <a:off x="548640" y="3200400"/>
            <a:ext cx="640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5FD38D"/>
                </a:solidFill>
                <a:latin typeface="Consolas"/>
              </a:rPr>
              <a:t>02</a:t>
            </a:r>
          </a:p>
        </p:txBody>
      </p:sp>
      <p:sp>
        <p:nvSpPr>
          <p:cNvPr id="7" name="Method 2"/>
          <p:cNvSpPr txBox="1"/>
          <p:nvPr/>
        </p:nvSpPr>
        <p:spPr>
          <a:xfrm>
            <a:off x="1234440" y="3182112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Method 2: Plugin</a:t>
            </a:r>
          </a:p>
        </p:txBody>
      </p:sp>
      <p:sp>
        <p:nvSpPr>
          <p:cNvPr id="8" name="Closing"/>
          <p:cNvSpPr txBox="1"/>
          <p:nvPr/>
        </p:nvSpPr>
        <p:spPr>
          <a:xfrm>
            <a:off x="1234440" y="512064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F0B35A"/>
                </a:solidFill>
                <a:latin typeface="Calibri"/>
              </a:rPr>
              <a:t>Possible, but a lot of effort</a:t>
            </a:r>
          </a:p>
        </p:txBody>
      </p:sp>
      <p:pic>
        <p:nvPicPr>
          <p:cNvPr id="9" name="M1 code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5732" y="1508760"/>
            <a:ext cx="5039334" cy="4663440"/>
          </a:xfrm>
          <a:prstGeom prst="rect">
            <a:avLst/>
          </a:prstGeom>
          <a:ln w="12700">
            <a:solidFill>
              <a:srgbClr val="34373D"/>
            </a:solidFill>
          </a:ln>
        </p:spPr>
      </p:pic>
      <p:pic>
        <p:nvPicPr>
          <p:cNvPr id="10" name="M1 promot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574898"/>
            <a:ext cx="5303520" cy="4531163"/>
          </a:xfrm>
          <a:prstGeom prst="rect">
            <a:avLst/>
          </a:prstGeom>
          <a:ln w="12700">
            <a:solidFill>
              <a:srgbClr val="34373D"/>
            </a:solidFill>
          </a:ln>
        </p:spPr>
      </p:pic>
      <p:pic>
        <p:nvPicPr>
          <p:cNvPr id="11" name="M1 run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718401"/>
            <a:ext cx="5303520" cy="4244157"/>
          </a:xfrm>
          <a:prstGeom prst="rect">
            <a:avLst/>
          </a:prstGeom>
          <a:ln w="12700">
            <a:solidFill>
              <a:srgbClr val="34373D"/>
            </a:solidFill>
          </a:ln>
        </p:spPr>
      </p:pic>
      <p:pic>
        <p:nvPicPr>
          <p:cNvPr id="12" name="M2 plugin code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56074" y="1508760"/>
            <a:ext cx="4518650" cy="4663440"/>
          </a:xfrm>
          <a:prstGeom prst="rect">
            <a:avLst/>
          </a:prstGeom>
          <a:ln w="12700">
            <a:solidFill>
              <a:srgbClr val="34373D"/>
            </a:solidFill>
          </a:ln>
        </p:spPr>
      </p:pic>
      <p:pic>
        <p:nvPicPr>
          <p:cNvPr id="13" name="M2 designe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0527" y="1508760"/>
            <a:ext cx="4989744" cy="4663439"/>
          </a:xfrm>
          <a:prstGeom prst="rect">
            <a:avLst/>
          </a:prstGeom>
          <a:ln w="12700">
            <a:solidFill>
              <a:srgbClr val="34373D"/>
            </a:solidFill>
          </a:ln>
        </p:spPr>
      </p:pic>
      <p:pic>
        <p:nvPicPr>
          <p:cNvPr id="14" name="M2 run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3640" y="1709002"/>
            <a:ext cx="5303520" cy="4262956"/>
          </a:xfrm>
          <a:prstGeom prst="rect">
            <a:avLst/>
          </a:prstGeom>
          <a:ln w="12700">
            <a:solidFill>
              <a:srgbClr val="34373D"/>
            </a:solidFill>
          </a:ln>
        </p:spPr>
      </p:pic>
      <p:sp>
        <p:nvSpPr>
          <p:cNvPr id="84" name="Method 2 issue"/>
          <p:cNvSpPr txBox="1"/>
          <p:nvPr/>
        </p:nvSpPr>
        <p:spPr>
          <a:xfrm>
            <a:off x="1234440" y="374903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F0B35A"/>
                </a:solidFill>
                <a:latin typeface="Calibri"/>
              </a:rPr>
              <a:t>Issue: </a:t>
            </a:r>
            <a:r>
              <a:rPr sz="1800" b="0">
                <a:solidFill>
                  <a:srgbClr val="FFFFFF"/>
                </a:solidFill>
                <a:latin typeface="Calibri"/>
              </a:rPr>
              <a:t>the whole bounding box is clickable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xit" presetSubtype="16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4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6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34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53" presetClass="exit" presetSubtype="16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6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8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34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53" presetClass="exit" presetSubtype="16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0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2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34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53" presetClass="exit" presetSubtype="16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56" dur="3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3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58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3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2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53" presetClass="exit" presetSubtype="16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8" dur="3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3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7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34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4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Calibri"/>
              </a:rPr>
              <a:t>Custom Component </a:t>
            </a:r>
            <a:r>
              <a:rPr sz="3600" b="1">
                <a:solidFill>
                  <a:srgbClr val="5FD38D"/>
                </a:solidFill>
                <a:latin typeface="Calibri"/>
              </a:rPr>
              <a:t>(QML)</a:t>
            </a:r>
          </a:p>
        </p:txBody>
      </p:sp>
      <p:sp>
        <p:nvSpPr>
          <p:cNvPr id="3" name="Step 1 number"/>
          <p:cNvSpPr txBox="1"/>
          <p:nvPr/>
        </p:nvSpPr>
        <p:spPr>
          <a:xfrm>
            <a:off x="548640" y="1737360"/>
            <a:ext cx="640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5FD38D"/>
                </a:solidFill>
                <a:latin typeface="Consolas"/>
              </a:rPr>
              <a:t>01</a:t>
            </a:r>
          </a:p>
        </p:txBody>
      </p:sp>
      <p:sp>
        <p:nvSpPr>
          <p:cNvPr id="4" name="Step 1"/>
          <p:cNvSpPr txBox="1"/>
          <p:nvPr/>
        </p:nvSpPr>
        <p:spPr>
          <a:xfrm>
            <a:off x="1234440" y="1719072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Copy the SVG path → </a:t>
            </a:r>
            <a:r>
              <a:rPr sz="2400" b="1">
                <a:solidFill>
                  <a:srgbClr val="5FD38D"/>
                </a:solidFill>
                <a:latin typeface="Consolas"/>
              </a:rPr>
              <a:t>PathSvg</a:t>
            </a:r>
          </a:p>
        </p:txBody>
      </p:sp>
      <p:sp>
        <p:nvSpPr>
          <p:cNvPr id="5" name="Step 2 number"/>
          <p:cNvSpPr txBox="1"/>
          <p:nvPr/>
        </p:nvSpPr>
        <p:spPr>
          <a:xfrm>
            <a:off x="548640" y="2651760"/>
            <a:ext cx="640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5FD38D"/>
                </a:solidFill>
                <a:latin typeface="Consolas"/>
              </a:rPr>
              <a:t>02</a:t>
            </a:r>
          </a:p>
        </p:txBody>
      </p:sp>
      <p:sp>
        <p:nvSpPr>
          <p:cNvPr id="6" name="Step 2"/>
          <p:cNvSpPr txBox="1"/>
          <p:nvPr/>
        </p:nvSpPr>
        <p:spPr>
          <a:xfrm>
            <a:off x="1234440" y="2633472"/>
            <a:ext cx="48463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Run: shape + click area OK</a:t>
            </a:r>
          </a:p>
        </p:txBody>
      </p:sp>
      <p:sp>
        <p:nvSpPr>
          <p:cNvPr id="7" name="Closing widgets"/>
          <p:cNvSpPr txBox="1"/>
          <p:nvPr/>
        </p:nvSpPr>
        <p:spPr>
          <a:xfrm>
            <a:off x="1234440" y="448056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F0B35A"/>
                </a:solidFill>
                <a:latin typeface="Calibri"/>
              </a:rPr>
              <a:t>Widgets: </a:t>
            </a:r>
            <a:r>
              <a:rPr sz="2200" b="1">
                <a:solidFill>
                  <a:srgbClr val="FFFFFF"/>
                </a:solidFill>
                <a:latin typeface="Calibri"/>
              </a:rPr>
              <a:t>2 projects, ~150 lines</a:t>
            </a:r>
          </a:p>
        </p:txBody>
      </p:sp>
      <p:sp>
        <p:nvSpPr>
          <p:cNvPr id="8" name="Closing qml"/>
          <p:cNvSpPr txBox="1"/>
          <p:nvPr/>
        </p:nvSpPr>
        <p:spPr>
          <a:xfrm>
            <a:off x="1234440" y="498348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5FD38D"/>
                </a:solidFill>
                <a:latin typeface="Calibri"/>
              </a:rPr>
              <a:t>QML: </a:t>
            </a:r>
            <a:r>
              <a:rPr sz="2200" b="1">
                <a:solidFill>
                  <a:srgbClr val="FFFFFF"/>
                </a:solidFill>
                <a:latin typeface="Calibri"/>
              </a:rPr>
              <a:t>~40 lines</a:t>
            </a:r>
          </a:p>
        </p:txBody>
      </p:sp>
      <p:pic>
        <p:nvPicPr>
          <p:cNvPr id="9" name="qml cod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2642127"/>
            <a:ext cx="5303520" cy="2396705"/>
          </a:xfrm>
          <a:prstGeom prst="rect">
            <a:avLst/>
          </a:prstGeom>
          <a:ln w="12700">
            <a:solidFill>
              <a:srgbClr val="34373D"/>
            </a:solidFill>
          </a:ln>
        </p:spPr>
      </p:pic>
      <p:pic>
        <p:nvPicPr>
          <p:cNvPr id="10" name="qml run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980996"/>
            <a:ext cx="5303520" cy="3718968"/>
          </a:xfrm>
          <a:prstGeom prst="rect">
            <a:avLst/>
          </a:prstGeom>
          <a:ln w="12700">
            <a:solidFill>
              <a:srgbClr val="34373D"/>
            </a:solidFill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53" presetClass="exit" presetSubtype="16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8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0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34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Calibri"/>
              </a:rPr>
              <a:t>Rendering: CPU vs GPU</a:t>
            </a:r>
          </a:p>
        </p:txBody>
      </p:sp>
      <p:graphicFrame>
        <p:nvGraphicFramePr>
          <p:cNvPr id="3" name="qt docs table"/>
          <p:cNvGraphicFramePr>
            <a:graphicFrameLocks noGrp="1"/>
          </p:cNvGraphicFramePr>
          <p:nvPr/>
        </p:nvGraphicFramePr>
        <p:xfrm>
          <a:off x="548640" y="1234440"/>
          <a:ext cx="11091672" cy="4434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2834640"/>
                <a:gridCol w="3108960"/>
                <a:gridCol w="2953512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9AA0A6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 marL="109728" marR="109728" marT="45720" marB="45720" anchor="ctr">
                    <a:solidFill>
                      <a:srgbClr val="2E31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9AA0A6"/>
                          </a:solidFill>
                          <a:latin typeface="Calibri"/>
                        </a:rPr>
                        <a:t>Qt Quick and Qt Quick Controls</a:t>
                      </a:r>
                    </a:p>
                  </a:txBody>
                  <a:tcPr marL="109728" marR="109728" marT="45720" marB="45720" anchor="ctr">
                    <a:solidFill>
                      <a:srgbClr val="2E31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9AA0A6"/>
                          </a:solidFill>
                          <a:latin typeface="Calibri"/>
                        </a:rPr>
                        <a:t>Qt Widgets</a:t>
                      </a:r>
                    </a:p>
                  </a:txBody>
                  <a:tcPr marL="109728" marR="109728" marT="45720" marB="45720" anchor="ctr">
                    <a:solidFill>
                      <a:srgbClr val="2E31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9AA0A6"/>
                          </a:solidFill>
                          <a:latin typeface="Calibri"/>
                        </a:rPr>
                        <a:t>Explanation</a:t>
                      </a:r>
                    </a:p>
                  </a:txBody>
                  <a:tcPr marL="109728" marR="109728" marT="45720" marB="45720" anchor="ctr">
                    <a:solidFill>
                      <a:srgbClr val="2E3135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Hardware-accelerated graphics</a:t>
                      </a:r>
                    </a:p>
                  </a:txBody>
                  <a:tcPr marL="109728" marR="109728" marT="45720" marB="45720" anchor="ctr">
                    <a:solidFill>
                      <a:srgbClr val="2628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5FD38D"/>
                          </a:solidFill>
                          <a:latin typeface="Calibri"/>
                        </a:rPr>
                        <a:t>Yes (GPU-accelerated via Qt Quick Scene Graph).</a:t>
                      </a:r>
                    </a:p>
                  </a:txBody>
                  <a:tcPr marL="109728" marR="109728" marT="45720" marB="45720" anchor="ctr">
                    <a:solidFill>
                      <a:srgbClr val="2628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0B35A"/>
                          </a:solidFill>
                          <a:latin typeface="Calibri"/>
                        </a:rPr>
                        <a:t>Partially (widgets render in software. OpenGL widgets possible but isolated).</a:t>
                      </a:r>
                    </a:p>
                  </a:txBody>
                  <a:tcPr marL="109728" marR="109728" marT="45720" marB="45720" anchor="ctr">
                    <a:solidFill>
                      <a:srgbClr val="2628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Only Qt Quick provides built-in full-scene GPU acceleration.</a:t>
                      </a:r>
                    </a:p>
                  </a:txBody>
                  <a:tcPr marL="109728" marR="109728" marT="45720" marB="45720" anchor="ctr">
                    <a:solidFill>
                      <a:srgbClr val="26282C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Fluid animations and transitions</a:t>
                      </a:r>
                    </a:p>
                  </a:txBody>
                  <a:tcPr marL="109728" marR="109728" marT="45720" marB="45720" anchor="ctr">
                    <a:solidFill>
                      <a:srgbClr val="2628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5FD38D"/>
                          </a:solidFill>
                          <a:latin typeface="Calibri"/>
                        </a:rPr>
                        <a:t>Yes (GPU-accelerated animations built-in).</a:t>
                      </a:r>
                    </a:p>
                  </a:txBody>
                  <a:tcPr marL="109728" marR="109728" marT="45720" marB="45720" anchor="ctr">
                    <a:solidFill>
                      <a:srgbClr val="2628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0B35A"/>
                          </a:solidFill>
                          <a:latin typeface="Calibri"/>
                        </a:rPr>
                        <a:t>Limited (supported via QPropertyAnimation, but not designed for fluid UI animation).</a:t>
                      </a:r>
                    </a:p>
                  </a:txBody>
                  <a:tcPr marL="109728" marR="109728" marT="45720" marB="45720" anchor="ctr">
                    <a:solidFill>
                      <a:srgbClr val="2628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Qt Quick is designed for animated, modern UIs. Qt Widgets are not.</a:t>
                      </a:r>
                    </a:p>
                  </a:txBody>
                  <a:tcPr marL="109728" marR="109728" marT="45720" marB="45720" anchor="ctr">
                    <a:solidFill>
                      <a:srgbClr val="26282C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Graphical effects</a:t>
                      </a:r>
                    </a:p>
                  </a:txBody>
                  <a:tcPr marL="109728" marR="109728" marT="45720" marB="45720" anchor="ctr">
                    <a:solidFill>
                      <a:srgbClr val="2628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5FD38D"/>
                          </a:solidFill>
                          <a:latin typeface="Calibri"/>
                        </a:rPr>
                        <a:t>Yes (shader-based blur, glow, drop shadow, color effects, and more).</a:t>
                      </a:r>
                    </a:p>
                  </a:txBody>
                  <a:tcPr marL="109728" marR="109728" marT="45720" marB="45720" anchor="ctr">
                    <a:solidFill>
                      <a:srgbClr val="2628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0B35A"/>
                          </a:solidFill>
                          <a:latin typeface="Calibri"/>
                        </a:rPr>
                        <a:t>Limited (basic effects via Qt GUI only).</a:t>
                      </a:r>
                    </a:p>
                  </a:txBody>
                  <a:tcPr marL="109728" marR="109728" marT="45720" marB="45720" anchor="ctr">
                    <a:solidFill>
                      <a:srgbClr val="2628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Qt Quick offers rich, GPU-driven visual effects. Qt Widgets offer only simple CPU effects.</a:t>
                      </a:r>
                    </a:p>
                  </a:txBody>
                  <a:tcPr marL="109728" marR="109728" marT="45720" marB="45720" anchor="ctr">
                    <a:solidFill>
                      <a:srgbClr val="26282C"/>
                    </a:solidFill>
                  </a:tcPr>
                </a:tc>
              </a:tr>
            </a:tbl>
          </a:graphicData>
        </a:graphic>
      </p:graphicFrame>
      <p:sp>
        <p:nvSpPr>
          <p:cNvPr id="4" name="Source"/>
          <p:cNvSpPr txBox="1"/>
          <p:nvPr/>
        </p:nvSpPr>
        <p:spPr>
          <a:xfrm>
            <a:off x="8641080" y="6858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9AA0A6"/>
                </a:solidFill>
                <a:latin typeface="Calibri"/>
              </a:rPr>
              <a:t>Source: doc.qt.io/qt-6/topics-ui.html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F2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2" name="side by side video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883192" y="1280160"/>
            <a:ext cx="10425310" cy="4023360"/>
          </a:xfrm>
          <a:prstGeom prst="rect">
            <a:avLst/>
          </a:prstGeom>
        </p:spPr>
      </p:pic>
      <p:sp>
        <p:nvSpPr>
          <p:cNvPr id="2" name="Title"/>
          <p:cNvSpPr txBox="1"/>
          <p:nvPr/>
        </p:nvSpPr>
        <p:spPr>
          <a:xfrm>
            <a:off x="548640" y="4114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 i="0">
                <a:solidFill>
                  <a:srgbClr val="FFFFFF"/>
                </a:solidFill>
                <a:latin typeface="Calibri"/>
              </a:rPr>
              <a:t>Under Load</a:t>
            </a:r>
          </a:p>
        </p:txBody>
      </p:sp>
      <p:sp>
        <p:nvSpPr>
          <p:cNvPr id="4" name="Qt Widgets label"/>
          <p:cNvSpPr txBox="1"/>
          <p:nvPr/>
        </p:nvSpPr>
        <p:spPr>
          <a:xfrm>
            <a:off x="517432" y="5413248"/>
            <a:ext cx="579235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0B35A"/>
                </a:solidFill>
                <a:latin typeface="Calibri"/>
              </a:rPr>
              <a:t>Qt Widgets</a:t>
            </a:r>
          </a:p>
        </p:txBody>
      </p:sp>
      <p:sp>
        <p:nvSpPr>
          <p:cNvPr id="5" name="Qt Widgets result"/>
          <p:cNvSpPr txBox="1"/>
          <p:nvPr/>
        </p:nvSpPr>
        <p:spPr>
          <a:xfrm>
            <a:off x="517432" y="5779008"/>
            <a:ext cx="579235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3000 buttons  ·  18 FPS  ·  CPU 100%</a:t>
            </a:r>
          </a:p>
        </p:txBody>
      </p:sp>
      <p:sp>
        <p:nvSpPr>
          <p:cNvPr id="6" name="Qt Quick (QML) label"/>
          <p:cNvSpPr txBox="1"/>
          <p:nvPr/>
        </p:nvSpPr>
        <p:spPr>
          <a:xfrm>
            <a:off x="5881912" y="5413248"/>
            <a:ext cx="579235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5FD38D"/>
                </a:solidFill>
                <a:latin typeface="Calibri"/>
              </a:rPr>
              <a:t>Qt Quick (QML)</a:t>
            </a:r>
          </a:p>
        </p:txBody>
      </p:sp>
      <p:sp>
        <p:nvSpPr>
          <p:cNvPr id="7" name="Qt Quick (QML) result"/>
          <p:cNvSpPr txBox="1"/>
          <p:nvPr/>
        </p:nvSpPr>
        <p:spPr>
          <a:xfrm>
            <a:off x="5881912" y="5779008"/>
            <a:ext cx="579235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3000 buttons  ·  60 FPS  ·  CPU 31%</a:t>
            </a:r>
          </a:p>
        </p:txBody>
      </p:sp>
      <p:sp>
        <p:nvSpPr>
          <p:cNvPr id="10" name="Qt Widgets cpu"/>
          <p:cNvSpPr txBox="1"/>
          <p:nvPr/>
        </p:nvSpPr>
        <p:spPr>
          <a:xfrm>
            <a:off x="517432" y="6144768"/>
            <a:ext cx="579235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0B35A"/>
                </a:solidFill>
                <a:latin typeface="Calibri"/>
              </a:rPr>
              <a:t>CPU: </a:t>
            </a:r>
            <a:r>
              <a:rPr sz="1500" b="0">
                <a:solidFill>
                  <a:srgbClr val="C9CCD1"/>
                </a:solidFill>
                <a:latin typeface="Calibri"/>
              </a:rPr>
              <a:t>positions + paints every pixel (</a:t>
            </a:r>
            <a:r>
              <a:rPr sz="1500" b="0">
                <a:solidFill>
                  <a:srgbClr val="C9CCD1"/>
                </a:solidFill>
                <a:latin typeface="Consolas"/>
              </a:rPr>
              <a:t>QPainter</a:t>
            </a:r>
            <a:r>
              <a:rPr sz="1500" b="0">
                <a:solidFill>
                  <a:srgbClr val="C9CCD1"/>
                </a:solidFill>
                <a:latin typeface="Calibri"/>
              </a:rPr>
              <a:t>)</a:t>
            </a:r>
          </a:p>
        </p:txBody>
      </p:sp>
      <p:sp>
        <p:nvSpPr>
          <p:cNvPr id="11" name="Qt Quick (QML) cpu"/>
          <p:cNvSpPr txBox="1"/>
          <p:nvPr/>
        </p:nvSpPr>
        <p:spPr>
          <a:xfrm>
            <a:off x="5881912" y="6144768"/>
            <a:ext cx="579235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5FD38D"/>
                </a:solidFill>
                <a:latin typeface="Calibri"/>
              </a:rPr>
              <a:t>CPU: </a:t>
            </a:r>
            <a:r>
              <a:rPr sz="1500" b="0">
                <a:solidFill>
                  <a:srgbClr val="C9CCD1"/>
                </a:solidFill>
                <a:latin typeface="Calibri"/>
              </a:rPr>
              <a:t>positions only  →  </a:t>
            </a:r>
            <a:r>
              <a:rPr sz="1500" b="1">
                <a:solidFill>
                  <a:srgbClr val="5FD38D"/>
                </a:solidFill>
                <a:latin typeface="Calibri"/>
              </a:rPr>
              <a:t>GPU: </a:t>
            </a:r>
            <a:r>
              <a:rPr sz="1500" b="0">
                <a:solidFill>
                  <a:srgbClr val="C9CCD1"/>
                </a:solidFill>
                <a:latin typeface="Calibri"/>
              </a:rPr>
              <a:t>paints pixels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000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 i="0">
                <a:solidFill>
                  <a:srgbClr val="FFFFFF"/>
                </a:solidFill>
                <a:latin typeface="Calibri"/>
              </a:rPr>
              <a:t>Blur on Android </a:t>
            </a:r>
            <a:r>
              <a:rPr sz="3600" b="1" i="0">
                <a:solidFill>
                  <a:srgbClr val="5FD38D"/>
                </a:solidFill>
                <a:latin typeface="Calibri"/>
              </a:rPr>
              <a:t>(Phone)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7863840" y="685800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9AA0A6"/>
                </a:solidFill>
                <a:latin typeface="Calibri"/>
              </a:rPr>
              <a:t>Source: doc.qt.io/qt-6/embedded-linux.html</a:t>
            </a:r>
          </a:p>
        </p:txBody>
      </p:sp>
      <p:sp>
        <p:nvSpPr>
          <p:cNvPr id="4" name="Qt docs quote"/>
          <p:cNvSpPr txBox="1"/>
          <p:nvPr/>
        </p:nvSpPr>
        <p:spPr>
          <a:xfrm>
            <a:off x="548640" y="1188720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 i="1">
                <a:solidFill>
                  <a:srgbClr val="FFFFFF"/>
                </a:solidFill>
                <a:latin typeface="Calibri"/>
              </a:rPr>
              <a:t>“For complex UIs, using Qt Widgets on embedded targets is not recommended, as it will always use a software backend.”</a:t>
            </a:r>
          </a:p>
        </p:txBody>
      </p:sp>
      <p:pic>
        <p:nvPicPr>
          <p:cNvPr id="5" name="side by side video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008100" y="1783080"/>
            <a:ext cx="4175493" cy="3703320"/>
          </a:xfrm>
          <a:prstGeom prst="rect">
            <a:avLst/>
          </a:prstGeom>
        </p:spPr>
      </p:pic>
      <p:sp>
        <p:nvSpPr>
          <p:cNvPr id="6" name="Qt Widgets label"/>
          <p:cNvSpPr txBox="1"/>
          <p:nvPr/>
        </p:nvSpPr>
        <p:spPr>
          <a:xfrm>
            <a:off x="3642340" y="5596128"/>
            <a:ext cx="26341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0B35A"/>
                </a:solidFill>
                <a:latin typeface="Calibri"/>
              </a:rPr>
              <a:t>Qt Widgets</a:t>
            </a:r>
          </a:p>
        </p:txBody>
      </p:sp>
      <p:sp>
        <p:nvSpPr>
          <p:cNvPr id="7" name="Qt Widgets result"/>
          <p:cNvSpPr txBox="1"/>
          <p:nvPr/>
        </p:nvSpPr>
        <p:spPr>
          <a:xfrm>
            <a:off x="3642340" y="5961888"/>
            <a:ext cx="26341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~30 FPS  ·  CPU</a:t>
            </a:r>
          </a:p>
        </p:txBody>
      </p:sp>
      <p:sp>
        <p:nvSpPr>
          <p:cNvPr id="8" name="Qt Quick (QML) label"/>
          <p:cNvSpPr txBox="1"/>
          <p:nvPr/>
        </p:nvSpPr>
        <p:spPr>
          <a:xfrm>
            <a:off x="5915253" y="5596128"/>
            <a:ext cx="26341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5FD38D"/>
                </a:solidFill>
                <a:latin typeface="Calibri"/>
              </a:rPr>
              <a:t>Qt Quick (QML)</a:t>
            </a:r>
          </a:p>
        </p:txBody>
      </p:sp>
      <p:sp>
        <p:nvSpPr>
          <p:cNvPr id="9" name="Qt Quick (QML) result"/>
          <p:cNvSpPr txBox="1"/>
          <p:nvPr/>
        </p:nvSpPr>
        <p:spPr>
          <a:xfrm>
            <a:off x="5915253" y="5961888"/>
            <a:ext cx="26341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60 FPS  ·  GPU</a:t>
            </a:r>
          </a:p>
        </p:txBody>
      </p:sp>
      <p:sp>
        <p:nvSpPr>
          <p:cNvPr id="10" name="Note"/>
          <p:cNvSpPr txBox="1"/>
          <p:nvPr/>
        </p:nvSpPr>
        <p:spPr>
          <a:xfrm>
            <a:off x="548640" y="6446520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9AA0A6"/>
                </a:solidFill>
                <a:latin typeface="Calibri"/>
              </a:rPr>
              <a:t>Recorded at 60 Hz (the screen recorder can't capture 120 Hz). At 120 Hz, QML runs at 120 FPS.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00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Calibri"/>
              </a:rPr>
              <a:t>Learning Curve</a:t>
            </a:r>
          </a:p>
        </p:txBody>
      </p:sp>
      <p:sp>
        <p:nvSpPr>
          <p:cNvPr id="3" name="Scenario"/>
          <p:cNvSpPr txBox="1"/>
          <p:nvPr/>
        </p:nvSpPr>
        <p:spPr>
          <a:xfrm>
            <a:off x="548640" y="1234440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Calibri"/>
              </a:rPr>
              <a:t>Scenario: </a:t>
            </a:r>
            <a:r>
              <a:rPr sz="2000" b="0">
                <a:solidFill>
                  <a:srgbClr val="9AA0A6"/>
                </a:solidFill>
                <a:latin typeface="Calibri"/>
              </a:rPr>
              <a:t>a USART parser tool — just a line edit and a button. Short deadline.</a:t>
            </a:r>
          </a:p>
        </p:txBody>
      </p:sp>
      <p:sp>
        <p:nvSpPr>
          <p:cNvPr id="4" name="Qt Widgets header"/>
          <p:cNvSpPr txBox="1"/>
          <p:nvPr/>
        </p:nvSpPr>
        <p:spPr>
          <a:xfrm>
            <a:off x="548640" y="2148840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5FD38D"/>
                </a:solidFill>
                <a:latin typeface="Calibri"/>
              </a:rPr>
              <a:t>Qt Widgets</a:t>
            </a:r>
          </a:p>
        </p:txBody>
      </p:sp>
      <p:sp>
        <p:nvSpPr>
          <p:cNvPr id="5" name="Qt Widgets 1"/>
          <p:cNvSpPr txBox="1"/>
          <p:nvPr/>
        </p:nvSpPr>
        <p:spPr>
          <a:xfrm>
            <a:off x="548640" y="2834640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0">
                <a:solidFill>
                  <a:srgbClr val="5FD38D"/>
                </a:solidFill>
                <a:latin typeface="Calibri"/>
              </a:rPr>
              <a:t>•  </a:t>
            </a:r>
            <a:r>
              <a:rPr sz="2000" b="0">
                <a:solidFill>
                  <a:srgbClr val="FFFFFF"/>
                </a:solidFill>
                <a:latin typeface="Calibri"/>
              </a:rPr>
              <a:t>One language: </a:t>
            </a:r>
            <a:r>
              <a:rPr sz="2000" b="0">
                <a:solidFill>
                  <a:srgbClr val="5FD38D"/>
                </a:solidFill>
                <a:latin typeface="Consolas"/>
              </a:rPr>
              <a:t>C++</a:t>
            </a:r>
          </a:p>
        </p:txBody>
      </p:sp>
      <p:sp>
        <p:nvSpPr>
          <p:cNvPr id="6" name="Qt Widgets 2"/>
          <p:cNvSpPr txBox="1"/>
          <p:nvPr/>
        </p:nvSpPr>
        <p:spPr>
          <a:xfrm>
            <a:off x="548640" y="3401568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0">
                <a:solidFill>
                  <a:srgbClr val="5FD38D"/>
                </a:solidFill>
                <a:latin typeface="Calibri"/>
              </a:rPr>
              <a:t>•  </a:t>
            </a:r>
            <a:r>
              <a:rPr sz="2000" b="0">
                <a:solidFill>
                  <a:srgbClr val="FFFFFF"/>
                </a:solidFill>
                <a:latin typeface="Calibri"/>
              </a:rPr>
              <a:t>Drag &amp; drop </a:t>
            </a:r>
            <a:r>
              <a:rPr sz="2000" b="0">
                <a:solidFill>
                  <a:srgbClr val="5FD38D"/>
                </a:solidFill>
                <a:latin typeface="Consolas"/>
              </a:rPr>
              <a:t>QLineEdit</a:t>
            </a:r>
            <a:r>
              <a:rPr sz="2000" b="0">
                <a:solidFill>
                  <a:srgbClr val="FFFFFF"/>
                </a:solidFill>
                <a:latin typeface="Calibri"/>
              </a:rPr>
              <a:t> + </a:t>
            </a:r>
            <a:r>
              <a:rPr sz="2000" b="0">
                <a:solidFill>
                  <a:srgbClr val="5FD38D"/>
                </a:solidFill>
                <a:latin typeface="Consolas"/>
              </a:rPr>
              <a:t>QPushButton</a:t>
            </a:r>
          </a:p>
        </p:txBody>
      </p:sp>
      <p:sp>
        <p:nvSpPr>
          <p:cNvPr id="7" name="Qt Widgets 3"/>
          <p:cNvSpPr txBox="1"/>
          <p:nvPr/>
        </p:nvSpPr>
        <p:spPr>
          <a:xfrm>
            <a:off x="548640" y="3968496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0">
                <a:solidFill>
                  <a:srgbClr val="5FD38D"/>
                </a:solidFill>
                <a:latin typeface="Calibri"/>
              </a:rPr>
              <a:t>•  </a:t>
            </a:r>
            <a:r>
              <a:rPr sz="2000" b="0">
                <a:solidFill>
                  <a:srgbClr val="FFFFFF"/>
                </a:solidFill>
                <a:latin typeface="Calibri"/>
              </a:rPr>
              <a:t>Layout: one click in Designer</a:t>
            </a:r>
          </a:p>
        </p:txBody>
      </p:sp>
      <p:sp>
        <p:nvSpPr>
          <p:cNvPr id="8" name="Qt Widgets 4"/>
          <p:cNvSpPr txBox="1"/>
          <p:nvPr/>
        </p:nvSpPr>
        <p:spPr>
          <a:xfrm>
            <a:off x="548640" y="4535424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0">
                <a:solidFill>
                  <a:srgbClr val="5FD38D"/>
                </a:solidFill>
                <a:latin typeface="Calibri"/>
              </a:rPr>
              <a:t>•  </a:t>
            </a:r>
            <a:r>
              <a:rPr sz="2000" b="0">
                <a:solidFill>
                  <a:srgbClr val="FFFFFF"/>
                </a:solidFill>
                <a:latin typeface="Calibri"/>
              </a:rPr>
              <a:t>Right-click → Go to slot: auto-generated</a:t>
            </a:r>
          </a:p>
        </p:txBody>
      </p:sp>
      <p:sp>
        <p:nvSpPr>
          <p:cNvPr id="9" name="Qt Quick (QML) header"/>
          <p:cNvSpPr txBox="1"/>
          <p:nvPr/>
        </p:nvSpPr>
        <p:spPr>
          <a:xfrm>
            <a:off x="6263640" y="2148840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F0B35A"/>
                </a:solidFill>
                <a:latin typeface="Calibri"/>
              </a:rPr>
              <a:t>Qt Quick (QML)</a:t>
            </a:r>
          </a:p>
        </p:txBody>
      </p:sp>
      <p:sp>
        <p:nvSpPr>
          <p:cNvPr id="10" name="Qt Quick (QML) 1"/>
          <p:cNvSpPr txBox="1"/>
          <p:nvPr/>
        </p:nvSpPr>
        <p:spPr>
          <a:xfrm>
            <a:off x="6263640" y="2834640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0">
                <a:solidFill>
                  <a:srgbClr val="F0B35A"/>
                </a:solidFill>
                <a:latin typeface="Calibri"/>
              </a:rPr>
              <a:t>•  </a:t>
            </a:r>
            <a:r>
              <a:rPr sz="2000" b="0">
                <a:solidFill>
                  <a:srgbClr val="FFFFFF"/>
                </a:solidFill>
                <a:latin typeface="Calibri"/>
              </a:rPr>
              <a:t>Two languages: QML + C++</a:t>
            </a:r>
          </a:p>
        </p:txBody>
      </p:sp>
      <p:sp>
        <p:nvSpPr>
          <p:cNvPr id="11" name="Qt Quick (QML) 2"/>
          <p:cNvSpPr txBox="1"/>
          <p:nvPr/>
        </p:nvSpPr>
        <p:spPr>
          <a:xfrm>
            <a:off x="6263640" y="3401568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0">
                <a:solidFill>
                  <a:srgbClr val="F0B35A"/>
                </a:solidFill>
                <a:latin typeface="Calibri"/>
              </a:rPr>
              <a:t>•  </a:t>
            </a:r>
            <a:r>
              <a:rPr sz="2000" b="0">
                <a:solidFill>
                  <a:srgbClr val="FFFFFF"/>
                </a:solidFill>
                <a:latin typeface="Calibri"/>
              </a:rPr>
              <a:t>Learn QML layouts</a:t>
            </a:r>
          </a:p>
        </p:txBody>
      </p:sp>
      <p:sp>
        <p:nvSpPr>
          <p:cNvPr id="12" name="Qt Quick (QML) 3"/>
          <p:cNvSpPr txBox="1"/>
          <p:nvPr/>
        </p:nvSpPr>
        <p:spPr>
          <a:xfrm>
            <a:off x="6263640" y="3968496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0">
                <a:solidFill>
                  <a:srgbClr val="F0B35A"/>
                </a:solidFill>
                <a:latin typeface="Calibri"/>
              </a:rPr>
              <a:t>•  </a:t>
            </a:r>
            <a:r>
              <a:rPr sz="2000" b="0">
                <a:solidFill>
                  <a:srgbClr val="FFFFFF"/>
                </a:solidFill>
                <a:latin typeface="Calibri"/>
              </a:rPr>
              <a:t>Learn QML-to-C++ signals &amp; slots</a:t>
            </a:r>
          </a:p>
        </p:txBody>
      </p:sp>
      <p:sp>
        <p:nvSpPr>
          <p:cNvPr id="13" name="Qt Quick (QML) 4"/>
          <p:cNvSpPr txBox="1"/>
          <p:nvPr/>
        </p:nvSpPr>
        <p:spPr>
          <a:xfrm>
            <a:off x="6263640" y="4535424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0">
                <a:solidFill>
                  <a:srgbClr val="F0B35A"/>
                </a:solidFill>
                <a:latin typeface="Calibri"/>
              </a:rPr>
              <a:t>•  </a:t>
            </a:r>
            <a:r>
              <a:rPr sz="2000" b="0">
                <a:solidFill>
                  <a:srgbClr val="FFFFFF"/>
                </a:solidFill>
                <a:latin typeface="Calibri"/>
              </a:rPr>
              <a:t>Write the connections by hand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 i="0">
                <a:solidFill>
                  <a:srgbClr val="FFFFFF"/>
                </a:solidFill>
                <a:latin typeface="Calibri"/>
              </a:rPr>
              <a:t>Conclusion: When to Use Which?</a:t>
            </a:r>
          </a:p>
        </p:txBody>
      </p:sp>
      <p:sp>
        <p:nvSpPr>
          <p:cNvPr id="3" name="Choose Qt Quick (QML) card"/>
          <p:cNvSpPr/>
          <p:nvPr/>
        </p:nvSpPr>
        <p:spPr>
          <a:xfrm>
            <a:off x="548640" y="1828800"/>
            <a:ext cx="5376672" cy="3291840"/>
          </a:xfrm>
          <a:prstGeom prst="roundRect">
            <a:avLst>
              <a:gd name="adj" fmla="val 6000"/>
            </a:avLst>
          </a:prstGeom>
          <a:solidFill>
            <a:srgbClr val="26282C"/>
          </a:solidFill>
          <a:ln w="19050">
            <a:solidFill>
              <a:srgbClr val="5FD3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oose Qt Quick (QML) header"/>
          <p:cNvSpPr txBox="1"/>
          <p:nvPr/>
        </p:nvSpPr>
        <p:spPr>
          <a:xfrm>
            <a:off x="868680" y="210312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 i="0">
                <a:solidFill>
                  <a:srgbClr val="5FD38D"/>
                </a:solidFill>
                <a:latin typeface="Calibri"/>
              </a:rPr>
              <a:t>Choose Qt Quick (QML)</a:t>
            </a:r>
          </a:p>
        </p:txBody>
      </p:sp>
      <p:sp>
        <p:nvSpPr>
          <p:cNvPr id="5" name="Choose Qt Quick (QML) 1"/>
          <p:cNvSpPr txBox="1"/>
          <p:nvPr/>
        </p:nvSpPr>
        <p:spPr>
          <a:xfrm>
            <a:off x="868680" y="283464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 i="0">
                <a:solidFill>
                  <a:srgbClr val="5FD38D"/>
                </a:solidFill>
                <a:latin typeface="Calibri"/>
              </a:rPr>
              <a:t>•  </a:t>
            </a:r>
            <a:r>
              <a:rPr sz="2100" b="0" i="0">
                <a:solidFill>
                  <a:srgbClr val="FFFFFF"/>
                </a:solidFill>
                <a:latin typeface="Calibri"/>
              </a:rPr>
              <a:t>Animated, modern UI</a:t>
            </a:r>
          </a:p>
        </p:txBody>
      </p:sp>
      <p:sp>
        <p:nvSpPr>
          <p:cNvPr id="6" name="Choose Qt Quick (QML) 2"/>
          <p:cNvSpPr txBox="1"/>
          <p:nvPr/>
        </p:nvSpPr>
        <p:spPr>
          <a:xfrm>
            <a:off x="868680" y="349300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 i="0">
                <a:solidFill>
                  <a:srgbClr val="5FD38D"/>
                </a:solidFill>
                <a:latin typeface="Calibri"/>
              </a:rPr>
              <a:t>•  </a:t>
            </a:r>
            <a:r>
              <a:rPr sz="2100" b="0" i="0">
                <a:solidFill>
                  <a:srgbClr val="FFFFFF"/>
                </a:solidFill>
                <a:latin typeface="Calibri"/>
              </a:rPr>
              <a:t>Custom shapes and visual effects</a:t>
            </a:r>
          </a:p>
        </p:txBody>
      </p:sp>
      <p:sp>
        <p:nvSpPr>
          <p:cNvPr id="7" name="Choose Qt Quick (QML) 3"/>
          <p:cNvSpPr txBox="1"/>
          <p:nvPr/>
        </p:nvSpPr>
        <p:spPr>
          <a:xfrm>
            <a:off x="868680" y="4151376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 i="0">
                <a:solidFill>
                  <a:srgbClr val="5FD38D"/>
                </a:solidFill>
                <a:latin typeface="Calibri"/>
              </a:rPr>
              <a:t>•  </a:t>
            </a:r>
            <a:r>
              <a:rPr sz="2100" b="0" i="0">
                <a:solidFill>
                  <a:srgbClr val="FFFFFF"/>
                </a:solidFill>
                <a:latin typeface="Calibri"/>
              </a:rPr>
              <a:t>Embedded &amp; mobile with a GPU</a:t>
            </a:r>
          </a:p>
        </p:txBody>
      </p:sp>
      <p:sp>
        <p:nvSpPr>
          <p:cNvPr id="8" name="Choose Qt Widgets card"/>
          <p:cNvSpPr/>
          <p:nvPr/>
        </p:nvSpPr>
        <p:spPr>
          <a:xfrm>
            <a:off x="6263640" y="1828800"/>
            <a:ext cx="5376672" cy="3291840"/>
          </a:xfrm>
          <a:prstGeom prst="roundRect">
            <a:avLst>
              <a:gd name="adj" fmla="val 6000"/>
            </a:avLst>
          </a:prstGeom>
          <a:solidFill>
            <a:srgbClr val="26282C"/>
          </a:solidFill>
          <a:ln w="19050">
            <a:solidFill>
              <a:srgbClr val="F0B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oose Qt Widgets header"/>
          <p:cNvSpPr txBox="1"/>
          <p:nvPr/>
        </p:nvSpPr>
        <p:spPr>
          <a:xfrm>
            <a:off x="6583679" y="210312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 i="0">
                <a:solidFill>
                  <a:srgbClr val="F0B35A"/>
                </a:solidFill>
                <a:latin typeface="Calibri"/>
              </a:rPr>
              <a:t>Choose Qt Widgets</a:t>
            </a:r>
          </a:p>
        </p:txBody>
      </p:sp>
      <p:sp>
        <p:nvSpPr>
          <p:cNvPr id="10" name="Choose Qt Widgets 1"/>
          <p:cNvSpPr txBox="1"/>
          <p:nvPr/>
        </p:nvSpPr>
        <p:spPr>
          <a:xfrm>
            <a:off x="6583679" y="283464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 i="0">
                <a:solidFill>
                  <a:srgbClr val="F0B35A"/>
                </a:solidFill>
                <a:latin typeface="Calibri"/>
              </a:rPr>
              <a:t>•  </a:t>
            </a:r>
            <a:r>
              <a:rPr sz="2100" b="0" i="0">
                <a:solidFill>
                  <a:srgbClr val="FFFFFF"/>
                </a:solidFill>
                <a:latin typeface="Calibri"/>
              </a:rPr>
              <a:t>Classic desktop design</a:t>
            </a:r>
          </a:p>
        </p:txBody>
      </p:sp>
      <p:sp>
        <p:nvSpPr>
          <p:cNvPr id="11" name="Choose Qt Widgets 2"/>
          <p:cNvSpPr txBox="1"/>
          <p:nvPr/>
        </p:nvSpPr>
        <p:spPr>
          <a:xfrm>
            <a:off x="6583679" y="349300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 i="0">
                <a:solidFill>
                  <a:srgbClr val="F0B35A"/>
                </a:solidFill>
                <a:latin typeface="Calibri"/>
              </a:rPr>
              <a:t>•  </a:t>
            </a:r>
            <a:r>
              <a:rPr sz="2100" b="0" i="0">
                <a:solidFill>
                  <a:srgbClr val="FFFFFF"/>
                </a:solidFill>
                <a:latin typeface="Calibri"/>
              </a:rPr>
              <a:t>Complex tables, standard controls</a:t>
            </a:r>
          </a:p>
        </p:txBody>
      </p:sp>
      <p:sp>
        <p:nvSpPr>
          <p:cNvPr id="12" name="Choose Qt Widgets 3"/>
          <p:cNvSpPr txBox="1"/>
          <p:nvPr/>
        </p:nvSpPr>
        <p:spPr>
          <a:xfrm>
            <a:off x="6583679" y="4151376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 i="0">
                <a:solidFill>
                  <a:srgbClr val="F0B35A"/>
                </a:solidFill>
                <a:latin typeface="Calibri"/>
              </a:rPr>
              <a:t>•  </a:t>
            </a:r>
            <a:r>
              <a:rPr sz="2100" b="0" i="0">
                <a:solidFill>
                  <a:srgbClr val="FFFFFF"/>
                </a:solidFill>
                <a:latin typeface="Calibri"/>
              </a:rPr>
              <a:t>Simple tools with a short deadline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2026-10-10T22:05:52Z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